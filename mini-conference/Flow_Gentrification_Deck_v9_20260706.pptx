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E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412480" y="1234440"/>
            <a:ext cx="2651760" cy="566928"/>
          </a:xfrm>
          <a:prstGeom prst="roundRect">
            <a:avLst>
              <a:gd fmla="val 8065" name="adj"/>
            </a:avLst>
          </a:prstGeom>
          <a:solidFill>
            <a:srgbClr val="D9AF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412480" y="1234440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A0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B2A06"/>
                </a:solidFill>
                <a:latin typeface="Calibri"/>
                <a:ea typeface="Calibri"/>
                <a:cs typeface="Calibri"/>
                <a:sym typeface="Calibri"/>
              </a:rPr>
              <a:t>D7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 rot="3000000">
            <a:off x="11082528" y="16916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7A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A7A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759952" y="2185416"/>
            <a:ext cx="2651760" cy="566928"/>
          </a:xfrm>
          <a:prstGeom prst="roundRect">
            <a:avLst>
              <a:gd fmla="val 8065" name="adj"/>
            </a:avLst>
          </a:prstGeom>
          <a:solidFill>
            <a:srgbClr val="C08A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759952" y="2185416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A0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B2A06"/>
                </a:solidFill>
                <a:latin typeface="Calibri"/>
                <a:ea typeface="Calibri"/>
                <a:cs typeface="Calibri"/>
                <a:sym typeface="Calibri"/>
              </a:rPr>
              <a:t>D5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 rot="3000000">
            <a:off x="11430000" y="2642616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7A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A7A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107424" y="3136392"/>
            <a:ext cx="2651760" cy="566928"/>
          </a:xfrm>
          <a:prstGeom prst="roundRect">
            <a:avLst>
              <a:gd fmla="val 8065" name="adj"/>
            </a:avLst>
          </a:prstGeom>
          <a:solidFill>
            <a:srgbClr val="A764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107424" y="3136392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 rot="3000000">
            <a:off x="11777472" y="3593592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7A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A7A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9454896" y="4087368"/>
            <a:ext cx="2651760" cy="566928"/>
          </a:xfrm>
          <a:prstGeom prst="roundRect">
            <a:avLst>
              <a:gd fmla="val 8065" name="adj"/>
            </a:avLst>
          </a:prstGeom>
          <a:solidFill>
            <a:srgbClr val="8A37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9454896" y="4087368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85800" y="10515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MSc DISSERTATION · CASA, UCL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58368" y="1600200"/>
            <a:ext cx="7589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mbria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do they go?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85800" y="3063240"/>
            <a:ext cx="7223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FD6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E9DFD6"/>
                </a:solidFill>
                <a:latin typeface="Calibri"/>
                <a:ea typeface="Calibri"/>
                <a:cs typeface="Calibri"/>
                <a:sym typeface="Calibri"/>
              </a:rPr>
              <a:t>Testing whether migration flows explain gentrification in London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85800" y="3977640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B9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B7AB9F"/>
                </a:solidFill>
                <a:latin typeface="Calibri"/>
                <a:ea typeface="Calibri"/>
                <a:cs typeface="Calibri"/>
                <a:sym typeface="Calibri"/>
              </a:rPr>
              <a:t>Census origin–destination data, 2011 &amp; 2021  ·  982 London MSOAs  ·  IMD deprivation ladder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713232" y="5040850"/>
            <a:ext cx="2011800" cy="0"/>
          </a:xfrm>
          <a:prstGeom prst="straightConnector1">
            <a:avLst/>
          </a:prstGeom>
          <a:noFill/>
          <a:ln cap="flat" cmpd="sng" w="12700">
            <a:solidFill>
              <a:srgbClr val="4A40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3"/>
          <p:cNvSpPr/>
          <p:nvPr/>
        </p:nvSpPr>
        <p:spPr>
          <a:xfrm>
            <a:off x="685800" y="5097713"/>
            <a:ext cx="5486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Yujing (Olivia) Xing</a:t>
            </a:r>
            <a:endParaRPr b="1" i="0" sz="1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t/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by Professor Adam Dennett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85800" y="5985991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B9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B7AB9F"/>
                </a:solidFill>
                <a:latin typeface="Calibri"/>
                <a:ea typeface="Calibri"/>
                <a:cs typeface="Calibri"/>
                <a:sym typeface="Calibri"/>
              </a:rPr>
              <a:t>Mini-conference · July 2026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02920" y="53035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3000"/>
              <a:buFont typeface="Cambria"/>
              <a:buNone/>
            </a:pPr>
            <a:r>
              <a:rPr b="1" i="0" lang="en-US" sz="28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Why follow the movers?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AC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5ACA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94360" y="1645920"/>
            <a:ext cx="475488" cy="47548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94360" y="16459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325880" y="1600200"/>
            <a:ext cx="5760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The classic chain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325880" y="1965960"/>
            <a:ext cx="5806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Affluent residents move in; poorer residents are pushed down the hierarchy (Marcuse 1985).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94360" y="2944368"/>
            <a:ext cx="475488" cy="47548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94360" y="294436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325880" y="2898648"/>
            <a:ext cx="5760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Mechanism inferred, not observed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25880" y="3264408"/>
            <a:ext cx="5806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Most studies infer the cascade from neighbourhood attributes; few analyse origin–destination migration flows directly, at whole-city scale, with open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94360" y="4242816"/>
            <a:ext cx="475488" cy="47548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94360" y="424281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325880" y="4197096"/>
            <a:ext cx="5760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Direct evidence is inconsistent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325880" y="4562856"/>
            <a:ext cx="5806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Mover-level studies do NOT consistently support a strong downward cascade (Ding et al. 2016; Freeman et al. 2024).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7635240" y="1691640"/>
            <a:ext cx="3977640" cy="3291840"/>
          </a:xfrm>
          <a:prstGeom prst="roundRect">
            <a:avLst>
              <a:gd fmla="val 2500" name="adj"/>
            </a:avLst>
          </a:prstGeom>
          <a:solidFill>
            <a:srgbClr val="FBEED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8001000" y="2057400"/>
            <a:ext cx="3291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2200"/>
              <a:buFont typeface="Cambria"/>
              <a:buNone/>
            </a:pPr>
            <a:r>
              <a:rPr b="1" i="0" lang="en-US" sz="2400" u="none" cap="none" strike="noStrike">
                <a:solidFill>
                  <a:srgbClr val="9A4A0F"/>
                </a:solidFill>
                <a:latin typeface="Cambria"/>
                <a:ea typeface="Cambria"/>
                <a:cs typeface="Cambria"/>
                <a:sym typeface="Cambria"/>
              </a:rPr>
              <a:t>Can migration flows themselves define gentrification?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001000" y="379476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r>
              <a:rPr b="1" lang="en-US" sz="11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1150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Treat the cascade as a hypothesis rather than an assumption.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METHODOLOGY · 1 OF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02920" y="53035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3000"/>
              <a:buFont typeface="Cambria"/>
              <a:buNone/>
            </a:pPr>
            <a:r>
              <a:rPr b="1" i="0" lang="en-US" sz="28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Making the cascade measurable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AC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5ACA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29768" y="1298448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least deprived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58368" y="1572768"/>
            <a:ext cx="1170432" cy="512064"/>
          </a:xfrm>
          <a:prstGeom prst="roundRect">
            <a:avLst>
              <a:gd fmla="val 7143" name="adj"/>
            </a:avLst>
          </a:prstGeom>
          <a:solidFill>
            <a:srgbClr val="FBE3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58368" y="1572768"/>
            <a:ext cx="117043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A0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2A06"/>
                </a:solidFill>
                <a:latin typeface="Calibri"/>
                <a:ea typeface="Calibri"/>
                <a:cs typeface="Calibri"/>
                <a:sym typeface="Calibri"/>
              </a:rPr>
              <a:t>D10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58368" y="2231136"/>
            <a:ext cx="1170432" cy="512064"/>
          </a:xfrm>
          <a:prstGeom prst="roundRect">
            <a:avLst>
              <a:gd fmla="val 7143" name="adj"/>
            </a:avLst>
          </a:prstGeom>
          <a:solidFill>
            <a:srgbClr val="E4C1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58368" y="2231136"/>
            <a:ext cx="117043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A0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2A06"/>
                </a:solidFill>
                <a:latin typeface="Calibri"/>
                <a:ea typeface="Calibri"/>
                <a:cs typeface="Calibri"/>
                <a:sym typeface="Calibri"/>
              </a:rPr>
              <a:t>D8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58368" y="2889504"/>
            <a:ext cx="1170432" cy="512064"/>
          </a:xfrm>
          <a:prstGeom prst="roundRect">
            <a:avLst>
              <a:gd fmla="val 7143" name="adj"/>
            </a:avLst>
          </a:prstGeom>
          <a:solidFill>
            <a:srgbClr val="CE9E7C"/>
          </a:solidFill>
          <a:ln cap="flat" cmpd="sng" w="25400">
            <a:solidFill>
              <a:srgbClr val="2B27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58368" y="2889504"/>
            <a:ext cx="117043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A0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2A06"/>
                </a:solidFill>
                <a:latin typeface="Calibri"/>
                <a:ea typeface="Calibri"/>
                <a:cs typeface="Calibri"/>
                <a:sym typeface="Calibri"/>
              </a:rPr>
              <a:t>D6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58368" y="3547872"/>
            <a:ext cx="1170432" cy="512064"/>
          </a:xfrm>
          <a:prstGeom prst="roundRect">
            <a:avLst>
              <a:gd fmla="val 7143" name="adj"/>
            </a:avLst>
          </a:prstGeom>
          <a:solidFill>
            <a:srgbClr val="B77C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58368" y="3547872"/>
            <a:ext cx="117043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58368" y="4206240"/>
            <a:ext cx="1170432" cy="512064"/>
          </a:xfrm>
          <a:prstGeom prst="roundRect">
            <a:avLst>
              <a:gd fmla="val 7143" name="adj"/>
            </a:avLst>
          </a:prstGeom>
          <a:solidFill>
            <a:srgbClr val="A15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58368" y="4206240"/>
            <a:ext cx="117043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58368" y="4864608"/>
            <a:ext cx="1170432" cy="512064"/>
          </a:xfrm>
          <a:prstGeom prst="roundRect">
            <a:avLst>
              <a:gd fmla="val 7143" name="adj"/>
            </a:avLst>
          </a:prstGeom>
          <a:solidFill>
            <a:srgbClr val="8A37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58368" y="4864608"/>
            <a:ext cx="117043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29768" y="5431536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most deprived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5"/>
          <p:cNvCxnSpPr/>
          <p:nvPr/>
        </p:nvCxnSpPr>
        <p:spPr>
          <a:xfrm>
            <a:off x="1828800" y="3145536"/>
            <a:ext cx="1691640" cy="0"/>
          </a:xfrm>
          <a:prstGeom prst="straightConnector1">
            <a:avLst/>
          </a:prstGeom>
          <a:noFill/>
          <a:ln cap="flat" cmpd="sng" w="12700">
            <a:solidFill>
              <a:srgbClr val="B5ACA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0" name="Google Shape;80;p5"/>
          <p:cNvSpPr/>
          <p:nvPr/>
        </p:nvSpPr>
        <p:spPr>
          <a:xfrm>
            <a:off x="3520440" y="2889504"/>
            <a:ext cx="1234440" cy="512064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22225">
            <a:solidFill>
              <a:srgbClr val="2B27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3520440" y="288950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focal area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383280" y="140817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wealthier 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383280" y="4626864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↓ poorer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5"/>
          <p:cNvCxnSpPr/>
          <p:nvPr/>
        </p:nvCxnSpPr>
        <p:spPr>
          <a:xfrm>
            <a:off x="2834640" y="2020824"/>
            <a:ext cx="822960" cy="813816"/>
          </a:xfrm>
          <a:prstGeom prst="straightConnector1">
            <a:avLst/>
          </a:prstGeom>
          <a:noFill/>
          <a:ln cap="flat" cmpd="sng" w="31750">
            <a:solidFill>
              <a:srgbClr val="E67E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" name="Google Shape;85;p5"/>
          <p:cNvCxnSpPr/>
          <p:nvPr/>
        </p:nvCxnSpPr>
        <p:spPr>
          <a:xfrm flipH="1">
            <a:off x="2834640" y="3456432"/>
            <a:ext cx="822960" cy="813816"/>
          </a:xfrm>
          <a:prstGeom prst="straightConnector1">
            <a:avLst/>
          </a:prstGeom>
          <a:noFill/>
          <a:ln cap="flat" cmpd="sng" w="31750">
            <a:solidFill>
              <a:srgbClr val="E67E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" name="Google Shape;86;p5"/>
          <p:cNvCxnSpPr/>
          <p:nvPr/>
        </p:nvCxnSpPr>
        <p:spPr>
          <a:xfrm flipH="1" rot="10800000">
            <a:off x="4617720" y="2020824"/>
            <a:ext cx="822960" cy="813816"/>
          </a:xfrm>
          <a:prstGeom prst="straightConnector1">
            <a:avLst/>
          </a:prstGeom>
          <a:noFill/>
          <a:ln cap="flat" cmpd="sng" w="31750">
            <a:solidFill>
              <a:srgbClr val="6A51A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7" name="Google Shape;87;p5"/>
          <p:cNvCxnSpPr/>
          <p:nvPr/>
        </p:nvCxnSpPr>
        <p:spPr>
          <a:xfrm rot="10800000">
            <a:off x="4617720" y="3456432"/>
            <a:ext cx="822960" cy="813816"/>
          </a:xfrm>
          <a:prstGeom prst="straightConnector1">
            <a:avLst/>
          </a:prstGeom>
          <a:noFill/>
          <a:ln cap="flat" cmpd="sng" w="31750">
            <a:solidFill>
              <a:srgbClr val="6A51A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" name="Google Shape;88;p5"/>
          <p:cNvSpPr/>
          <p:nvPr/>
        </p:nvSpPr>
        <p:spPr>
          <a:xfrm>
            <a:off x="2103120" y="1525897"/>
            <a:ext cx="1371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IW</a:t>
            </a:r>
            <a:endParaRPr b="0" i="0" sz="1000" u="none" cap="none" strike="noStrike"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inflow from wealthier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070540" y="4200245"/>
            <a:ext cx="1371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outflow to poorer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052035" y="1499557"/>
            <a:ext cx="1234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51A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A51A3"/>
                </a:solidFill>
                <a:latin typeface="Calibri"/>
                <a:ea typeface="Calibri"/>
                <a:cs typeface="Calibri"/>
                <a:sym typeface="Calibri"/>
              </a:rPr>
              <a:t>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outflow to wealthier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914910" y="4200314"/>
            <a:ext cx="1234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51A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A51A3"/>
                </a:solidFill>
                <a:latin typeface="Calibri"/>
                <a:ea typeface="Calibri"/>
                <a:cs typeface="Calibri"/>
                <a:sym typeface="Calibri"/>
              </a:rPr>
              <a:t>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inflow from poorer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400800" y="1554480"/>
            <a:ext cx="2606040" cy="1261872"/>
          </a:xfrm>
          <a:prstGeom prst="roundRect">
            <a:avLst>
              <a:gd fmla="val 5072" name="adj"/>
            </a:avLst>
          </a:prstGeom>
          <a:solidFill>
            <a:srgbClr val="FBEED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601968" y="1664208"/>
            <a:ext cx="220370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CASCADE churn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= IW + OP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wealthier in, poorer out-and-down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9235440" y="1554480"/>
            <a:ext cx="2606040" cy="1261872"/>
          </a:xfrm>
          <a:prstGeom prst="roundRect">
            <a:avLst>
              <a:gd fmla="val 5072" name="adj"/>
            </a:avLst>
          </a:prstGeom>
          <a:solidFill>
            <a:srgbClr val="EFECF6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9436608" y="1664208"/>
            <a:ext cx="220370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3B7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4F3B7E"/>
                </a:solidFill>
                <a:latin typeface="Calibri"/>
                <a:ea typeface="Calibri"/>
                <a:cs typeface="Calibri"/>
                <a:sym typeface="Calibri"/>
              </a:rPr>
              <a:t>COUNTER churn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51A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A51A3"/>
                </a:solidFill>
                <a:latin typeface="Calibri"/>
                <a:ea typeface="Calibri"/>
                <a:cs typeface="Calibri"/>
                <a:sym typeface="Calibri"/>
              </a:rPr>
              <a:t>= OW + IP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the mirror direction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400800" y="301752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CLASSIFY EVERY AREA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400800" y="3310128"/>
            <a:ext cx="2606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Cascade dominance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which direction carries the ladder-crossing churn (Dennett &amp; Stillwell 2008)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Cross-decile share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how much turnover engages the ladder at 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235440" y="3310128"/>
            <a:ext cx="1271016" cy="713232"/>
          </a:xfrm>
          <a:prstGeom prst="roundRect">
            <a:avLst>
              <a:gd fmla="val 6410" name="adj"/>
            </a:avLst>
          </a:prstGeom>
          <a:solidFill>
            <a:srgbClr val="FBEEDF"/>
          </a:solidFill>
          <a:ln cap="flat" cmpd="sng" w="2222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9235440" y="3310128"/>
            <a:ext cx="1271016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Cascade-led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0570464" y="3310128"/>
            <a:ext cx="1271016" cy="713232"/>
          </a:xfrm>
          <a:prstGeom prst="roundRect">
            <a:avLst>
              <a:gd fmla="val 6410" name="adj"/>
            </a:avLst>
          </a:prstGeom>
          <a:solidFill>
            <a:srgbClr val="F4F2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0570464" y="3310128"/>
            <a:ext cx="1271016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55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E655D"/>
                </a:solidFill>
                <a:latin typeface="Calibri"/>
                <a:ea typeface="Calibri"/>
                <a:cs typeface="Calibri"/>
                <a:sym typeface="Calibri"/>
              </a:rPr>
              <a:t>Symmetric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9235440" y="4087368"/>
            <a:ext cx="1271016" cy="713232"/>
          </a:xfrm>
          <a:prstGeom prst="roundRect">
            <a:avLst>
              <a:gd fmla="val 6410" name="adj"/>
            </a:avLst>
          </a:prstGeom>
          <a:solidFill>
            <a:srgbClr val="EFE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9235440" y="4087368"/>
            <a:ext cx="1271016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3B7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F3B7E"/>
                </a:solidFill>
                <a:latin typeface="Calibri"/>
                <a:ea typeface="Calibri"/>
                <a:cs typeface="Calibri"/>
                <a:sym typeface="Calibri"/>
              </a:rPr>
              <a:t>Counter-led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570464" y="4087368"/>
            <a:ext cx="1271016" cy="713232"/>
          </a:xfrm>
          <a:prstGeom prst="roundRect">
            <a:avLst>
              <a:gd fmla="val 6410" name="adj"/>
            </a:avLst>
          </a:prstGeom>
          <a:solidFill>
            <a:srgbClr val="F4F2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10570464" y="4087368"/>
            <a:ext cx="1271016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55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E655D"/>
                </a:solidFill>
                <a:latin typeface="Calibri"/>
                <a:ea typeface="Calibri"/>
                <a:cs typeface="Calibri"/>
                <a:sym typeface="Calibri"/>
              </a:rPr>
              <a:t>Lateral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9235440" y="491032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Cascade-led</a:t>
            </a:r>
            <a:r>
              <a:rPr b="0" i="0" lang="en-US" sz="105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 = the candidate definition, </a:t>
            </a:r>
            <a:endParaRPr b="0" i="0" sz="1050" u="none" cap="none" strike="noStrike">
              <a:solidFill>
                <a:srgbClr val="5550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made operational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66928" y="5687568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Data: all open &amp; anonymised — 982 London MSOAs · Census OD flows 2011 &amp; 2021 (Nomis) · IMD 2010 deciles, held fixed for both censuses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02920" y="6016752"/>
            <a:ext cx="11183112" cy="475488"/>
          </a:xfrm>
          <a:prstGeom prst="roundRect">
            <a:avLst>
              <a:gd fmla="val 11538" name="adj"/>
            </a:avLst>
          </a:prstGeom>
          <a:solidFill>
            <a:srgbClr val="FBE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731520" y="6016752"/>
            <a:ext cx="10725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We can now measure the cascade directly — and “cascade-led” is the candidate definition.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METHODOLOGY · 2 OF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02920" y="53035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3000"/>
              <a:buFont typeface="Cambria"/>
              <a:buNone/>
            </a:pPr>
            <a:r>
              <a:rPr b="1" i="0" lang="en-US" sz="28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Separating mechanisms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AC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5ACA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66928" y="138988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THREE FRAMES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66928" y="1737360"/>
            <a:ext cx="3063240" cy="841248"/>
          </a:xfrm>
          <a:prstGeom prst="roundRect">
            <a:avLst>
              <a:gd fmla="val 7609" name="adj"/>
            </a:avLst>
          </a:prstGeom>
          <a:solidFill>
            <a:srgbClr val="FBEED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749808" y="1956816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749808" y="195681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298448" y="1865376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London flows · London ladder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CORE lens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66928" y="2761488"/>
            <a:ext cx="3063240" cy="841248"/>
          </a:xfrm>
          <a:prstGeom prst="roundRect">
            <a:avLst>
              <a:gd fmla="val 7609" name="adj"/>
            </a:avLst>
          </a:prstGeom>
          <a:solidFill>
            <a:srgbClr val="F4F2E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749808" y="2980944"/>
            <a:ext cx="402336" cy="402336"/>
          </a:xfrm>
          <a:prstGeom prst="ellipse">
            <a:avLst/>
          </a:prstGeom>
          <a:solidFill>
            <a:srgbClr val="CFC7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749808" y="298094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298448" y="2889504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London flows · national ladder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isolates re-ranking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66928" y="3785616"/>
            <a:ext cx="3063240" cy="841248"/>
          </a:xfrm>
          <a:prstGeom prst="roundRect">
            <a:avLst>
              <a:gd fmla="val 7609" name="adj"/>
            </a:avLst>
          </a:prstGeom>
          <a:solidFill>
            <a:srgbClr val="F4F2E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749808" y="4005072"/>
            <a:ext cx="402336" cy="402336"/>
          </a:xfrm>
          <a:prstGeom prst="ellipse">
            <a:avLst/>
          </a:prstGeom>
          <a:solidFill>
            <a:srgbClr val="CFC7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749808" y="40050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298448" y="3913632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+ external flows · national ladder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adds boundary effects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03504" y="4855464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~69% of London sits below national D6,</a:t>
            </a:r>
            <a:r>
              <a:rPr b="0" i="1" lang="en-US" sz="11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1" sz="1100" u="none" cap="none" strike="noStrike">
              <a:solidFill>
                <a:srgbClr val="5550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so Frame A stays the faithful lens.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160520" y="13898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MECHANISM TREE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858000" y="1371600"/>
            <a:ext cx="1920240" cy="457200"/>
          </a:xfrm>
          <a:prstGeom prst="roundRect">
            <a:avLst>
              <a:gd fmla="val 12000" name="adj"/>
            </a:avLst>
          </a:prstGeom>
          <a:solidFill>
            <a:srgbClr val="FBEEDF"/>
          </a:solidFill>
          <a:ln cap="flat" cmpd="sng" w="1905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6931152" y="1371600"/>
            <a:ext cx="17739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Cascade-led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126480" y="2148840"/>
            <a:ext cx="338328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D8D2C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199632" y="2148840"/>
            <a:ext cx="323697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cascade inflow share ≥ 0.25 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(an empirical gap, both years)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6"/>
          <p:cNvCxnSpPr/>
          <p:nvPr/>
        </p:nvCxnSpPr>
        <p:spPr>
          <a:xfrm>
            <a:off x="7818120" y="1828800"/>
            <a:ext cx="914" cy="320040"/>
          </a:xfrm>
          <a:prstGeom prst="straightConnector1">
            <a:avLst/>
          </a:prstGeom>
          <a:noFill/>
          <a:ln cap="flat" cmpd="sng" w="19050">
            <a:solidFill>
              <a:srgbClr val="B5ACA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" name="Google Shape;138;p6"/>
          <p:cNvSpPr/>
          <p:nvPr/>
        </p:nvSpPr>
        <p:spPr>
          <a:xfrm>
            <a:off x="4617720" y="3246120"/>
            <a:ext cx="246888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D8D2C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690872" y="3246120"/>
            <a:ext cx="232257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frame-robust (A &amp; C) 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595360" y="3246120"/>
            <a:ext cx="265176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D8D2C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8668512" y="3246120"/>
            <a:ext cx="250545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external-arm share ≥ 0.5 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(do they leave London?)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6"/>
          <p:cNvCxnSpPr/>
          <p:nvPr/>
        </p:nvCxnSpPr>
        <p:spPr>
          <a:xfrm flipH="1">
            <a:off x="5884040" y="2656331"/>
            <a:ext cx="1097400" cy="594300"/>
          </a:xfrm>
          <a:prstGeom prst="straightConnector1">
            <a:avLst/>
          </a:prstGeom>
          <a:noFill/>
          <a:ln cap="flat" cmpd="sng" w="19050">
            <a:solidFill>
              <a:srgbClr val="B5ACA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" name="Google Shape;143;p6"/>
          <p:cNvCxnSpPr/>
          <p:nvPr/>
        </p:nvCxnSpPr>
        <p:spPr>
          <a:xfrm>
            <a:off x="8686800" y="2715768"/>
            <a:ext cx="1144500" cy="527400"/>
          </a:xfrm>
          <a:prstGeom prst="straightConnector1">
            <a:avLst/>
          </a:prstGeom>
          <a:noFill/>
          <a:ln cap="flat" cmpd="sng" w="19050">
            <a:solidFill>
              <a:srgbClr val="B5ACA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" name="Google Shape;144;p6"/>
          <p:cNvSpPr/>
          <p:nvPr/>
        </p:nvSpPr>
        <p:spPr>
          <a:xfrm>
            <a:off x="4160520" y="299923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YES — inflow cascades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281160" y="299923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NO — outflow cascades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977640" y="4434840"/>
            <a:ext cx="1783080" cy="914400"/>
          </a:xfrm>
          <a:prstGeom prst="roundRect">
            <a:avLst>
              <a:gd fmla="val 6000" name="adj"/>
            </a:avLst>
          </a:prstGeom>
          <a:solidFill>
            <a:srgbClr val="C0392B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050792" y="4434840"/>
            <a:ext cx="163677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inflow-driven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gentrification candidates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943600" y="4434840"/>
            <a:ext cx="1783080" cy="914400"/>
          </a:xfrm>
          <a:prstGeom prst="roundRect">
            <a:avLst>
              <a:gd fmla="val 6000" name="adj"/>
            </a:avLst>
          </a:prstGeom>
          <a:solidFill>
            <a:srgbClr val="E67E22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016752" y="4434840"/>
            <a:ext cx="163677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frame-sensitive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 frame-robust residuals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092440" y="4434840"/>
            <a:ext cx="1783080" cy="914400"/>
          </a:xfrm>
          <a:prstGeom prst="roundRect">
            <a:avLst>
              <a:gd fmla="val 6000" name="adj"/>
            </a:avLst>
          </a:prstGeom>
          <a:solidFill>
            <a:srgbClr val="F2CFC9"/>
          </a:solidFill>
          <a:ln cap="flat" cmpd="sng" w="12700">
            <a:solidFill>
              <a:srgbClr val="CDB8B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8165592" y="4434840"/>
            <a:ext cx="163677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370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A3708"/>
                </a:solidFill>
                <a:latin typeface="Calibri"/>
                <a:ea typeface="Calibri"/>
                <a:cs typeface="Calibri"/>
                <a:sym typeface="Calibri"/>
              </a:rPr>
              <a:t>outflow-internal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outflows stay within London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0058400" y="4434840"/>
            <a:ext cx="1783080" cy="914400"/>
          </a:xfrm>
          <a:prstGeom prst="roundRect">
            <a:avLst>
              <a:gd fmla="val 6000" name="adj"/>
            </a:avLst>
          </a:prstGeom>
          <a:solidFill>
            <a:srgbClr val="E8A7A0"/>
          </a:solidFill>
          <a:ln cap="flat" cmpd="sng" w="12700">
            <a:solidFill>
              <a:srgbClr val="CDB8B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0131552" y="4434840"/>
            <a:ext cx="163677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2F2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C2F24"/>
                </a:solidFill>
                <a:latin typeface="Calibri"/>
                <a:ea typeface="Calibri"/>
                <a:cs typeface="Calibri"/>
                <a:sym typeface="Calibri"/>
              </a:rPr>
              <a:t>outflow-external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outflows leave London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6"/>
          <p:cNvCxnSpPr/>
          <p:nvPr/>
        </p:nvCxnSpPr>
        <p:spPr>
          <a:xfrm flipH="1">
            <a:off x="4846320" y="3813048"/>
            <a:ext cx="640080" cy="621792"/>
          </a:xfrm>
          <a:prstGeom prst="straightConnector1">
            <a:avLst/>
          </a:prstGeom>
          <a:noFill/>
          <a:ln cap="flat" cmpd="sng" w="19050">
            <a:solidFill>
              <a:srgbClr val="B5ACA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6"/>
          <p:cNvCxnSpPr/>
          <p:nvPr/>
        </p:nvCxnSpPr>
        <p:spPr>
          <a:xfrm>
            <a:off x="6126480" y="3813048"/>
            <a:ext cx="640080" cy="621792"/>
          </a:xfrm>
          <a:prstGeom prst="straightConnector1">
            <a:avLst/>
          </a:prstGeom>
          <a:noFill/>
          <a:ln cap="flat" cmpd="sng" w="19050">
            <a:solidFill>
              <a:srgbClr val="B5ACA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" name="Google Shape;156;p6"/>
          <p:cNvCxnSpPr/>
          <p:nvPr/>
        </p:nvCxnSpPr>
        <p:spPr>
          <a:xfrm flipH="1">
            <a:off x="8961120" y="3813048"/>
            <a:ext cx="640080" cy="621792"/>
          </a:xfrm>
          <a:prstGeom prst="straightConnector1">
            <a:avLst/>
          </a:prstGeom>
          <a:noFill/>
          <a:ln cap="flat" cmpd="sng" w="19050">
            <a:solidFill>
              <a:srgbClr val="B5ACA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" name="Google Shape;157;p6"/>
          <p:cNvCxnSpPr/>
          <p:nvPr/>
        </p:nvCxnSpPr>
        <p:spPr>
          <a:xfrm>
            <a:off x="10241280" y="3813048"/>
            <a:ext cx="685800" cy="621792"/>
          </a:xfrm>
          <a:prstGeom prst="straightConnector1">
            <a:avLst/>
          </a:prstGeom>
          <a:noFill/>
          <a:ln cap="flat" cmpd="sng" w="19050">
            <a:solidFill>
              <a:srgbClr val="B5ACA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6"/>
          <p:cNvSpPr/>
          <p:nvPr/>
        </p:nvSpPr>
        <p:spPr>
          <a:xfrm>
            <a:off x="4434840" y="4078224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720840" y="4078224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366760" y="4078224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1018520" y="4078224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02920" y="5715000"/>
            <a:ext cx="11183112" cy="475488"/>
          </a:xfrm>
          <a:prstGeom prst="roundRect">
            <a:avLst>
              <a:gd fmla="val 11538" name="adj"/>
            </a:avLst>
          </a:prstGeom>
          <a:solidFill>
            <a:srgbClr val="FBE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731520" y="5715000"/>
            <a:ext cx="10725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Every cascade-led area lands in exactly one leaf — applied identically to 2011 and 2021.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METHODOLOGY · 3 OF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02920" y="530352"/>
            <a:ext cx="10515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3000"/>
              <a:buFont typeface="Cambria"/>
              <a:buNone/>
            </a:pPr>
            <a:r>
              <a:rPr b="1" lang="en-US" sz="2800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How do we know whether the cascade works?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AC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5ACA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66928" y="1828800"/>
            <a:ext cx="3429000" cy="2743200"/>
          </a:xfrm>
          <a:prstGeom prst="roundRect">
            <a:avLst>
              <a:gd fmla="val 3000" name="adj"/>
            </a:avLst>
          </a:prstGeom>
          <a:solidFill>
            <a:srgbClr val="FBEED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886968" y="2176272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886968" y="217627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886968" y="292608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886968" y="3218688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IMD percentile change,</a:t>
            </a:r>
            <a:endParaRPr b="1" i="0" sz="1650" u="none" cap="none" strike="noStrike">
              <a:solidFill>
                <a:srgbClr val="2B2724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 2010 → 2019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86968" y="3950208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Did deprivation actually improve?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379976" y="1828800"/>
            <a:ext cx="3429000" cy="2743200"/>
          </a:xfrm>
          <a:prstGeom prst="roundRect">
            <a:avLst>
              <a:gd fmla="val 3000" name="adj"/>
            </a:avLst>
          </a:prstGeom>
          <a:solidFill>
            <a:srgbClr val="FAEAE7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700016" y="2176272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700016" y="217627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700016" y="292608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ATTRIBUTE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700016" y="3218688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Yee &amp; Dennett (2022)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700016" y="3950208"/>
            <a:ext cx="278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Agreed with established attribute classification?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8193024" y="1828800"/>
            <a:ext cx="3429000" cy="2743200"/>
          </a:xfrm>
          <a:prstGeom prst="roundRect">
            <a:avLst>
              <a:gd fmla="val 3000" name="adj"/>
            </a:avLst>
          </a:prstGeom>
          <a:solidFill>
            <a:srgbClr val="EFECF6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8513064" y="2176272"/>
            <a:ext cx="548640" cy="548640"/>
          </a:xfrm>
          <a:prstGeom prst="ellipse">
            <a:avLst/>
          </a:prstGeom>
          <a:solidFill>
            <a:srgbClr val="6A51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8513064" y="217627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513064" y="292608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3B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3B7E"/>
                </a:solidFill>
                <a:latin typeface="Calibri"/>
                <a:ea typeface="Calibri"/>
                <a:cs typeface="Calibri"/>
                <a:sym typeface="Calibri"/>
              </a:rPr>
              <a:t>COMPOSITION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8513064" y="3218688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Occupational ascent</a:t>
            </a:r>
            <a:endParaRPr b="1" i="0" sz="1650" u="none" cap="none" strike="noStrike">
              <a:solidFill>
                <a:srgbClr val="2B2724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650"/>
              <a:buFont typeface="Cambria"/>
              <a:buNone/>
            </a:pPr>
            <a:r>
              <a:rPr b="1" lang="en-US" sz="1650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Smith (2022)</a:t>
            </a:r>
            <a:endParaRPr b="1" sz="1650">
              <a:solidFill>
                <a:srgbClr val="2B2724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513064" y="3950208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Any rise in SOC major groups 1–3?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02925" y="4983474"/>
            <a:ext cx="1118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700"/>
              <a:buFont typeface="Cambria"/>
              <a:buNone/>
            </a:pPr>
            <a:r>
              <a:rPr i="1" lang="en-US" sz="1700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b="0" i="1" lang="en-US" sz="17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ascade = </a:t>
            </a:r>
            <a:r>
              <a:rPr i="1" lang="en-US" sz="1700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b="0" i="1" lang="en-US" sz="17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entrification</a:t>
            </a:r>
            <a:r>
              <a:rPr i="1" lang="en-US" sz="1700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      </a:t>
            </a:r>
            <a:r>
              <a:rPr i="1" lang="en-US" sz="4000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⟹</a:t>
            </a:r>
            <a:r>
              <a:rPr i="1" lang="en-US" sz="1700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       A</a:t>
            </a:r>
            <a:r>
              <a:rPr b="0" i="1" lang="en-US" sz="17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ll three should agree.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02920" y="6016752"/>
            <a:ext cx="11183112" cy="475488"/>
          </a:xfrm>
          <a:prstGeom prst="roundRect">
            <a:avLst>
              <a:gd fmla="val 11538" name="adj"/>
            </a:avLst>
          </a:prstGeom>
          <a:solidFill>
            <a:srgbClr val="FBE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731520" y="6016752"/>
            <a:ext cx="10725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“Cascade-led” is the testable candidate — judged by three independent lenses.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FINDINGS · 1 OF 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02920" y="53035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3000"/>
              <a:buFont typeface="Cambria"/>
              <a:buNone/>
            </a:pPr>
            <a:r>
              <a:rPr b="1" i="0" lang="en-US" sz="28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Flow and attribute definitions only partly overlap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AC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5ACA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868680" y="1874520"/>
            <a:ext cx="4114800" cy="3383280"/>
          </a:xfrm>
          <a:prstGeom prst="ellipse">
            <a:avLst/>
          </a:prstGeom>
          <a:solidFill>
            <a:srgbClr val="E67E22">
              <a:alpha val="40000"/>
            </a:srgbClr>
          </a:solidFill>
          <a:ln cap="flat" cmpd="sng" w="2222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069080" y="2514600"/>
            <a:ext cx="2468880" cy="2103120"/>
          </a:xfrm>
          <a:prstGeom prst="ellipse">
            <a:avLst/>
          </a:prstGeom>
          <a:solidFill>
            <a:srgbClr val="6E655D">
              <a:alpha val="34901"/>
            </a:srgbClr>
          </a:solidFill>
          <a:ln cap="flat" cmpd="sng" w="22225">
            <a:solidFill>
              <a:srgbClr val="6E65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1051560" y="137160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cascade-led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the flow definition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120640" y="470916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463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E463F"/>
                </a:solidFill>
                <a:latin typeface="Calibri"/>
                <a:ea typeface="Calibri"/>
                <a:cs typeface="Calibri"/>
                <a:sym typeface="Calibri"/>
              </a:rPr>
              <a:t>Yee-GEN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463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4E463F"/>
                </a:solidFill>
                <a:latin typeface="Calibri"/>
                <a:ea typeface="Calibri"/>
                <a:cs typeface="Calibri"/>
                <a:sym typeface="Calibri"/>
              </a:rPr>
              <a:t>the attribute definition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234440" y="2697480"/>
            <a:ext cx="21945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197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flow-only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cascade-led, no Yee-GEN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114800" y="2999232"/>
            <a:ext cx="868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F2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3A2F2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F2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2F28"/>
                </a:solidFill>
                <a:latin typeface="Calibri"/>
                <a:ea typeface="Calibri"/>
                <a:cs typeface="Calibri"/>
                <a:sym typeface="Calibri"/>
              </a:rPr>
              <a:t>both agree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138928" y="2852928"/>
            <a:ext cx="1325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83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F3832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8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F3832"/>
                </a:solidFill>
                <a:latin typeface="Calibri"/>
                <a:ea typeface="Calibri"/>
                <a:cs typeface="Calibri"/>
                <a:sym typeface="Calibri"/>
              </a:rPr>
              <a:t>attribute-only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463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E463F"/>
                </a:solidFill>
                <a:latin typeface="Calibri"/>
                <a:ea typeface="Calibri"/>
                <a:cs typeface="Calibri"/>
                <a:sym typeface="Calibri"/>
              </a:rPr>
              <a:t>Yee-GEN, no cascade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7406640" y="1837944"/>
            <a:ext cx="164592" cy="16459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7699248" y="1691630"/>
            <a:ext cx="3913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The IMD kicker  </a:t>
            </a:r>
            <a:endParaRPr b="1" i="0" sz="1300" u="none" cap="none" strike="noStrike">
              <a:solidFill>
                <a:srgbClr val="2B27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2B27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Adding a cascade signal on top of Yee-GEN weakens, not strengthens the deprivation gain.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7406640" y="2980944"/>
            <a:ext cx="164592" cy="164592"/>
          </a:xfrm>
          <a:prstGeom prst="ellipse">
            <a:avLst/>
          </a:prstGeom>
          <a:solidFill>
            <a:srgbClr val="6A51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7699248" y="2926080"/>
            <a:ext cx="39136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The twist</a:t>
            </a:r>
            <a:endParaRPr b="1" i="0" sz="1300" u="none" cap="none" strike="noStrike">
              <a:solidFill>
                <a:srgbClr val="2B27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2B27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The flow method's own deprivation signal sits in the counter direction</a:t>
            </a:r>
            <a:endParaRPr sz="1300">
              <a:solidFill>
                <a:srgbClr val="5550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3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he rare agreement is 2011, inner London.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7406640" y="4156524"/>
            <a:ext cx="164700" cy="164700"/>
          </a:xfrm>
          <a:prstGeom prst="ellipse">
            <a:avLst/>
          </a:prstGeom>
          <a:solidFill>
            <a:srgbClr val="6E65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7699248" y="4069080"/>
            <a:ext cx="3913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Occupational ascent concurs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02920" y="6016752"/>
            <a:ext cx="11183112" cy="475488"/>
          </a:xfrm>
          <a:prstGeom prst="roundRect">
            <a:avLst>
              <a:gd fmla="val 11538" name="adj"/>
            </a:avLst>
          </a:prstGeom>
          <a:solidFill>
            <a:srgbClr val="FBE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731520" y="6016752"/>
            <a:ext cx="10725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The two lenses measure different things — but is “cascade-led” one mechanism, or several wearing one label?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FINDINGS · 2 OF 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02920" y="53035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3000"/>
              <a:buFont typeface="Cambria"/>
              <a:buNone/>
            </a:pPr>
            <a:r>
              <a:rPr b="1" i="0" lang="en-US" sz="28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Cascade-led changes dramatically over the decade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AC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5ACA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365875" y="1554475"/>
            <a:ext cx="4178700" cy="3566100"/>
          </a:xfrm>
          <a:prstGeom prst="roundRect">
            <a:avLst>
              <a:gd fmla="val 2308" name="adj"/>
            </a:avLst>
          </a:prstGeom>
          <a:solidFill>
            <a:srgbClr val="F4F2E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841248" y="173736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2011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841248" y="233172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inflow-driven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984248" y="2350008"/>
            <a:ext cx="1536192" cy="274320"/>
          </a:xfrm>
          <a:prstGeom prst="roundRect">
            <a:avLst>
              <a:gd fmla="val 1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3593592" y="2313432"/>
            <a:ext cx="548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841248" y="297180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frame-sensitive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984248" y="2990088"/>
            <a:ext cx="1563624" cy="274320"/>
          </a:xfrm>
          <a:prstGeom prst="roundRect">
            <a:avLst>
              <a:gd fmla="val 10000" name="adj"/>
            </a:avLst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3621024" y="2953512"/>
            <a:ext cx="548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841248" y="361188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outflow-internal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984248" y="3630168"/>
            <a:ext cx="2221992" cy="274320"/>
          </a:xfrm>
          <a:prstGeom prst="roundRect">
            <a:avLst>
              <a:gd fmla="val 10000" name="adj"/>
            </a:avLst>
          </a:prstGeom>
          <a:solidFill>
            <a:srgbClr val="F2CFC9"/>
          </a:solidFill>
          <a:ln cap="flat" cmpd="sng" w="9525">
            <a:solidFill>
              <a:srgbClr val="CDB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279392" y="3593592"/>
            <a:ext cx="548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841248" y="425196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outflow-external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984248" y="4270248"/>
            <a:ext cx="521208" cy="274320"/>
          </a:xfrm>
          <a:prstGeom prst="roundRect">
            <a:avLst>
              <a:gd fmla="val 10000" name="adj"/>
            </a:avLst>
          </a:prstGeom>
          <a:solidFill>
            <a:srgbClr val="E8A7A0"/>
          </a:solidFill>
          <a:ln cap="flat" cmpd="sng" w="9525">
            <a:solidFill>
              <a:srgbClr val="CDB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2578608" y="4233672"/>
            <a:ext cx="548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61772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120650" y="1554475"/>
            <a:ext cx="4178700" cy="3566100"/>
          </a:xfrm>
          <a:prstGeom prst="roundRect">
            <a:avLst>
              <a:gd fmla="val 2308" name="adj"/>
            </a:avLst>
          </a:prstGeom>
          <a:solidFill>
            <a:srgbClr val="F4F2E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5394960" y="173736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2021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394960" y="233172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inflow-driven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537960" y="2350008"/>
            <a:ext cx="356616" cy="274320"/>
          </a:xfrm>
          <a:prstGeom prst="roundRect">
            <a:avLst>
              <a:gd fmla="val 1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6967728" y="2313432"/>
            <a:ext cx="548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394960" y="297180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frame-sensitive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537960" y="2990088"/>
            <a:ext cx="384048" cy="274320"/>
          </a:xfrm>
          <a:prstGeom prst="roundRect">
            <a:avLst>
              <a:gd fmla="val 10000" name="adj"/>
            </a:avLst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995160" y="2953512"/>
            <a:ext cx="548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394960" y="361188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outflow-internal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537960" y="3630168"/>
            <a:ext cx="2468880" cy="274320"/>
          </a:xfrm>
          <a:prstGeom prst="roundRect">
            <a:avLst>
              <a:gd fmla="val 10000" name="adj"/>
            </a:avLst>
          </a:prstGeom>
          <a:solidFill>
            <a:srgbClr val="F2CFC9"/>
          </a:solidFill>
          <a:ln cap="flat" cmpd="sng" w="9525">
            <a:solidFill>
              <a:srgbClr val="CDB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9079992" y="3593592"/>
            <a:ext cx="548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394960" y="425196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outflow-external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537960" y="4270248"/>
            <a:ext cx="2139696" cy="274320"/>
          </a:xfrm>
          <a:prstGeom prst="roundRect">
            <a:avLst>
              <a:gd fmla="val 10000" name="adj"/>
            </a:avLst>
          </a:prstGeom>
          <a:solidFill>
            <a:srgbClr val="E8A7A0"/>
          </a:solidFill>
          <a:ln cap="flat" cmpd="sng" w="9525">
            <a:solidFill>
              <a:srgbClr val="CDB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8750808" y="4233672"/>
            <a:ext cx="548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9464040" y="2055586"/>
            <a:ext cx="164700" cy="1647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9756650" y="1783100"/>
            <a:ext cx="2103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Genuine inflow-driven cascade collapses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56 → 13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9464040" y="3316732"/>
            <a:ext cx="164700" cy="164700"/>
          </a:xfrm>
          <a:prstGeom prst="ellipse">
            <a:avLst/>
          </a:prstGeom>
          <a:solidFill>
            <a:srgbClr val="E8A7A0"/>
          </a:solidFill>
          <a:ln cap="flat" cmpd="sng" w="9525">
            <a:solidFill>
              <a:srgbClr val="C9B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9756648" y="2953512"/>
            <a:ext cx="2103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External-outflow quadruples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19 → 78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9464040" y="4385110"/>
            <a:ext cx="164700" cy="164700"/>
          </a:xfrm>
          <a:prstGeom prst="ellipse">
            <a:avLst/>
          </a:prstGeom>
          <a:solidFill>
            <a:srgbClr val="F2CFC9"/>
          </a:solidFill>
          <a:ln cap="flat" cmpd="sng" w="9525">
            <a:solidFill>
              <a:srgbClr val="C9B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9756648" y="4123944"/>
            <a:ext cx="2103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Internal-outflow stays remarkably stable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81 → 90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02920" y="6016752"/>
            <a:ext cx="11183112" cy="475488"/>
          </a:xfrm>
          <a:prstGeom prst="roundRect">
            <a:avLst>
              <a:gd fmla="val 11538" name="adj"/>
            </a:avLst>
          </a:prstGeom>
          <a:solidFill>
            <a:srgbClr val="FBE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731520" y="6016752"/>
            <a:ext cx="10725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Identical </a:t>
            </a:r>
            <a:r>
              <a:rPr lang="en-US" sz="1300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cascades</a:t>
            </a:r>
            <a:r>
              <a:rPr b="0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 produced by very different underlying processes.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FINDINGS · 3 OF 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02920" y="53035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3000"/>
              <a:buFont typeface="Cambria"/>
              <a:buNone/>
            </a:pPr>
            <a:r>
              <a:rPr b="1" i="0" lang="en-US" sz="28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Which mechanism actually corresponds to gentrification?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AC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5ACA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566928" y="13716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Where does Yee and Dennett's GEN actually live?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66928" y="1874520"/>
            <a:ext cx="11064240" cy="841248"/>
          </a:xfrm>
          <a:prstGeom prst="roundRect">
            <a:avLst>
              <a:gd fmla="val 7609" name="adj"/>
            </a:avLst>
          </a:prstGeom>
          <a:solidFill>
            <a:srgbClr val="FBEED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868680" y="2203704"/>
            <a:ext cx="201168" cy="201168"/>
          </a:xfrm>
          <a:prstGeom prst="ellipse">
            <a:avLst/>
          </a:prstGeom>
          <a:solidFill>
            <a:srgbClr val="F2CFC9"/>
          </a:solidFill>
          <a:ln cap="flat" cmpd="sng" w="9525">
            <a:solidFill>
              <a:srgbClr val="C9B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1234440" y="1874520"/>
            <a:ext cx="2926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outflow-internal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297680" y="1874520"/>
            <a:ext cx="26517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A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7A3C"/>
                </a:solidFill>
                <a:latin typeface="Calibri"/>
                <a:ea typeface="Calibri"/>
                <a:cs typeface="Calibri"/>
                <a:sym typeface="Calibri"/>
              </a:rPr>
              <a:t>✔✔  Strong enrichment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7040880" y="1874520"/>
            <a:ext cx="44348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the only cell significant on BOTH 2011 and 2021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66928" y="2852928"/>
            <a:ext cx="11064240" cy="841248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2700">
            <a:solidFill>
              <a:srgbClr val="E4DFD9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868680" y="3182112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1234440" y="2852928"/>
            <a:ext cx="2926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inflow-driven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4297680" y="2852928"/>
            <a:ext cx="26517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A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7A3C"/>
                </a:solidFill>
                <a:latin typeface="Calibri"/>
                <a:ea typeface="Calibri"/>
                <a:cs typeface="Calibri"/>
                <a:sym typeface="Calibri"/>
              </a:rPr>
              <a:t>✔  Weak enrichment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7040880" y="2852928"/>
            <a:ext cx="44348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concurrent only — does not persist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66928" y="3831336"/>
            <a:ext cx="11064240" cy="841248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2700">
            <a:solidFill>
              <a:srgbClr val="E4DFD9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868680" y="4160520"/>
            <a:ext cx="201168" cy="201168"/>
          </a:xfrm>
          <a:prstGeom prst="ellipse">
            <a:avLst/>
          </a:prstGeom>
          <a:solidFill>
            <a:srgbClr val="E8A7A0"/>
          </a:solidFill>
          <a:ln cap="flat" cmpd="sng" w="9525">
            <a:solidFill>
              <a:srgbClr val="C9B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1234440" y="3831336"/>
            <a:ext cx="2926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outflow-external (exodus)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297680" y="3831336"/>
            <a:ext cx="26517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B1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9C2B1E"/>
                </a:solidFill>
                <a:latin typeface="Calibri"/>
                <a:ea typeface="Calibri"/>
                <a:cs typeface="Calibri"/>
                <a:sym typeface="Calibri"/>
              </a:rPr>
              <a:t>✘  GEN-depleted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7040880" y="3831336"/>
            <a:ext cx="44348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not gentrification moving out — external corroboration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566928" y="4809744"/>
            <a:ext cx="11064240" cy="841248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2700">
            <a:solidFill>
              <a:srgbClr val="E4DFD9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868680" y="5138928"/>
            <a:ext cx="201168" cy="201168"/>
          </a:xfrm>
          <a:prstGeom prst="ellipse">
            <a:avLst/>
          </a:prstGeom>
          <a:solidFill>
            <a:srgbClr val="6A51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1234440" y="4809744"/>
            <a:ext cx="2926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counter-led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297680" y="4809744"/>
            <a:ext cx="26517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B1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9C2B1E"/>
                </a:solidFill>
                <a:latin typeface="Calibri"/>
                <a:ea typeface="Calibri"/>
                <a:cs typeface="Calibri"/>
                <a:sym typeface="Calibri"/>
              </a:rPr>
              <a:t>✘  GEN-depleted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7040880" y="4809744"/>
            <a:ext cx="44348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the anti-gentrification direction, both clocks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02920" y="6016752"/>
            <a:ext cx="11183112" cy="475488"/>
          </a:xfrm>
          <a:prstGeom prst="roundRect">
            <a:avLst>
              <a:gd fmla="val 11538" name="adj"/>
            </a:avLst>
          </a:prstGeom>
          <a:solidFill>
            <a:srgbClr val="FBE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731520" y="6016752"/>
            <a:ext cx="10725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Attribute-defined gentrification lives in the internal-OUTFLOW branch — why?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FINDINGS · 4 OF 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AC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5ACA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_eda12_yee_subtype_mechanism_map_20260706.png" id="299" name="Google Shape;2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75" y="1481325"/>
            <a:ext cx="8924574" cy="43830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1"/>
          <p:cNvSpPr/>
          <p:nvPr/>
        </p:nvSpPr>
        <p:spPr>
          <a:xfrm>
            <a:off x="9464040" y="2066544"/>
            <a:ext cx="182880" cy="1828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9774936" y="2011680"/>
            <a:ext cx="2148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Mainstream gentrification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inflow-driven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9464040" y="3209544"/>
            <a:ext cx="182880" cy="182880"/>
          </a:xfrm>
          <a:prstGeom prst="ellipse">
            <a:avLst/>
          </a:prstGeom>
          <a:solidFill>
            <a:srgbClr val="F2CFC9"/>
          </a:solidFill>
          <a:ln cap="flat" cmpd="sng" w="9525">
            <a:solidFill>
              <a:srgbClr val="C9B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9774936" y="3154680"/>
            <a:ext cx="2148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Super gentrification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internal-outflow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9464040" y="4352544"/>
            <a:ext cx="182880" cy="182880"/>
          </a:xfrm>
          <a:prstGeom prst="ellipse">
            <a:avLst/>
          </a:prstGeom>
          <a:solidFill>
            <a:srgbClr val="E8A7A0"/>
          </a:solidFill>
          <a:ln cap="flat" cmpd="sng" w="9525">
            <a:solidFill>
              <a:srgbClr val="C9B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9774936" y="4297680"/>
            <a:ext cx="2148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NOT gentrification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external-outflow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502920" y="6016752"/>
            <a:ext cx="11183112" cy="475488"/>
          </a:xfrm>
          <a:prstGeom prst="roundRect">
            <a:avLst>
              <a:gd fmla="val 11538" name="adj"/>
            </a:avLst>
          </a:prstGeom>
          <a:solidFill>
            <a:srgbClr val="FBE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731520" y="6016752"/>
            <a:ext cx="10725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Two lenses see the same city through different arms of the cascade.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502920" y="548640"/>
            <a:ext cx="111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3000"/>
              <a:buFont typeface="Cambria"/>
              <a:buNone/>
            </a:pPr>
            <a:r>
              <a:rPr b="1" i="0" lang="en-US" sz="2800" u="none" cap="none" strike="noStrike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Different gentrification subtypes occupy different flow mechanisms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E1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502920" y="65836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So, where do they go?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55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55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25196" y="1874520"/>
            <a:ext cx="3566160" cy="2880360"/>
          </a:xfrm>
          <a:prstGeom prst="roundRect">
            <a:avLst>
              <a:gd fmla="val 2857" name="adj"/>
            </a:avLst>
          </a:prstGeom>
          <a:solidFill>
            <a:srgbClr val="2F2823"/>
          </a:solidFill>
          <a:ln cap="flat" cmpd="sng" w="12700">
            <a:solidFill>
              <a:srgbClr val="3E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717804" y="219456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717804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717804" y="2880360"/>
            <a:ext cx="29809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Cascade ≠ gentrification.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717804" y="3840480"/>
            <a:ext cx="29809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5B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Gentrification is better characterised by a </a:t>
            </a:r>
            <a:r>
              <a:rPr b="0" i="0" lang="en-US" sz="1200" u="sng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persistent</a:t>
            </a:r>
            <a:r>
              <a:rPr b="0" i="0" lang="en-US" sz="120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200" u="sng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inflow-led</a:t>
            </a:r>
            <a:r>
              <a:rPr b="0" i="0" lang="en-US" sz="120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200" u="sng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inner-London cascade</a:t>
            </a:r>
            <a:r>
              <a:rPr b="0" i="0" lang="en-US" sz="120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, coinciding with </a:t>
            </a:r>
            <a:r>
              <a:rPr b="0" i="0" lang="en-US" sz="1200" u="sng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attribute ascent</a:t>
            </a:r>
            <a:r>
              <a:rPr b="0" i="0" lang="en-US" sz="120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4311396" y="1874520"/>
            <a:ext cx="3566160" cy="2880360"/>
          </a:xfrm>
          <a:prstGeom prst="roundRect">
            <a:avLst>
              <a:gd fmla="val 2857" name="adj"/>
            </a:avLst>
          </a:prstGeom>
          <a:solidFill>
            <a:srgbClr val="2F2823"/>
          </a:solidFill>
          <a:ln cap="flat" cmpd="sng" w="12700">
            <a:solidFill>
              <a:srgbClr val="3E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4604004" y="2194560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4604004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604004" y="2880360"/>
            <a:ext cx="29809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Identical cascade values can arise from different mechanisms.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4604004" y="3840480"/>
            <a:ext cx="29809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5B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The same statistic hides arrival, displacement and exodus processes.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8197596" y="1874520"/>
            <a:ext cx="3566160" cy="2880360"/>
          </a:xfrm>
          <a:prstGeom prst="roundRect">
            <a:avLst>
              <a:gd fmla="val 2857" name="adj"/>
            </a:avLst>
          </a:prstGeom>
          <a:solidFill>
            <a:srgbClr val="2F2823"/>
          </a:solidFill>
          <a:ln cap="flat" cmpd="sng" w="12700">
            <a:solidFill>
              <a:srgbClr val="3E3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8490204" y="2194560"/>
            <a:ext cx="502920" cy="502920"/>
          </a:xfrm>
          <a:prstGeom prst="ellipse">
            <a:avLst/>
          </a:prstGeom>
          <a:solidFill>
            <a:srgbClr val="6A51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8490204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8490204" y="2880360"/>
            <a:ext cx="298094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“Where people go” depends on flow mechanisms</a:t>
            </a:r>
            <a:r>
              <a:rPr b="1" lang="en-US" sz="16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8490204" y="3840480"/>
            <a:ext cx="29809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5B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20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ot simply origins and destinations</a:t>
            </a:r>
            <a:r>
              <a:rPr lang="en-US" sz="1200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rgbClr val="CFC5B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5B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1200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120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here” is a position on the ladder.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2103120" y="5257800"/>
            <a:ext cx="7982712" cy="777240"/>
          </a:xfrm>
          <a:prstGeom prst="roundRect">
            <a:avLst>
              <a:gd fmla="val 10588" name="adj"/>
            </a:avLst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2103120" y="5257800"/>
            <a:ext cx="79827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Gentrification is best understood as a set of migration mechanisms.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CONTRIBUTION &amp; LIMITATIONS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502920" y="53035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What this adds — and what it can't say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AC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5ACA4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02920" y="1463040"/>
            <a:ext cx="5532120" cy="4160520"/>
          </a:xfrm>
          <a:prstGeom prst="roundRect">
            <a:avLst>
              <a:gd fmla="val 1978" name="adj"/>
            </a:avLst>
          </a:prstGeom>
          <a:solidFill>
            <a:srgbClr val="FBEED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CONTRIBUTIONS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822960" y="2139696"/>
            <a:ext cx="384048" cy="38404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822960" y="21396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1371600" y="2103120"/>
            <a:ext cx="4480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A framework that separates re-ranking, external migration, and genuine cascade processes.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822960" y="32826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371600" y="3246120"/>
            <a:ext cx="4480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A mechanism tree that separates gentrification's subtypes — mainstream in the arrival arm, super-gentrification in the displacement arm.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822960" y="4425696"/>
            <a:ext cx="384048" cy="38404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822960" y="44256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1371600" y="4389120"/>
            <a:ext cx="4480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An open-data, reproducible, whole-city flow lens — public census OD + IMD across all of London.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6355080" y="1463040"/>
            <a:ext cx="5349240" cy="4160520"/>
          </a:xfrm>
          <a:prstGeom prst="roundRect">
            <a:avLst>
              <a:gd fmla="val 1978" name="adj"/>
            </a:avLst>
          </a:prstGeom>
          <a:solidFill>
            <a:srgbClr val="F4F2E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6675120" y="1691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55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655D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6675120" y="2103120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Ecological</a:t>
            </a:r>
            <a:r>
              <a:rPr b="0" i="0" lang="en-US" sz="12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 — area of origin is a noisy proxy for a mover's wealth — which itself explains the decoupling.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7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Temporal mismatch</a:t>
            </a:r>
            <a:r>
              <a:rPr b="0" i="0" lang="en-US" sz="12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 — flows 2011→2021; IMD 2010→2019; Yee labels 2001–2011 — hence the two-clock framing.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7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Ladder ceiling</a:t>
            </a:r>
            <a:r>
              <a:rPr b="0" i="0" lang="en-US" sz="12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 — top deciles cannot be inflow-led; the SupGen alignment is part substance, part construction.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7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Lockdown census</a:t>
            </a:r>
            <a:r>
              <a:rPr b="0" i="0" lang="en-US" sz="12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 — March-2021 suppression and imputation degrade the flow estimates.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502920" y="6016752"/>
            <a:ext cx="11183112" cy="475488"/>
          </a:xfrm>
          <a:prstGeom prst="roundRect">
            <a:avLst>
              <a:gd fmla="val 11538" name="adj"/>
            </a:avLst>
          </a:prstGeom>
          <a:solidFill>
            <a:srgbClr val="FBE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731520" y="6016752"/>
            <a:ext cx="10725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4A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A4A0F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0" lang="en-US" sz="130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Stated plainly, so they don't come back as objections. Next: case-study chapter &amp; spatial characterisation of the divergence.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E1A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55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655D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685800" y="9144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713232" y="18745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Questions welcome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713232" y="2834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08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B9089"/>
                </a:solidFill>
                <a:latin typeface="Calibri"/>
                <a:ea typeface="Calibri"/>
                <a:cs typeface="Calibri"/>
                <a:sym typeface="Calibri"/>
              </a:rPr>
              <a:t>KEY REFERENCES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713232" y="3200400"/>
            <a:ext cx="106070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5B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Dennett, A. &amp; Stillwell, J. (2008). Population turnover and churn. Population Trends 134.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CFC5B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Ding, L., Hwang, J. &amp; Divringi, E. (2016). Gentrification and residential mobility. Reg. Sci. Urban Econ. 61.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CFC5B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Freeman, L., Hwang, J., Haupert, T. &amp; Zhang, S. (2024). Urban Affairs Review 60(1).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CFC5B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Marcuse, P. (1985). Gentrification, abandonment and displacement. J. Urban &amp; Contemp. Law 28.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CFC5B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Smith, D. (2022). Tracking gentrification in London and Manchester using 2021 Census occupational class data. CityGeographics.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CFC5B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C5BB"/>
                </a:solidFill>
                <a:latin typeface="Calibri"/>
                <a:ea typeface="Calibri"/>
                <a:cs typeface="Calibri"/>
                <a:sym typeface="Calibri"/>
              </a:rPr>
              <a:t>Yee, J. &amp; Dennett, A. (2022). Stratifying and predicting gentrification in London. Trans. Inst. Br. Geogr. 47(3).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APPENDIX · BACKUP FOR Q&amp;A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502920" y="53035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Four neighbourhoods, four mechanisms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AC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5ACA4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502920" y="1481328"/>
            <a:ext cx="5532120" cy="1965960"/>
          </a:xfrm>
          <a:prstGeom prst="roundRect">
            <a:avLst>
              <a:gd fmla="val 4186" name="adj"/>
            </a:avLst>
          </a:prstGeom>
          <a:solidFill>
            <a:srgbClr val="F4F2E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758952" y="1755648"/>
            <a:ext cx="182880" cy="1828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1051560" y="166420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A · Genuine cascade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1051560" y="198424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Camden 026 · Tower Hamlets 010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1051560" y="2304288"/>
            <a:ext cx="4754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inflow-driven in both years (2 of only 8 city-wide); both arms thick, frame-robust. Yee-modal Stable — the flow lens sees what attributes miss.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6400800" y="1481328"/>
            <a:ext cx="5532120" cy="1965960"/>
          </a:xfrm>
          <a:prstGeom prst="roundRect">
            <a:avLst>
              <a:gd fmla="val 4186" name="adj"/>
            </a:avLst>
          </a:prstGeom>
          <a:solidFill>
            <a:srgbClr val="F4F2E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6656832" y="1755648"/>
            <a:ext cx="182880" cy="182880"/>
          </a:xfrm>
          <a:prstGeom prst="ellipse">
            <a:avLst/>
          </a:prstGeom>
          <a:solidFill>
            <a:srgbClr val="6A51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6949440" y="166420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B · Cascade → counter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6949440" y="198424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Southwark 003 · Islington 008 · Wandsworth 035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6949440" y="2304288"/>
            <a:ext cx="4754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IMD keeps improving, yet flows flip counter-led by 2021 — the decoupling made visible (Finding 1).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502920" y="3767328"/>
            <a:ext cx="5532120" cy="1965960"/>
          </a:xfrm>
          <a:prstGeom prst="roundRect">
            <a:avLst>
              <a:gd fmla="val 4186" name="adj"/>
            </a:avLst>
          </a:prstGeom>
          <a:solidFill>
            <a:srgbClr val="F4F2E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758952" y="4041648"/>
            <a:ext cx="182880" cy="182880"/>
          </a:xfrm>
          <a:prstGeom prst="ellipse">
            <a:avLst/>
          </a:prstGeom>
          <a:solidFill>
            <a:srgbClr val="F2CFC9"/>
          </a:solidFill>
          <a:ln cap="flat" cmpd="sng" w="9525">
            <a:solidFill>
              <a:srgbClr val="C9B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1051560" y="395020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C · London-contained outflow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1051560" y="427024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Harrow 008 · Harrow 029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1051560" y="4590288"/>
            <a:ext cx="4754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outflow-internal (ext arm 0.43 / 0.41): poorer outflow stays within London — a structural feature of the national ladder, not exodus.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6400800" y="3767328"/>
            <a:ext cx="5532120" cy="1965960"/>
          </a:xfrm>
          <a:prstGeom prst="roundRect">
            <a:avLst>
              <a:gd fmla="val 4186" name="adj"/>
            </a:avLst>
          </a:prstGeom>
          <a:solidFill>
            <a:srgbClr val="F4F2EF"/>
          </a:solidFill>
          <a:ln>
            <a:noFill/>
          </a:ln>
          <a:effectLst>
            <a:outerShdw blurRad="88900" rotWithShape="0" algn="bl" dir="27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6656832" y="4041648"/>
            <a:ext cx="182880" cy="182880"/>
          </a:xfrm>
          <a:prstGeom prst="ellipse">
            <a:avLst/>
          </a:prstGeom>
          <a:solidFill>
            <a:srgbClr val="E8A7A0"/>
          </a:solidFill>
          <a:ln cap="flat" cmpd="sng" w="9525">
            <a:solidFill>
              <a:srgbClr val="C9B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6949440" y="395020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2724"/>
                </a:solidFill>
                <a:latin typeface="Calibri"/>
                <a:ea typeface="Calibri"/>
                <a:cs typeface="Calibri"/>
                <a:sym typeface="Calibri"/>
              </a:rPr>
              <a:t>D · Literal exodus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6949440" y="427024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Kingston 019 · Croydon 044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6949440" y="4590288"/>
            <a:ext cx="4754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outflow-external: near-zero inflow, majority of out-moves leave London. One baseline member, one emergent by 2021 (Finding 2).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04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04B"/>
                </a:solidFill>
                <a:latin typeface="Calibri"/>
                <a:ea typeface="Calibri"/>
                <a:cs typeface="Calibri"/>
                <a:sym typeface="Calibri"/>
              </a:rPr>
              <a:t>C and D share near-zero inflow — only the out-arm destination differs: “exodus” is measured, not relabelled.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6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APPENDIX · ALLUVIAL PLOTS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502920" y="53035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Case flows A &amp; 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AC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5ACA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_alluvial_case_A_persistent_cascade.png" id="405" name="Google Shape;4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691640"/>
            <a:ext cx="6451092" cy="3794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_alluvial_case_B_cascade_to_counter.png" id="406" name="Google Shape;4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4052" y="1691640"/>
            <a:ext cx="4532630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6"/>
          <p:cNvSpPr/>
          <p:nvPr/>
        </p:nvSpPr>
        <p:spPr>
          <a:xfrm>
            <a:off x="502920" y="56692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 · Persistent cascade</a:t>
            </a:r>
            <a:r>
              <a:rPr b="0" i="0" lang="en-US" sz="12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  — Camden 026 · Tower Hamlets 010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7274052" y="566928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51A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A51A3"/>
                </a:solidFill>
                <a:latin typeface="Calibri"/>
                <a:ea typeface="Calibri"/>
                <a:cs typeface="Calibri"/>
                <a:sym typeface="Calibri"/>
              </a:rPr>
              <a:t>B · Cascade → counter</a:t>
            </a:r>
            <a:r>
              <a:rPr b="0" i="0" lang="en-US" sz="12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  — Southwark 003 · Islington 008 · Wandsworth 035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07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APPENDIX · ALLUVIAL PLOTS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502920" y="53035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B2724"/>
                </a:solidFill>
                <a:latin typeface="Cambria"/>
                <a:ea typeface="Cambria"/>
                <a:cs typeface="Cambria"/>
                <a:sym typeface="Cambria"/>
              </a:rPr>
              <a:t>Case flows C &amp; 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11503152" y="64008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AC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5ACA4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_alluvial_case_C_ladder_artefact.png" id="417" name="Google Shape;4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28800"/>
            <a:ext cx="5362956" cy="315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_alluvial_case_D_exodus_external.png" id="418" name="Google Shape;4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5916" y="1828800"/>
            <a:ext cx="5362956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7"/>
          <p:cNvSpPr/>
          <p:nvPr/>
        </p:nvSpPr>
        <p:spPr>
          <a:xfrm>
            <a:off x="502920" y="5166360"/>
            <a:ext cx="53629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370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3708"/>
                </a:solidFill>
                <a:latin typeface="Calibri"/>
                <a:ea typeface="Calibri"/>
                <a:cs typeface="Calibri"/>
                <a:sym typeface="Calibri"/>
              </a:rPr>
              <a:t>C · Ladder artefact (outflow-internal)</a:t>
            </a:r>
            <a:r>
              <a:rPr b="0" i="0" lang="en-US" sz="12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  — Harrow 008 · Harrow 029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6185916" y="5166360"/>
            <a:ext cx="53629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2F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2F24"/>
                </a:solidFill>
                <a:latin typeface="Calibri"/>
                <a:ea typeface="Calibri"/>
                <a:cs typeface="Calibri"/>
                <a:sym typeface="Calibri"/>
              </a:rPr>
              <a:t>D · Literal exodus (outflow-external)</a:t>
            </a:r>
            <a:r>
              <a:rPr b="0" i="0" lang="en-US" sz="1200" u="none" cap="none" strike="noStrike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  — Kingston 019 · Croydon 044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