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[30s] The classic theory says gentrification IS a flow phenomenon — a cascade of moves down the deprivation hierarchy. I take that seriously: I adopt the cascade as a candidate flow-based definition of gentrification, measure it across London between the 2011 and 2021 censuses, and test whether it recovers what attribute-based methods call gentrification. It doesn't — and what survives the test is a sharper, conditional definition. That's the arc of the talk.</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[60s] The intuition is old and respectable — Marcuse's chain displacement: gentrification radiates outward as a chain of moves. If that theory is right, the cascade IS a definition of gentrification. But it has only ever been assumed, never tested at whole-city scale with open flow data — and the few direct mover-level tests find the cascade weak or mixed. So I don't assert the definition; I adopt it as a candidate and test it: does the cascade recover attribute-defined gentrification? One caveat up front: I measure area-to-area flows — 'from a wealthier area' is not 'a wealthier person'.</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[45s] The one design choice everything rests on: the deprivation ruler is held still at 2010 for both census years. </a:t>
            </a:r>
            <a:endParaRPr/>
          </a:p>
          <a:p>
            <a:pPr indent="0" lvl="0" marL="0" rtl="0" algn="l">
              <a:spcBef>
                <a:spcPts val="0"/>
              </a:spcBef>
              <a:spcAft>
                <a:spcPts val="0"/>
              </a:spcAft>
              <a:buClr>
                <a:schemeClr val="dk1"/>
              </a:buClr>
              <a:buFont typeface="Arial"/>
              <a:buNone/>
            </a:pPr>
            <a:r>
              <a:rPr lang="en-US"/>
              <a:t>Two reasons: 1) change between censuses is then attributable to movement, not re-ranking; and 2) IMD 2019 stays entirely on the outcome side, so the later validation is non-circular by construction. </a:t>
            </a:r>
            <a:endParaRPr/>
          </a:p>
          <a:p>
            <a:pPr indent="0" lvl="0" marL="0" rtl="0" algn="l">
              <a:spcBef>
                <a:spcPts val="0"/>
              </a:spcBef>
              <a:spcAft>
                <a:spcPts val="0"/>
              </a:spcAft>
              <a:buClr>
                <a:schemeClr val="dk1"/>
              </a:buClr>
              <a:buFont typeface="Arial"/>
              <a:buNone/>
            </a:pPr>
            <a:r>
              <a:rPr lang="en-US"/>
              <a:t>I deliberately accept a stale ladder to avoid a bigger problem: circularly redefining neighbourhood status while measuring movement.</a:t>
            </a:r>
            <a:endParaRPr/>
          </a:p>
          <a:p>
            <a:pPr indent="0" lvl="0" marL="0" rtl="0" algn="l">
              <a:spcBef>
                <a:spcPts val="0"/>
              </a:spcBef>
              <a:spcAft>
                <a:spcPts val="0"/>
              </a:spcAft>
              <a:buClr>
                <a:schemeClr val="dk1"/>
              </a:buClr>
              <a:buFont typeface="Arial"/>
              <a:buNone/>
            </a:pPr>
            <a:r>
              <a:rPr lang="en-US"/>
              <a:t>Units: 982 MSOAs, with Camden 024/025 merged to match 2021.</a:t>
            </a:r>
            <a:endParaRPr/>
          </a:p>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094507075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3f094507075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[45s] Here is the ladder from the last slide, with the moves drawn on it. Take a focal area — decile 4. Every move that crosses the hierarchy is one of four elementary flows. On the left, the cascade pair: inflow-from-wealthier arriving from any less-deprived decile, and outflow-to-poorer leaving to any more-deprived decile — wealthier in, poorer out-and-down, the classic chain's signature. On the right, the mirror pair: outflow-to-wealthier and inflow-from-poorer — the counter direction. Lateral moves within the same decile cross no hierarchy, so they sit outside both pairs for now — they come back in the typology. And again: these are area-to-area flows, not individual movers.</a:t>
            </a:r>
            <a:endParaRPr/>
          </a:p>
        </p:txBody>
      </p:sp>
      <p:sp>
        <p:nvSpPr>
          <p:cNvPr id="76" name="Google Shape;76;g3f094507075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[45s] this typology is the first and the MAIN classifier; everything else in the methodology supports or diagnoses it. </a:t>
            </a:r>
            <a:endParaRPr/>
          </a:p>
          <a:p>
            <a:pPr indent="0" lvl="0" marL="0" rtl="0" algn="l">
              <a:spcBef>
                <a:spcPts val="0"/>
              </a:spcBef>
              <a:spcAft>
                <a:spcPts val="0"/>
              </a:spcAft>
              <a:buNone/>
            </a:pPr>
            <a:r>
              <a:rPr lang="en-US"/>
              <a:t>Churn adds the flows in each direction, following Dennett &amp; Stillwell. </a:t>
            </a:r>
            <a:endParaRPr/>
          </a:p>
          <a:p>
            <a:pPr indent="0" lvl="0" marL="0" rtl="0" algn="l">
              <a:spcBef>
                <a:spcPts val="0"/>
              </a:spcBef>
              <a:spcAft>
                <a:spcPts val="0"/>
              </a:spcAft>
              <a:buNone/>
            </a:pPr>
            <a:r>
              <a:rPr lang="en-US"/>
              <a:t>Two axes classify each area: </a:t>
            </a:r>
            <a:endParaRPr/>
          </a:p>
          <a:p>
            <a:pPr indent="457200" lvl="0" marL="0" rtl="0" algn="l">
              <a:spcBef>
                <a:spcPts val="0"/>
              </a:spcBef>
              <a:spcAft>
                <a:spcPts val="0"/>
              </a:spcAft>
              <a:buNone/>
            </a:pPr>
            <a:r>
              <a:rPr lang="en-US"/>
              <a:t>cascade dominance — cascade churn as a share of all cross-decile churn, so 0.5 means perfectly balanced </a:t>
            </a:r>
            <a:endParaRPr/>
          </a:p>
          <a:p>
            <a:pPr indent="457200" lvl="0" marL="0" rtl="0" algn="l">
              <a:spcBef>
                <a:spcPts val="0"/>
              </a:spcBef>
              <a:spcAft>
                <a:spcPts val="0"/>
              </a:spcAft>
              <a:buNone/>
            </a:pPr>
            <a:r>
              <a:rPr lang="en-US"/>
              <a:t>and cross-decile share — how much of total turnover engages the ladder at all, with lateral moves kept in the denominator. </a:t>
            </a:r>
            <a:endParaRPr/>
          </a:p>
          <a:p>
            <a:pPr indent="0" lvl="0" marL="0" rtl="0" algn="l">
              <a:spcBef>
                <a:spcPts val="0"/>
              </a:spcBef>
              <a:spcAft>
                <a:spcPts val="0"/>
              </a:spcAft>
              <a:buNone/>
            </a:pPr>
            <a:r>
              <a:rPr lang="en-US"/>
              <a:t>Together they give four regimes, and cascade-led is the candidate definition made operational: that is the type the validation tests. The sign matrix on the next slide is a secondary diagnostic.</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09450707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f09450707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[40s] </a:t>
            </a:r>
            <a:r>
              <a:rPr lang="en-US"/>
              <a:t>this one is a SECONDARY diagnostic, genuinely different from the previous one. The churn typology answers the research question; this matrix helps to </a:t>
            </a:r>
            <a:r>
              <a:rPr lang="en-US"/>
              <a:t>understand</a:t>
            </a:r>
            <a:r>
              <a:rPr lang="en-US"/>
              <a:t> the balance between flows in 2 opposite directions.</a:t>
            </a:r>
            <a:endParaRPr/>
          </a:p>
          <a:p>
            <a:pPr indent="0" lvl="0" marL="0" rtl="0" algn="l">
              <a:spcBef>
                <a:spcPts val="0"/>
              </a:spcBef>
              <a:spcAft>
                <a:spcPts val="0"/>
              </a:spcAft>
              <a:buNone/>
            </a:pPr>
            <a:r>
              <a:rPr lang="en-US"/>
              <a:t>Net flows subtract: which way does the area sort on balance? Two signs give four regimes. </a:t>
            </a:r>
            <a:endParaRPr/>
          </a:p>
          <a:p>
            <a:pPr indent="0" lvl="0" marL="0" rtl="0" algn="l">
              <a:spcBef>
                <a:spcPts val="0"/>
              </a:spcBef>
              <a:spcAft>
                <a:spcPts val="0"/>
              </a:spcAft>
              <a:buNone/>
            </a:pPr>
            <a:r>
              <a:rPr lang="en-US"/>
              <a:t>Diagonal cells are concordant — upward-connected hubs or downward-connected hubs. </a:t>
            </a:r>
            <a:endParaRPr/>
          </a:p>
          <a:p>
            <a:pPr indent="0" lvl="0" marL="0" rtl="0" algn="l">
              <a:spcBef>
                <a:spcPts val="0"/>
              </a:spcBef>
              <a:spcAft>
                <a:spcPts val="0"/>
              </a:spcAft>
              <a:buNone/>
            </a:pPr>
            <a:r>
              <a:rPr lang="en-US"/>
              <a:t>Off-diagonal cells are divergent — a net receiver gains from both directions; a net exporter loses in both. </a:t>
            </a:r>
            <a:endParaRPr/>
          </a:p>
        </p:txBody>
      </p:sp>
      <p:sp>
        <p:nvSpPr>
          <p:cNvPr id="118" name="Google Shape;118;g3f09450707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[45s] A naive London-vs-national comparison confounds two things: changing the ruler and adding external moves. </a:t>
            </a:r>
            <a:endParaRPr/>
          </a:p>
          <a:p>
            <a:pPr indent="0" lvl="0" marL="0" rtl="0" algn="l">
              <a:spcBef>
                <a:spcPts val="0"/>
              </a:spcBef>
              <a:spcAft>
                <a:spcPts val="0"/>
              </a:spcAft>
              <a:buClr>
                <a:schemeClr val="dk1"/>
              </a:buClr>
              <a:buFont typeface="Arial"/>
              <a:buNone/>
            </a:pPr>
            <a:r>
              <a:rPr lang="en-US"/>
              <a:t>The three-frame design separates them — B minus A is pure re-ranking, C minus B is pure external flows. </a:t>
            </a:r>
            <a:endParaRPr/>
          </a:p>
          <a:p>
            <a:pPr indent="0" lvl="0" marL="0" rtl="0" algn="l">
              <a:spcBef>
                <a:spcPts val="0"/>
              </a:spcBef>
              <a:spcAft>
                <a:spcPts val="0"/>
              </a:spcAft>
              <a:buClr>
                <a:schemeClr val="dk1"/>
              </a:buClr>
              <a:buFont typeface="Arial"/>
              <a:buNone/>
            </a:pPr>
            <a:r>
              <a:rPr lang="en-US"/>
              <a:t>And because 69% of London sits below national decile 6, the national ladder squashes most of London into one band </a:t>
            </a:r>
            <a:endParaRPr/>
          </a:p>
          <a:p>
            <a:pPr indent="0" lvl="0" marL="0" rtl="0" algn="l">
              <a:spcBef>
                <a:spcPts val="0"/>
              </a:spcBef>
              <a:spcAft>
                <a:spcPts val="0"/>
              </a:spcAft>
              <a:buClr>
                <a:schemeClr val="dk1"/>
              </a:buClr>
              <a:buFont typeface="Arial"/>
              <a:buNone/>
            </a:pPr>
            <a:r>
              <a:rPr lang="en-US"/>
              <a:t>so if we want to explore more details in those more deprived London MSOAs, London-only Frame A stays the core lens, with C as complementary context. </a:t>
            </a:r>
            <a:endParaRPr/>
          </a:p>
          <a:p>
            <a:pPr indent="0" lvl="0" marL="0" rtl="0" algn="l">
              <a:spcBef>
                <a:spcPts val="0"/>
              </a:spcBef>
              <a:spcAft>
                <a:spcPts val="0"/>
              </a:spcAft>
              <a:buClr>
                <a:schemeClr val="dk1"/>
              </a:buClr>
              <a:buFont typeface="Arial"/>
              <a:buNone/>
            </a:pPr>
            <a:r>
              <a:rPr lang="en-US"/>
              <a:t>The one big 2021 change in the external channel is the surge of London-to-outside moves — remember that.</a:t>
            </a:r>
            <a:endParaRPr/>
          </a:p>
          <a:p>
            <a:pPr indent="0" lvl="0" marL="0" rtl="0" algn="l">
              <a:spcBef>
                <a:spcPts val="0"/>
              </a:spcBef>
              <a:spcAft>
                <a:spcPts val="0"/>
              </a:spcAft>
              <a:buNone/>
            </a:pPr>
            <a:r>
              <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[35s] The validation logic: if cascade really equals gentrification, three independently built yardsticks should agree with the typology. The outcome check — did deprivation actually improve, 2010 to 2019. The attribute check — Yee &amp; Dennett's classification. The composition check — occupational ascent in SOC 1–3, replacing the non-comparable NS-SeC. Three instruments, one hypothesis. The next two slides are what happens when you check.</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[75s] The centrepiece. Of the areas either method flags as its version of gentrification, only 16 agree; 25 are attribute-only, 197 are flow-only. </a:t>
            </a:r>
            <a:endParaRPr/>
          </a:p>
          <a:p>
            <a:pPr indent="0" lvl="0" marL="0" rtl="0" algn="l">
              <a:spcBef>
                <a:spcPts val="0"/>
              </a:spcBef>
              <a:spcAft>
                <a:spcPts val="0"/>
              </a:spcAft>
              <a:buClr>
                <a:schemeClr val="dk1"/>
              </a:buClr>
              <a:buFont typeface="Arial"/>
              <a:buNone/>
            </a:pPr>
            <a:r>
              <a:rPr lang="en-US"/>
              <a:t>The IMD kicker: Yee's attribute-gentrifying areas improve on deprivation — but adding a cascade signal on top weakens the gain, so cascade is not the engine of measured gentrification. </a:t>
            </a:r>
            <a:endParaRPr/>
          </a:p>
          <a:p>
            <a:pPr indent="0" lvl="0" marL="0" rtl="0" algn="l">
              <a:spcBef>
                <a:spcPts val="0"/>
              </a:spcBef>
              <a:spcAft>
                <a:spcPts val="0"/>
              </a:spcAft>
              <a:buClr>
                <a:schemeClr val="dk1"/>
              </a:buClr>
              <a:buFont typeface="Arial"/>
              <a:buNone/>
            </a:pPr>
            <a:r>
              <a:rPr lang="en-US"/>
              <a:t>And the twist: the flow method's own deprivation signal lives in the counter direction, and the only place the methods agree is classic 2011 inner-London gentrification. Occupational ascent tells the same story.</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(Spearman rho of +0.02, fully independent).</a:t>
            </a:r>
            <a:endParaRPr/>
          </a:p>
          <a:p>
            <a:pPr indent="0" lvl="0" marL="0" rtl="0" algn="l">
              <a:spcBef>
                <a:spcPts val="0"/>
              </a:spcBef>
              <a:spcAft>
                <a:spcPts val="0"/>
              </a:spcAft>
              <a:buNone/>
            </a:pPr>
            <a:r>
              <a:t/>
            </a:r>
            <a:endParaRPr/>
          </a:p>
        </p:txBody>
      </p:sp>
      <p:sp>
        <p:nvSpPr>
          <p:cNvPr id="201" name="Google Shape;2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094507075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f094507075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[75s] </a:t>
            </a:r>
            <a:endParaRPr/>
          </a:p>
          <a:p>
            <a:pPr indent="0" lvl="0" marL="0" rtl="0" algn="l">
              <a:spcBef>
                <a:spcPts val="0"/>
              </a:spcBef>
              <a:spcAft>
                <a:spcPts val="0"/>
              </a:spcAft>
              <a:buClr>
                <a:schemeClr val="dk1"/>
              </a:buClr>
              <a:buFont typeface="Arial"/>
              <a:buNone/>
            </a:pPr>
            <a:r>
              <a:rPr lang="en-US"/>
              <a:t>The temporal reason the equivalence fails. </a:t>
            </a:r>
            <a:endParaRPr/>
          </a:p>
          <a:p>
            <a:pPr indent="0" lvl="0" marL="0" rtl="0" algn="l">
              <a:spcBef>
                <a:spcPts val="0"/>
              </a:spcBef>
              <a:spcAft>
                <a:spcPts val="0"/>
              </a:spcAft>
              <a:buClr>
                <a:schemeClr val="dk1"/>
              </a:buClr>
              <a:buFont typeface="Arial"/>
              <a:buNone/>
            </a:pPr>
            <a:r>
              <a:rPr lang="en-US"/>
              <a:t>On the map: in 2011 the cascade-extreme tail is inner — Camden, Southwark, Islington, Tower Hamlets. By 2021 it flips to outer high-decile boroughs — Kingston, Harrow, Richmond, Barnet, Sutton — with almost no persistence. </a:t>
            </a:r>
            <a:endParaRPr/>
          </a:p>
          <a:p>
            <a:pPr indent="0" lvl="0" marL="0" rtl="0" algn="l">
              <a:spcBef>
                <a:spcPts val="0"/>
              </a:spcBef>
              <a:spcAft>
                <a:spcPts val="0"/>
              </a:spcAft>
              <a:buNone/>
            </a:pPr>
            <a:r>
              <a:rPr lang="en-US"/>
              <a:t>Why? Cascade churn is an addition, so The same cascade number is produced by opposite processes: in 2011 people arrive from wealthier areas; in 2021 people leave for cheaper places outside London. In </a:t>
            </a:r>
            <a:r>
              <a:rPr lang="en-US"/>
              <a:t>Harrow, the cascade is 99 percent outflow by 2021. </a:t>
            </a:r>
            <a:endParaRPr/>
          </a:p>
          <a:p>
            <a:pPr indent="0" lvl="0" marL="0" rtl="0" algn="l">
              <a:spcBef>
                <a:spcPts val="0"/>
              </a:spcBef>
              <a:spcAft>
                <a:spcPts val="0"/>
              </a:spcAft>
              <a:buClr>
                <a:schemeClr val="dk1"/>
              </a:buClr>
              <a:buFont typeface="Arial"/>
              <a:buNone/>
            </a:pPr>
            <a:r>
              <a:rPr lang="en-US"/>
              <a:t>That's affluent residents leaving for cheaper places outside London: </a:t>
            </a:r>
            <a:endParaRPr/>
          </a:p>
          <a:p>
            <a:pPr indent="0" lvl="0" marL="0" rtl="0" algn="l">
              <a:spcBef>
                <a:spcPts val="0"/>
              </a:spcBef>
              <a:spcAft>
                <a:spcPts val="0"/>
              </a:spcAft>
              <a:buClr>
                <a:schemeClr val="dk1"/>
              </a:buClr>
              <a:buFont typeface="Arial"/>
              <a:buNone/>
            </a:pPr>
            <a:r>
              <a:rPr lang="en-US"/>
              <a:t>Considering COVID, we assume this is more likely the pandemic exodus, not gentrification relocating outward. Specifically, External outflow up 51 percent, net exporters more than doubled, 85 percent of 2021 cascade-led areas are outer London.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the same headline number can come from opposite arms. In 2011 the extremes are the inflow arm: 40 to 93 percent of cascade churn is people arriving from wealthier areas — genuine affluent in-migration. In 2021 the outer extremes are the outflow arm: inflow share collapses to 1–35 percent — Harrow's cascade is 99 percent outflow. </a:t>
            </a:r>
            <a:endParaRPr/>
          </a:p>
          <a:p>
            <a:pPr indent="0" lvl="0" marL="0" rtl="0" algn="l">
              <a:spcBef>
                <a:spcPts val="0"/>
              </a:spcBef>
              <a:spcAft>
                <a:spcPts val="0"/>
              </a:spcAft>
              <a:buClr>
                <a:schemeClr val="dk1"/>
              </a:buClr>
              <a:buFont typeface="Arial"/>
              <a:buNone/>
            </a:pPr>
            <a:r>
              <a:rPr lang="en-US"/>
              <a:t>Caveat: the lockdown census both caused this and degraded measurement.</a:t>
            </a:r>
            <a:endParaRPr/>
          </a:p>
          <a:p>
            <a:pPr indent="0" lvl="0" marL="0" rtl="0" algn="l">
              <a:spcBef>
                <a:spcPts val="0"/>
              </a:spcBef>
              <a:spcAft>
                <a:spcPts val="0"/>
              </a:spcAft>
              <a:buNone/>
            </a:pPr>
            <a:r>
              <a:t/>
            </a:r>
            <a:endParaRPr/>
          </a:p>
        </p:txBody>
      </p:sp>
      <p:sp>
        <p:nvSpPr>
          <p:cNvPr id="222" name="Google Shape;222;g3f094507075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[50s] So back to the title: does a flow-based definition of gentrification hold? </a:t>
            </a:r>
            <a:endParaRPr/>
          </a:p>
          <a:p>
            <a:pPr indent="0" lvl="0" marL="0" rtl="0" algn="l">
              <a:spcBef>
                <a:spcPts val="0"/>
              </a:spcBef>
              <a:spcAft>
                <a:spcPts val="0"/>
              </a:spcAft>
              <a:buNone/>
            </a:pPr>
            <a:r>
              <a:rPr lang="en-US"/>
              <a:t>As an equivalence — cascade equals gentrification — no, for two reasons: 1) flows and attributes measure different processes, and 2) 2021 shows the same cascade number can be produced by an exodus. </a:t>
            </a:r>
            <a:endParaRPr/>
          </a:p>
          <a:p>
            <a:pPr indent="0" lvl="0" marL="0" rtl="0" algn="l">
              <a:spcBef>
                <a:spcPts val="0"/>
              </a:spcBef>
              <a:spcAft>
                <a:spcPts val="0"/>
              </a:spcAft>
              <a:buNone/>
            </a:pPr>
            <a:r>
              <a:rPr lang="en-US"/>
              <a:t>But the test doesn't just negate; it sharpens. Where the methods DO agree — persistent, inflow-led cascade plus attribute ascent, inner London 2011 — is a defensible conditional definition: </a:t>
            </a:r>
            <a:endParaRPr/>
          </a:p>
          <a:p>
            <a:pPr indent="457200" lvl="0" marL="0" rtl="0" algn="l">
              <a:spcBef>
                <a:spcPts val="0"/>
              </a:spcBef>
              <a:spcAft>
                <a:spcPts val="0"/>
              </a:spcAft>
              <a:buNone/>
            </a:pPr>
            <a:r>
              <a:rPr lang="en-US"/>
              <a:t>raw churn is not enough, the direction, the arm, and persistence all have to be specified. </a:t>
            </a:r>
            <a:endParaRPr/>
          </a:p>
          <a:p>
            <a:pPr indent="0" lvl="0" marL="0" rtl="0" algn="l">
              <a:spcBef>
                <a:spcPts val="0"/>
              </a:spcBef>
              <a:spcAft>
                <a:spcPts val="0"/>
              </a:spcAft>
              <a:buNone/>
            </a:pPr>
            <a:r>
              <a:rPr lang="en-US"/>
              <a:t>With only 16 convergent areas I offer it as a candidate signature for future testing, not a validated definition. </a:t>
            </a:r>
            <a:endParaRPr/>
          </a:p>
          <a:p>
            <a:pPr indent="0" lvl="0" marL="0" rtl="0" algn="l">
              <a:spcBef>
                <a:spcPts val="0"/>
              </a:spcBef>
              <a:spcAft>
                <a:spcPts val="0"/>
              </a:spcAft>
              <a:buNone/>
            </a:pPr>
            <a:r>
              <a:rPr lang="en-US"/>
              <a:t>Broadly,  the flow lens measures restructuring; gentrification is one signature within it.</a:t>
            </a:r>
            <a:endParaRPr/>
          </a:p>
        </p:txBody>
      </p:sp>
      <p:sp>
        <p:nvSpPr>
          <p:cNvPr id="243" name="Google Shape;24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[35s] Three contributions. </a:t>
            </a:r>
            <a:endParaRPr/>
          </a:p>
          <a:p>
            <a:pPr indent="0" lvl="0" marL="0" rtl="0" algn="l">
              <a:spcBef>
                <a:spcPts val="0"/>
              </a:spcBef>
              <a:spcAft>
                <a:spcPts val="0"/>
              </a:spcAft>
              <a:buNone/>
            </a:pPr>
            <a:r>
              <a:rPr lang="en-US"/>
              <a:t>1. </a:t>
            </a:r>
            <a:r>
              <a:rPr lang="en-US"/>
              <a:t>method: an open-data, reproducible, whole-city flow lens on gentrification. </a:t>
            </a:r>
            <a:endParaRPr/>
          </a:p>
          <a:p>
            <a:pPr indent="0" lvl="0" marL="0" rtl="0" algn="l">
              <a:spcBef>
                <a:spcPts val="0"/>
              </a:spcBef>
              <a:spcAft>
                <a:spcPts val="0"/>
              </a:spcAft>
              <a:buNone/>
            </a:pPr>
            <a:r>
              <a:rPr lang="en-US"/>
              <a:t>2. </a:t>
            </a:r>
            <a:r>
              <a:rPr lang="en-US"/>
              <a:t>substance: the divergence between the two methods is itself the finding, those disagreement areas are what attribute methods can't see, and the decoupling converges with the best recent micro-data work.</a:t>
            </a:r>
            <a:endParaRPr/>
          </a:p>
          <a:p>
            <a:pPr indent="0" lvl="0" marL="0" rtl="0" algn="l">
              <a:spcBef>
                <a:spcPts val="0"/>
              </a:spcBef>
              <a:spcAft>
                <a:spcPts val="0"/>
              </a:spcAft>
              <a:buNone/>
            </a:pPr>
            <a:r>
              <a:rPr lang="en-US"/>
              <a:t>3. design: the three-frame decomposition pre-empts the obvious objections by attributing every change to re-ranking or external flows. </a:t>
            </a:r>
            <a:endParaRPr/>
          </a:p>
        </p:txBody>
      </p:sp>
      <p:sp>
        <p:nvSpPr>
          <p:cNvPr id="264" name="Google Shape;2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[35s] Stated plainly so they don't come back as objections. The big one — the ecological limit — actually explains the decoupling: area origin is a noisy proxy for mover wealth, so flows and attributes needn't align. Then the temporal mismatch, the stale 2010 ladder, and lockdown measurement degradation. Next step for results and discussion: characterise the divergence cells spatially and deepen the case studies.</a:t>
            </a:r>
            <a:endParaRPr/>
          </a:p>
        </p:txBody>
      </p:sp>
      <p:sp>
        <p:nvSpPr>
          <p:cNvPr id="284" name="Google Shape;28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[10s] Thanks — happy to take questions. (Total target: ~9.5 minutes.)</a:t>
            </a:r>
            <a:endParaRPr/>
          </a:p>
        </p:txBody>
      </p:sp>
      <p:sp>
        <p:nvSpPr>
          <p:cNvPr id="300" name="Google Shape;30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15" name="Shape 15"/>
        <p:cNvGrpSpPr/>
        <p:nvPr/>
      </p:nvGrpSpPr>
      <p:grpSpPr>
        <a:xfrm>
          <a:off x="0" y="0"/>
          <a:ext cx="0" cy="0"/>
          <a:chOff x="0" y="0"/>
          <a:chExt cx="0" cy="0"/>
        </a:xfrm>
      </p:grpSpPr>
      <p:sp>
        <p:nvSpPr>
          <p:cNvPr id="16" name="Google Shape;16;p3"/>
          <p:cNvSpPr/>
          <p:nvPr/>
        </p:nvSpPr>
        <p:spPr>
          <a:xfrm>
            <a:off x="640080" y="685800"/>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MSc DISSERTATION  ·  CASA, UCL</a:t>
            </a:r>
            <a:endParaRPr b="0" i="0" sz="1100" u="none" cap="none" strike="noStrike">
              <a:solidFill>
                <a:schemeClr val="dk1"/>
              </a:solidFill>
              <a:latin typeface="Calibri"/>
              <a:ea typeface="Calibri"/>
              <a:cs typeface="Calibri"/>
              <a:sym typeface="Calibri"/>
            </a:endParaRPr>
          </a:p>
        </p:txBody>
      </p:sp>
      <p:sp>
        <p:nvSpPr>
          <p:cNvPr id="17" name="Google Shape;17;p3"/>
          <p:cNvSpPr/>
          <p:nvPr/>
        </p:nvSpPr>
        <p:spPr>
          <a:xfrm>
            <a:off x="621792" y="1234440"/>
            <a:ext cx="7955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Testing a Flow-Based Definition of Gentrification</a:t>
            </a:r>
            <a:endParaRPr b="0" i="0" sz="3400" u="none" cap="none" strike="noStrike">
              <a:solidFill>
                <a:schemeClr val="dk1"/>
              </a:solidFill>
              <a:latin typeface="Calibri"/>
              <a:ea typeface="Calibri"/>
              <a:cs typeface="Calibri"/>
              <a:sym typeface="Calibri"/>
            </a:endParaRPr>
          </a:p>
        </p:txBody>
      </p:sp>
      <p:sp>
        <p:nvSpPr>
          <p:cNvPr id="18" name="Google Shape;18;p3"/>
          <p:cNvSpPr/>
          <p:nvPr/>
        </p:nvSpPr>
        <p:spPr>
          <a:xfrm>
            <a:off x="640080" y="2194560"/>
            <a:ext cx="7498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8D9"/>
              </a:buClr>
              <a:buSzPts val="1500"/>
              <a:buFont typeface="Calibri"/>
              <a:buNone/>
            </a:pPr>
            <a:r>
              <a:rPr b="0" i="0" lang="en-US" sz="1500" u="none" cap="none" strike="noStrike">
                <a:solidFill>
                  <a:srgbClr val="B9C8D9"/>
                </a:solidFill>
                <a:latin typeface="Calibri"/>
                <a:ea typeface="Calibri"/>
                <a:cs typeface="Calibri"/>
                <a:sym typeface="Calibri"/>
              </a:rPr>
              <a:t>Cascading flows in London, from Census origin–destination data, 2011–2021</a:t>
            </a:r>
            <a:endParaRPr b="0" i="0" sz="1500" u="none" cap="none" strike="noStrike">
              <a:solidFill>
                <a:schemeClr val="dk1"/>
              </a:solidFill>
              <a:latin typeface="Calibri"/>
              <a:ea typeface="Calibri"/>
              <a:cs typeface="Calibri"/>
              <a:sym typeface="Calibri"/>
            </a:endParaRPr>
          </a:p>
        </p:txBody>
      </p:sp>
      <p:sp>
        <p:nvSpPr>
          <p:cNvPr id="19" name="Google Shape;19;p3"/>
          <p:cNvSpPr/>
          <p:nvPr/>
        </p:nvSpPr>
        <p:spPr>
          <a:xfrm>
            <a:off x="640080" y="2971800"/>
            <a:ext cx="6858000" cy="658368"/>
          </a:xfrm>
          <a:prstGeom prst="roundRect">
            <a:avLst>
              <a:gd fmla="val 9722" name="adj"/>
            </a:avLst>
          </a:prstGeom>
          <a:solidFill>
            <a:srgbClr val="243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640080" y="420624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Yujing (Olivia) Xing</a:t>
            </a:r>
            <a:endParaRPr b="0" i="0" sz="1300" u="none" cap="none" strike="noStrike">
              <a:solidFill>
                <a:schemeClr val="dk1"/>
              </a:solidFill>
              <a:latin typeface="Calibri"/>
              <a:ea typeface="Calibri"/>
              <a:cs typeface="Calibri"/>
              <a:sym typeface="Calibri"/>
            </a:endParaRPr>
          </a:p>
        </p:txBody>
      </p:sp>
      <p:sp>
        <p:nvSpPr>
          <p:cNvPr id="21" name="Google Shape;21;p3"/>
          <p:cNvSpPr/>
          <p:nvPr/>
        </p:nvSpPr>
        <p:spPr>
          <a:xfrm>
            <a:off x="7818120" y="379476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5D39"/>
              </a:buClr>
              <a:buSzPts val="3400"/>
              <a:buFont typeface="Calibri"/>
              <a:buNone/>
            </a:pPr>
            <a:r>
              <a:rPr b="1" i="0" lang="en-US" sz="3400" u="none" cap="none" strike="noStrike">
                <a:solidFill>
                  <a:srgbClr val="D95D39"/>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22" name="Google Shape;22;p3"/>
          <p:cNvSpPr/>
          <p:nvPr/>
        </p:nvSpPr>
        <p:spPr>
          <a:xfrm>
            <a:off x="8275320" y="416052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E7CB1"/>
              </a:buClr>
              <a:buSzPts val="3400"/>
              <a:buFont typeface="Calibri"/>
              <a:buNone/>
            </a:pPr>
            <a:r>
              <a:rPr b="1" i="0" lang="en-US" sz="3400" u="none" cap="none" strike="noStrike">
                <a:solidFill>
                  <a:srgbClr val="3E7CB1"/>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23" name="Google Shape;23;p3"/>
          <p:cNvSpPr/>
          <p:nvPr/>
        </p:nvSpPr>
        <p:spPr>
          <a:xfrm>
            <a:off x="868680" y="2971800"/>
            <a:ext cx="64923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78E"/>
              </a:buClr>
              <a:buSzPts val="1550"/>
              <a:buFont typeface="Cambria"/>
              <a:buNone/>
            </a:pPr>
            <a:r>
              <a:rPr b="0" i="1" lang="en-US" sz="1550" u="none" cap="none" strike="noStrike">
                <a:solidFill>
                  <a:srgbClr val="F2A78E"/>
                </a:solidFill>
                <a:latin typeface="Cambria"/>
                <a:ea typeface="Cambria"/>
                <a:cs typeface="Cambria"/>
                <a:sym typeface="Cambria"/>
              </a:rPr>
              <a:t>Does tracking who moves recover what attribute methods call gentrification?</a:t>
            </a:r>
            <a:endParaRPr b="0" i="0" sz="155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4"/>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MOTIVATION</a:t>
            </a:r>
            <a:endParaRPr b="0" i="0" sz="1050" u="none" cap="none" strike="noStrike">
              <a:solidFill>
                <a:schemeClr val="dk1"/>
              </a:solidFill>
              <a:latin typeface="Calibri"/>
              <a:ea typeface="Calibri"/>
              <a:cs typeface="Calibri"/>
              <a:sym typeface="Calibri"/>
            </a:endParaRPr>
          </a:p>
        </p:txBody>
      </p:sp>
      <p:sp>
        <p:nvSpPr>
          <p:cNvPr id="30" name="Google Shape;30;p4"/>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Why follow the movers?</a:t>
            </a:r>
            <a:endParaRPr b="0" i="0" sz="2600" u="none" cap="none" strike="noStrike">
              <a:solidFill>
                <a:schemeClr val="dk1"/>
              </a:solidFill>
              <a:latin typeface="Calibri"/>
              <a:ea typeface="Calibri"/>
              <a:cs typeface="Calibri"/>
              <a:sym typeface="Calibri"/>
            </a:endParaRPr>
          </a:p>
        </p:txBody>
      </p:sp>
      <p:sp>
        <p:nvSpPr>
          <p:cNvPr id="31" name="Google Shape;31;p4"/>
          <p:cNvSpPr/>
          <p:nvPr/>
        </p:nvSpPr>
        <p:spPr>
          <a:xfrm>
            <a:off x="475488" y="1115568"/>
            <a:ext cx="8193024" cy="512064"/>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685800" y="1115568"/>
            <a:ext cx="7781544"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Why measure gentrification through moves, rather than who lives there?</a:t>
            </a:r>
            <a:endParaRPr b="0" i="0" sz="1200" u="none" cap="none" strike="noStrike">
              <a:solidFill>
                <a:schemeClr val="dk1"/>
              </a:solidFill>
              <a:latin typeface="Calibri"/>
              <a:ea typeface="Calibri"/>
              <a:cs typeface="Calibri"/>
              <a:sym typeface="Calibri"/>
            </a:endParaRPr>
          </a:p>
        </p:txBody>
      </p:sp>
      <p:sp>
        <p:nvSpPr>
          <p:cNvPr id="33" name="Google Shape;33;p4"/>
          <p:cNvSpPr/>
          <p:nvPr/>
        </p:nvSpPr>
        <p:spPr>
          <a:xfrm>
            <a:off x="566928" y="1920240"/>
            <a:ext cx="384048" cy="384048"/>
          </a:xfrm>
          <a:prstGeom prst="ellipse">
            <a:avLst/>
          </a:prstGeom>
          <a:solidFill>
            <a:srgbClr val="D95D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66928" y="19202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35" name="Google Shape;35;p4"/>
          <p:cNvSpPr/>
          <p:nvPr/>
        </p:nvSpPr>
        <p:spPr>
          <a:xfrm>
            <a:off x="1143000" y="1874520"/>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350"/>
              <a:buFont typeface="Calibri"/>
              <a:buNone/>
            </a:pPr>
            <a:r>
              <a:rPr b="1" i="0" lang="en-US" sz="1350" u="none" cap="none" strike="noStrike">
                <a:solidFill>
                  <a:srgbClr val="1C2B3A"/>
                </a:solidFill>
                <a:latin typeface="Calibri"/>
                <a:ea typeface="Calibri"/>
                <a:cs typeface="Calibri"/>
                <a:sym typeface="Calibri"/>
              </a:rPr>
              <a:t>The classic chain  —  </a:t>
            </a:r>
            <a:r>
              <a:rPr b="0" i="0" lang="en-US" sz="1350" u="none" cap="none" strike="noStrike">
                <a:solidFill>
                  <a:srgbClr val="68788A"/>
                </a:solidFill>
                <a:latin typeface="Calibri"/>
                <a:ea typeface="Calibri"/>
                <a:cs typeface="Calibri"/>
                <a:sym typeface="Calibri"/>
              </a:rPr>
              <a:t>Affluent residents move in; poorer residents are pushed down the </a:t>
            </a:r>
            <a:r>
              <a:rPr lang="en-US" sz="1350">
                <a:solidFill>
                  <a:srgbClr val="68788A"/>
                </a:solidFill>
                <a:latin typeface="Calibri"/>
                <a:ea typeface="Calibri"/>
                <a:cs typeface="Calibri"/>
                <a:sym typeface="Calibri"/>
              </a:rPr>
              <a:t>hierarchy</a:t>
            </a:r>
            <a:r>
              <a:rPr b="0" i="0" lang="en-US" sz="1350" u="none" cap="none" strike="noStrike">
                <a:solidFill>
                  <a:srgbClr val="68788A"/>
                </a:solidFill>
                <a:latin typeface="Calibri"/>
                <a:ea typeface="Calibri"/>
                <a:cs typeface="Calibri"/>
                <a:sym typeface="Calibri"/>
              </a:rPr>
              <a:t> (Marcuse</a:t>
            </a:r>
            <a:r>
              <a:rPr lang="en-US" sz="1350">
                <a:solidFill>
                  <a:srgbClr val="68788A"/>
                </a:solidFill>
                <a:latin typeface="Calibri"/>
                <a:ea typeface="Calibri"/>
                <a:cs typeface="Calibri"/>
                <a:sym typeface="Calibri"/>
              </a:rPr>
              <a:t> </a:t>
            </a:r>
            <a:r>
              <a:rPr b="0" i="0" lang="en-US" sz="1350" u="none" cap="none" strike="noStrike">
                <a:solidFill>
                  <a:srgbClr val="68788A"/>
                </a:solidFill>
                <a:latin typeface="Calibri"/>
                <a:ea typeface="Calibri"/>
                <a:cs typeface="Calibri"/>
                <a:sym typeface="Calibri"/>
              </a:rPr>
              <a:t>198</a:t>
            </a:r>
            <a:r>
              <a:rPr lang="en-US" sz="1350">
                <a:solidFill>
                  <a:srgbClr val="68788A"/>
                </a:solidFill>
                <a:latin typeface="Calibri"/>
                <a:ea typeface="Calibri"/>
                <a:cs typeface="Calibri"/>
                <a:sym typeface="Calibri"/>
              </a:rPr>
              <a:t>5</a:t>
            </a:r>
            <a:r>
              <a:rPr b="0" i="0" lang="en-US" sz="1350" u="none" cap="none" strike="noStrike">
                <a:solidFill>
                  <a:srgbClr val="68788A"/>
                </a:solidFill>
                <a:latin typeface="Calibri"/>
                <a:ea typeface="Calibri"/>
                <a:cs typeface="Calibri"/>
                <a:sym typeface="Calibri"/>
              </a:rPr>
              <a:t>).</a:t>
            </a:r>
            <a:endParaRPr b="0" i="0" sz="1350" u="none" cap="none" strike="noStrike">
              <a:solidFill>
                <a:schemeClr val="dk1"/>
              </a:solidFill>
              <a:latin typeface="Calibri"/>
              <a:ea typeface="Calibri"/>
              <a:cs typeface="Calibri"/>
              <a:sym typeface="Calibri"/>
            </a:endParaRPr>
          </a:p>
        </p:txBody>
      </p:sp>
      <p:sp>
        <p:nvSpPr>
          <p:cNvPr id="36" name="Google Shape;36;p4"/>
          <p:cNvSpPr/>
          <p:nvPr/>
        </p:nvSpPr>
        <p:spPr>
          <a:xfrm>
            <a:off x="566928" y="2633472"/>
            <a:ext cx="384048" cy="384048"/>
          </a:xfrm>
          <a:prstGeom prst="ellipse">
            <a:avLst/>
          </a:prstGeom>
          <a:solidFill>
            <a:srgbClr val="1C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566928" y="263347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38" name="Google Shape;38;p4"/>
          <p:cNvSpPr/>
          <p:nvPr/>
        </p:nvSpPr>
        <p:spPr>
          <a:xfrm>
            <a:off x="1143000" y="2587752"/>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350"/>
              <a:buFont typeface="Calibri"/>
              <a:buNone/>
            </a:pPr>
            <a:r>
              <a:rPr b="1" lang="en-US" sz="1350">
                <a:solidFill>
                  <a:srgbClr val="1C2B3A"/>
                </a:solidFill>
                <a:latin typeface="Calibri"/>
                <a:ea typeface="Calibri"/>
                <a:cs typeface="Calibri"/>
                <a:sym typeface="Calibri"/>
              </a:rPr>
              <a:t>Mechanism inferred, not observed</a:t>
            </a:r>
            <a:r>
              <a:rPr b="1" i="0" lang="en-US" sz="1350" u="none" cap="none" strike="noStrike">
                <a:solidFill>
                  <a:srgbClr val="1C2B3A"/>
                </a:solidFill>
                <a:latin typeface="Calibri"/>
                <a:ea typeface="Calibri"/>
                <a:cs typeface="Calibri"/>
                <a:sym typeface="Calibri"/>
              </a:rPr>
              <a:t>  —  </a:t>
            </a:r>
            <a:r>
              <a:rPr lang="en-US" sz="1350">
                <a:solidFill>
                  <a:srgbClr val="68788A"/>
                </a:solidFill>
                <a:latin typeface="Calibri"/>
                <a:ea typeface="Calibri"/>
                <a:cs typeface="Calibri"/>
                <a:sym typeface="Calibri"/>
              </a:rPr>
              <a:t>Most studies use neighbourhood attributes to infer the </a:t>
            </a:r>
            <a:r>
              <a:rPr lang="en-US" sz="1350">
                <a:solidFill>
                  <a:srgbClr val="68788A"/>
                </a:solidFill>
                <a:latin typeface="Calibri"/>
                <a:ea typeface="Calibri"/>
                <a:cs typeface="Calibri"/>
                <a:sym typeface="Calibri"/>
              </a:rPr>
              <a:t>cascade</a:t>
            </a:r>
            <a:r>
              <a:rPr lang="en-US" sz="1350">
                <a:solidFill>
                  <a:srgbClr val="68788A"/>
                </a:solidFill>
                <a:latin typeface="Calibri"/>
                <a:ea typeface="Calibri"/>
                <a:cs typeface="Calibri"/>
                <a:sym typeface="Calibri"/>
              </a:rPr>
              <a:t> process, rather than analysing origin-destination migration flows directly.</a:t>
            </a:r>
            <a:endParaRPr b="0" i="0" sz="1350" u="none" cap="none" strike="noStrike">
              <a:solidFill>
                <a:schemeClr val="dk1"/>
              </a:solidFill>
              <a:latin typeface="Calibri"/>
              <a:ea typeface="Calibri"/>
              <a:cs typeface="Calibri"/>
              <a:sym typeface="Calibri"/>
            </a:endParaRPr>
          </a:p>
        </p:txBody>
      </p:sp>
      <p:sp>
        <p:nvSpPr>
          <p:cNvPr id="39" name="Google Shape;39;p4"/>
          <p:cNvSpPr/>
          <p:nvPr/>
        </p:nvSpPr>
        <p:spPr>
          <a:xfrm>
            <a:off x="566928" y="3346704"/>
            <a:ext cx="384048" cy="384048"/>
          </a:xfrm>
          <a:prstGeom prst="ellipse">
            <a:avLst/>
          </a:prstGeom>
          <a:solidFill>
            <a:srgbClr val="3E7C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66928" y="334670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41" name="Google Shape;41;p4"/>
          <p:cNvSpPr/>
          <p:nvPr/>
        </p:nvSpPr>
        <p:spPr>
          <a:xfrm>
            <a:off x="1143000" y="3300984"/>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350"/>
              <a:buFont typeface="Calibri"/>
              <a:buNone/>
            </a:pPr>
            <a:r>
              <a:rPr b="1" i="0" lang="en-US" sz="1350" u="none" cap="none" strike="noStrike">
                <a:solidFill>
                  <a:srgbClr val="1C2B3A"/>
                </a:solidFill>
                <a:latin typeface="Calibri"/>
                <a:ea typeface="Calibri"/>
                <a:cs typeface="Calibri"/>
                <a:sym typeface="Calibri"/>
              </a:rPr>
              <a:t>Direct </a:t>
            </a:r>
            <a:r>
              <a:rPr b="1" lang="en-US" sz="1350">
                <a:solidFill>
                  <a:srgbClr val="1C2B3A"/>
                </a:solidFill>
                <a:latin typeface="Calibri"/>
                <a:ea typeface="Calibri"/>
                <a:cs typeface="Calibri"/>
                <a:sym typeface="Calibri"/>
              </a:rPr>
              <a:t>evidence is inconsistent</a:t>
            </a:r>
            <a:r>
              <a:rPr b="1" i="0" lang="en-US" sz="1350" u="none" cap="none" strike="noStrike">
                <a:solidFill>
                  <a:srgbClr val="1C2B3A"/>
                </a:solidFill>
                <a:latin typeface="Calibri"/>
                <a:ea typeface="Calibri"/>
                <a:cs typeface="Calibri"/>
                <a:sym typeface="Calibri"/>
              </a:rPr>
              <a:t>  —  </a:t>
            </a:r>
            <a:r>
              <a:rPr b="0" i="0" lang="en-US" sz="1350" u="none" cap="none" strike="noStrike">
                <a:solidFill>
                  <a:srgbClr val="68788A"/>
                </a:solidFill>
                <a:latin typeface="Calibri"/>
                <a:ea typeface="Calibri"/>
                <a:cs typeface="Calibri"/>
                <a:sym typeface="Calibri"/>
              </a:rPr>
              <a:t>Mover-level studies </a:t>
            </a:r>
            <a:r>
              <a:rPr lang="en-US" sz="1350">
                <a:solidFill>
                  <a:srgbClr val="68788A"/>
                </a:solidFill>
                <a:latin typeface="Calibri"/>
                <a:ea typeface="Calibri"/>
                <a:cs typeface="Calibri"/>
                <a:sym typeface="Calibri"/>
              </a:rPr>
              <a:t>do not consistently support a strong downward cascade mechanism (Freeman et al. 2024; Ding et al. 2016).</a:t>
            </a:r>
            <a:endParaRPr b="0" i="0" sz="1350" u="none" cap="none" strike="noStrike">
              <a:solidFill>
                <a:schemeClr val="dk1"/>
              </a:solidFill>
              <a:latin typeface="Calibri"/>
              <a:ea typeface="Calibri"/>
              <a:cs typeface="Calibri"/>
              <a:sym typeface="Calibri"/>
            </a:endParaRPr>
          </a:p>
        </p:txBody>
      </p:sp>
      <p:sp>
        <p:nvSpPr>
          <p:cNvPr id="42" name="Google Shape;42;p4"/>
          <p:cNvSpPr/>
          <p:nvPr/>
        </p:nvSpPr>
        <p:spPr>
          <a:xfrm>
            <a:off x="220275" y="4014200"/>
            <a:ext cx="8603700" cy="777000"/>
          </a:xfrm>
          <a:prstGeom prst="roundRect">
            <a:avLst>
              <a:gd fmla="val 9677" name="adj"/>
            </a:avLst>
          </a:prstGeom>
          <a:solidFill>
            <a:srgbClr val="FBE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268020" y="4083428"/>
            <a:ext cx="8603700" cy="59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100"/>
              <a:buFont typeface="Calibri"/>
              <a:buNone/>
            </a:pPr>
            <a:r>
              <a:rPr b="1" i="0" lang="en-US" sz="1200" u="none" cap="none" strike="noStrike">
                <a:solidFill>
                  <a:srgbClr val="D95D39"/>
                </a:solidFill>
                <a:latin typeface="Calibri"/>
                <a:ea typeface="Calibri"/>
                <a:cs typeface="Calibri"/>
                <a:sym typeface="Calibri"/>
              </a:rPr>
              <a:t>THE TEST   </a:t>
            </a:r>
            <a:endParaRPr b="1" i="0" sz="1200" u="none" cap="none" strike="noStrike">
              <a:solidFill>
                <a:srgbClr val="D95D39"/>
              </a:solidFill>
              <a:latin typeface="Calibri"/>
              <a:ea typeface="Calibri"/>
              <a:cs typeface="Calibri"/>
              <a:sym typeface="Calibri"/>
            </a:endParaRPr>
          </a:p>
          <a:p>
            <a:pPr indent="0" lvl="0" marL="0" marR="0" rtl="0" algn="l">
              <a:spcBef>
                <a:spcPts val="0"/>
              </a:spcBef>
              <a:spcAft>
                <a:spcPts val="0"/>
              </a:spcAft>
              <a:buClr>
                <a:srgbClr val="D95D39"/>
              </a:buClr>
              <a:buSzPts val="1100"/>
              <a:buFont typeface="Calibri"/>
              <a:buNone/>
            </a:pPr>
            <a:r>
              <a:t/>
            </a:r>
            <a:endParaRPr b="1" sz="1200">
              <a:solidFill>
                <a:srgbClr val="D95D39"/>
              </a:solidFill>
              <a:latin typeface="Calibri"/>
              <a:ea typeface="Calibri"/>
              <a:cs typeface="Calibri"/>
              <a:sym typeface="Calibri"/>
            </a:endParaRPr>
          </a:p>
          <a:p>
            <a:pPr indent="0" lvl="0" marL="0" marR="0" rtl="0" algn="l">
              <a:spcBef>
                <a:spcPts val="0"/>
              </a:spcBef>
              <a:spcAft>
                <a:spcPts val="0"/>
              </a:spcAft>
              <a:buClr>
                <a:srgbClr val="D95D39"/>
              </a:buClr>
              <a:buSzPts val="1100"/>
              <a:buFont typeface="Calibri"/>
              <a:buNone/>
            </a:pPr>
            <a:r>
              <a:rPr b="1" lang="en-US">
                <a:solidFill>
                  <a:srgbClr val="1C2B3A"/>
                </a:solidFill>
                <a:latin typeface="Cambria"/>
                <a:ea typeface="Cambria"/>
                <a:cs typeface="Cambria"/>
                <a:sym typeface="Cambria"/>
              </a:rPr>
              <a:t>With</a:t>
            </a:r>
            <a:r>
              <a:rPr b="1" i="0" lang="en-US" sz="1400" u="none" cap="none" strike="noStrike">
                <a:solidFill>
                  <a:srgbClr val="1C2B3A"/>
                </a:solidFill>
                <a:latin typeface="Cambria"/>
                <a:ea typeface="Cambria"/>
                <a:cs typeface="Cambria"/>
                <a:sym typeface="Cambria"/>
              </a:rPr>
              <a:t> the cascade </a:t>
            </a:r>
            <a:r>
              <a:rPr b="1" i="0" lang="en-US" sz="1400" u="none" cap="none" strike="noStrike">
                <a:solidFill>
                  <a:srgbClr val="1C2B3A"/>
                </a:solidFill>
                <a:latin typeface="Cambria"/>
                <a:ea typeface="Cambria"/>
                <a:cs typeface="Cambria"/>
                <a:sym typeface="Cambria"/>
              </a:rPr>
              <a:t>as a candidate</a:t>
            </a:r>
            <a:r>
              <a:rPr b="1" lang="en-US">
                <a:solidFill>
                  <a:srgbClr val="1C2B3A"/>
                </a:solidFill>
                <a:latin typeface="Cambria"/>
                <a:ea typeface="Cambria"/>
                <a:cs typeface="Cambria"/>
                <a:sym typeface="Cambria"/>
              </a:rPr>
              <a:t>, d</a:t>
            </a:r>
            <a:r>
              <a:rPr b="1" i="0" lang="en-US" sz="1400" u="none" cap="none" strike="noStrike">
                <a:solidFill>
                  <a:srgbClr val="1C2B3A"/>
                </a:solidFill>
                <a:latin typeface="Cambria"/>
                <a:ea typeface="Cambria"/>
                <a:cs typeface="Cambria"/>
                <a:sym typeface="Cambria"/>
              </a:rPr>
              <a:t>oes the flow-based </a:t>
            </a:r>
            <a:r>
              <a:rPr b="1" lang="en-US">
                <a:solidFill>
                  <a:srgbClr val="1C2B3A"/>
                </a:solidFill>
                <a:latin typeface="Cambria"/>
                <a:ea typeface="Cambria"/>
                <a:cs typeface="Cambria"/>
                <a:sym typeface="Cambria"/>
              </a:rPr>
              <a:t>definition</a:t>
            </a:r>
            <a:r>
              <a:rPr b="1" i="0" lang="en-US" sz="1400" u="none" cap="none" strike="noStrike">
                <a:solidFill>
                  <a:srgbClr val="1C2B3A"/>
                </a:solidFill>
                <a:latin typeface="Cambria"/>
                <a:ea typeface="Cambria"/>
                <a:cs typeface="Cambria"/>
                <a:sym typeface="Cambria"/>
              </a:rPr>
              <a:t> recover attribute-defined gentrification?</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5"/>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METHODOLOGY · 1 OF 6</a:t>
            </a:r>
            <a:endParaRPr b="0" i="0" sz="1050" u="none" cap="none" strike="noStrike">
              <a:solidFill>
                <a:schemeClr val="dk1"/>
              </a:solidFill>
              <a:latin typeface="Calibri"/>
              <a:ea typeface="Calibri"/>
              <a:cs typeface="Calibri"/>
              <a:sym typeface="Calibri"/>
            </a:endParaRPr>
          </a:p>
        </p:txBody>
      </p:sp>
      <p:sp>
        <p:nvSpPr>
          <p:cNvPr id="51" name="Google Shape;51;p5"/>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A deprivation ladder fixed at 2010</a:t>
            </a:r>
            <a:endParaRPr b="0" i="0" sz="2600" u="none" cap="none" strike="noStrike">
              <a:solidFill>
                <a:schemeClr val="dk1"/>
              </a:solidFill>
              <a:latin typeface="Calibri"/>
              <a:ea typeface="Calibri"/>
              <a:cs typeface="Calibri"/>
              <a:sym typeface="Calibri"/>
            </a:endParaRPr>
          </a:p>
        </p:txBody>
      </p:sp>
      <p:sp>
        <p:nvSpPr>
          <p:cNvPr id="52" name="Google Shape;52;p5"/>
          <p:cNvSpPr/>
          <p:nvPr/>
        </p:nvSpPr>
        <p:spPr>
          <a:xfrm>
            <a:off x="475488" y="1115568"/>
            <a:ext cx="6400800" cy="512064"/>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85800" y="1115568"/>
            <a:ext cx="5989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Why hold the deprivation ladder still across both censuses?</a:t>
            </a:r>
            <a:endParaRPr b="0" i="0" sz="1200" u="none" cap="none" strike="noStrike">
              <a:solidFill>
                <a:schemeClr val="dk1"/>
              </a:solidFill>
              <a:latin typeface="Calibri"/>
              <a:ea typeface="Calibri"/>
              <a:cs typeface="Calibri"/>
              <a:sym typeface="Calibri"/>
            </a:endParaRPr>
          </a:p>
        </p:txBody>
      </p:sp>
      <p:sp>
        <p:nvSpPr>
          <p:cNvPr id="54" name="Google Shape;54;p5"/>
          <p:cNvSpPr/>
          <p:nvPr/>
        </p:nvSpPr>
        <p:spPr>
          <a:xfrm>
            <a:off x="7315200" y="1143000"/>
            <a:ext cx="1325880" cy="292608"/>
          </a:xfrm>
          <a:prstGeom prst="rect">
            <a:avLst/>
          </a:prstGeom>
          <a:solidFill>
            <a:srgbClr val="3E7CB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7315200" y="1435608"/>
            <a:ext cx="1325880" cy="292608"/>
          </a:xfrm>
          <a:prstGeom prst="rect">
            <a:avLst/>
          </a:prstGeom>
          <a:solidFill>
            <a:srgbClr val="5B8FB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7315200" y="1728216"/>
            <a:ext cx="1325880" cy="292608"/>
          </a:xfrm>
          <a:prstGeom prst="rect">
            <a:avLst/>
          </a:prstGeom>
          <a:solidFill>
            <a:srgbClr val="7AA3C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7315200" y="2020824"/>
            <a:ext cx="1325880" cy="292608"/>
          </a:xfrm>
          <a:prstGeom prst="rect">
            <a:avLst/>
          </a:prstGeom>
          <a:solidFill>
            <a:srgbClr val="98B7D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7315200" y="2313432"/>
            <a:ext cx="1325880" cy="292608"/>
          </a:xfrm>
          <a:prstGeom prst="rect">
            <a:avLst/>
          </a:prstGeom>
          <a:solidFill>
            <a:srgbClr val="B6CB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7315200" y="2606040"/>
            <a:ext cx="1325880" cy="292608"/>
          </a:xfrm>
          <a:prstGeom prst="rect">
            <a:avLst/>
          </a:prstGeom>
          <a:solidFill>
            <a:srgbClr val="D3D9D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7315200" y="2898648"/>
            <a:ext cx="1325880" cy="292608"/>
          </a:xfrm>
          <a:prstGeom prst="rect">
            <a:avLst/>
          </a:prstGeom>
          <a:solidFill>
            <a:srgbClr val="E4C9B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7315200" y="3191256"/>
            <a:ext cx="1325880" cy="292608"/>
          </a:xfrm>
          <a:prstGeom prst="rect">
            <a:avLst/>
          </a:prstGeom>
          <a:solidFill>
            <a:srgbClr val="E0AE9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7315200" y="3483864"/>
            <a:ext cx="1325880" cy="292608"/>
          </a:xfrm>
          <a:prstGeom prst="rect">
            <a:avLst/>
          </a:prstGeom>
          <a:solidFill>
            <a:srgbClr val="DC8F6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7315200" y="3776472"/>
            <a:ext cx="1325880" cy="292608"/>
          </a:xfrm>
          <a:prstGeom prst="rect">
            <a:avLst/>
          </a:prstGeom>
          <a:solidFill>
            <a:srgbClr val="D95D3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7223760" y="886968"/>
            <a:ext cx="1737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7CB1"/>
              </a:buClr>
              <a:buSzPts val="950"/>
              <a:buFont typeface="Calibri"/>
              <a:buNone/>
            </a:pPr>
            <a:r>
              <a:rPr b="1" i="0" lang="en-US" sz="950" u="none" cap="none" strike="noStrike">
                <a:solidFill>
                  <a:srgbClr val="3E7CB1"/>
                </a:solidFill>
                <a:latin typeface="Calibri"/>
                <a:ea typeface="Calibri"/>
                <a:cs typeface="Calibri"/>
                <a:sym typeface="Calibri"/>
              </a:rPr>
              <a:t>D10 · least deprived</a:t>
            </a:r>
            <a:endParaRPr b="0" i="0" sz="950" u="none" cap="none" strike="noStrike">
              <a:solidFill>
                <a:schemeClr val="dk1"/>
              </a:solidFill>
              <a:latin typeface="Calibri"/>
              <a:ea typeface="Calibri"/>
              <a:cs typeface="Calibri"/>
              <a:sym typeface="Calibri"/>
            </a:endParaRPr>
          </a:p>
        </p:txBody>
      </p:sp>
      <p:sp>
        <p:nvSpPr>
          <p:cNvPr id="65" name="Google Shape;65;p5"/>
          <p:cNvSpPr/>
          <p:nvPr/>
        </p:nvSpPr>
        <p:spPr>
          <a:xfrm>
            <a:off x="7223760" y="4114800"/>
            <a:ext cx="1737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950"/>
              <a:buFont typeface="Calibri"/>
              <a:buNone/>
            </a:pPr>
            <a:r>
              <a:rPr b="1" i="0" lang="en-US" sz="950" u="none" cap="none" strike="noStrike">
                <a:solidFill>
                  <a:srgbClr val="D95D39"/>
                </a:solidFill>
                <a:latin typeface="Calibri"/>
                <a:ea typeface="Calibri"/>
                <a:cs typeface="Calibri"/>
                <a:sym typeface="Calibri"/>
              </a:rPr>
              <a:t>D1 · most deprived</a:t>
            </a:r>
            <a:endParaRPr b="0" i="0" sz="950" u="none" cap="none" strike="noStrike">
              <a:solidFill>
                <a:schemeClr val="dk1"/>
              </a:solidFill>
              <a:latin typeface="Calibri"/>
              <a:ea typeface="Calibri"/>
              <a:cs typeface="Calibri"/>
              <a:sym typeface="Calibri"/>
            </a:endParaRPr>
          </a:p>
        </p:txBody>
      </p:sp>
      <p:sp>
        <p:nvSpPr>
          <p:cNvPr id="66" name="Google Shape;66;p5"/>
          <p:cNvSpPr/>
          <p:nvPr/>
        </p:nvSpPr>
        <p:spPr>
          <a:xfrm>
            <a:off x="7223760" y="4361688"/>
            <a:ext cx="1737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FIXED · IMD 2010</a:t>
            </a:r>
            <a:endParaRPr b="0" i="0" sz="900" u="none" cap="none" strike="noStrike">
              <a:solidFill>
                <a:schemeClr val="dk1"/>
              </a:solidFill>
              <a:latin typeface="Calibri"/>
              <a:ea typeface="Calibri"/>
              <a:cs typeface="Calibri"/>
              <a:sym typeface="Calibri"/>
            </a:endParaRPr>
          </a:p>
        </p:txBody>
      </p:sp>
      <p:sp>
        <p:nvSpPr>
          <p:cNvPr id="67" name="Google Shape;67;p5"/>
          <p:cNvSpPr/>
          <p:nvPr/>
        </p:nvSpPr>
        <p:spPr>
          <a:xfrm>
            <a:off x="475488" y="1874520"/>
            <a:ext cx="6400800" cy="786384"/>
          </a:xfrm>
          <a:prstGeom prst="roundRect">
            <a:avLst>
              <a:gd fmla="val 6977"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713232" y="1947672"/>
            <a:ext cx="594360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400"/>
              <a:buFont typeface="Calibri"/>
              <a:buNone/>
            </a:pPr>
            <a:r>
              <a:rPr b="1" i="0" lang="en-US" sz="1400" u="none" cap="none" strike="noStrike">
                <a:solidFill>
                  <a:srgbClr val="1C2B3A"/>
                </a:solidFill>
                <a:latin typeface="Calibri"/>
                <a:ea typeface="Calibri"/>
                <a:cs typeface="Calibri"/>
                <a:sym typeface="Calibri"/>
              </a:rPr>
              <a:t>Change = movement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250"/>
              <a:buFont typeface="Calibri"/>
              <a:buNone/>
            </a:pPr>
            <a:r>
              <a:rPr b="0" i="0" lang="en-US" sz="1250" u="none" cap="none" strike="noStrike">
                <a:solidFill>
                  <a:srgbClr val="68788A"/>
                </a:solidFill>
                <a:latin typeface="Calibri"/>
                <a:ea typeface="Calibri"/>
                <a:cs typeface="Calibri"/>
                <a:sym typeface="Calibri"/>
              </a:rPr>
              <a:t>Any 2011 → 2021 difference reflects how people moved — not neighbourhoods being re-ranked underneath them.</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475488" y="2788920"/>
            <a:ext cx="6400800" cy="786384"/>
          </a:xfrm>
          <a:prstGeom prst="roundRect">
            <a:avLst>
              <a:gd fmla="val 6977"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713232" y="2862072"/>
            <a:ext cx="594360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400"/>
              <a:buFont typeface="Calibri"/>
              <a:buNone/>
            </a:pPr>
            <a:r>
              <a:rPr b="1" i="0" lang="en-US" sz="1400" u="none" cap="none" strike="noStrike">
                <a:solidFill>
                  <a:srgbClr val="1C2B3A"/>
                </a:solidFill>
                <a:latin typeface="Calibri"/>
                <a:ea typeface="Calibri"/>
                <a:cs typeface="Calibri"/>
                <a:sym typeface="Calibri"/>
              </a:rPr>
              <a:t>Non-circular validation</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250"/>
              <a:buFont typeface="Calibri"/>
              <a:buNone/>
            </a:pPr>
            <a:r>
              <a:rPr b="0" i="0" lang="en-US" sz="1250" u="none" cap="none" strike="noStrike">
                <a:solidFill>
                  <a:srgbClr val="68788A"/>
                </a:solidFill>
                <a:latin typeface="Calibri"/>
                <a:ea typeface="Calibri"/>
                <a:cs typeface="Calibri"/>
                <a:sym typeface="Calibri"/>
              </a:rPr>
              <a:t>IMD 2019 is never used to build the classifier — it stays reserved as an independent outcome.</a:t>
            </a:r>
            <a:endParaRPr b="0" i="0" sz="1400" u="none" cap="none" strike="noStrike">
              <a:solidFill>
                <a:schemeClr val="dk1"/>
              </a:solidFill>
              <a:latin typeface="Calibri"/>
              <a:ea typeface="Calibri"/>
              <a:cs typeface="Calibri"/>
              <a:sym typeface="Calibri"/>
            </a:endParaRPr>
          </a:p>
        </p:txBody>
      </p:sp>
      <p:sp>
        <p:nvSpPr>
          <p:cNvPr id="71" name="Google Shape;71;p5"/>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72" name="Google Shape;72;p5"/>
          <p:cNvSpPr/>
          <p:nvPr/>
        </p:nvSpPr>
        <p:spPr>
          <a:xfrm>
            <a:off x="475500" y="4160527"/>
            <a:ext cx="8193000" cy="71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050"/>
              <a:buFont typeface="Calibri"/>
              <a:buNone/>
            </a:pPr>
            <a:r>
              <a:rPr b="1" i="0" lang="en-US" sz="1200" u="none" cap="none" strike="noStrike">
                <a:solidFill>
                  <a:srgbClr val="D95D39"/>
                </a:solidFill>
                <a:latin typeface="Calibri"/>
                <a:ea typeface="Calibri"/>
                <a:cs typeface="Calibri"/>
                <a:sym typeface="Calibri"/>
              </a:rPr>
              <a:t>DATA  </a:t>
            </a:r>
            <a:r>
              <a:rPr b="1" lang="en-US" sz="1200">
                <a:solidFill>
                  <a:srgbClr val="D95D39"/>
                </a:solidFill>
                <a:latin typeface="Calibri"/>
                <a:ea typeface="Calibri"/>
                <a:cs typeface="Calibri"/>
                <a:sym typeface="Calibri"/>
              </a:rPr>
              <a:t>are all open, anonymised</a:t>
            </a:r>
            <a:endParaRPr b="1" i="0" sz="1200" u="none" cap="none" strike="noStrike">
              <a:solidFill>
                <a:srgbClr val="D95D39"/>
              </a:solidFill>
              <a:latin typeface="Calibri"/>
              <a:ea typeface="Calibri"/>
              <a:cs typeface="Calibri"/>
              <a:sym typeface="Calibri"/>
            </a:endParaRPr>
          </a:p>
          <a:p>
            <a:pPr indent="0" lvl="0" marL="0" marR="0" rtl="0" algn="l">
              <a:spcBef>
                <a:spcPts val="0"/>
              </a:spcBef>
              <a:spcAft>
                <a:spcPts val="0"/>
              </a:spcAft>
              <a:buClr>
                <a:srgbClr val="D95D39"/>
              </a:buClr>
              <a:buSzPts val="1050"/>
              <a:buFont typeface="Calibri"/>
              <a:buNone/>
            </a:pPr>
            <a:r>
              <a:rPr b="0" i="1" lang="en-US" sz="1200" u="none" cap="none" strike="noStrike">
                <a:solidFill>
                  <a:srgbClr val="1C2B3A"/>
                </a:solidFill>
                <a:latin typeface="Calibri"/>
                <a:ea typeface="Calibri"/>
                <a:cs typeface="Calibri"/>
                <a:sym typeface="Calibri"/>
              </a:rPr>
              <a:t>982</a:t>
            </a:r>
            <a:r>
              <a:rPr b="0" i="0" lang="en-US" sz="1200" u="none" cap="none" strike="noStrike">
                <a:solidFill>
                  <a:srgbClr val="1C2B3A"/>
                </a:solidFill>
                <a:latin typeface="Calibri"/>
                <a:ea typeface="Calibri"/>
                <a:cs typeface="Calibri"/>
                <a:sym typeface="Calibri"/>
              </a:rPr>
              <a:t> London MSOAs  </a:t>
            </a:r>
            <a:endParaRPr b="0" i="0" sz="1200" u="none" cap="none" strike="noStrike">
              <a:solidFill>
                <a:srgbClr val="1C2B3A"/>
              </a:solidFill>
              <a:latin typeface="Calibri"/>
              <a:ea typeface="Calibri"/>
              <a:cs typeface="Calibri"/>
              <a:sym typeface="Calibri"/>
            </a:endParaRPr>
          </a:p>
          <a:p>
            <a:pPr indent="0" lvl="0" marL="0" marR="0" rtl="0" algn="l">
              <a:spcBef>
                <a:spcPts val="0"/>
              </a:spcBef>
              <a:spcAft>
                <a:spcPts val="0"/>
              </a:spcAft>
              <a:buClr>
                <a:srgbClr val="D95D39"/>
              </a:buClr>
              <a:buSzPts val="1050"/>
              <a:buFont typeface="Calibri"/>
              <a:buNone/>
            </a:pPr>
            <a:r>
              <a:rPr b="0" i="0" lang="en-US" sz="1200" u="none" cap="none" strike="noStrike">
                <a:solidFill>
                  <a:srgbClr val="1C2B3A"/>
                </a:solidFill>
                <a:latin typeface="Calibri"/>
                <a:ea typeface="Calibri"/>
                <a:cs typeface="Calibri"/>
                <a:sym typeface="Calibri"/>
              </a:rPr>
              <a:t>Census </a:t>
            </a:r>
            <a:r>
              <a:rPr lang="en-US" sz="1200">
                <a:solidFill>
                  <a:srgbClr val="1C2B3A"/>
                </a:solidFill>
                <a:latin typeface="Calibri"/>
                <a:ea typeface="Calibri"/>
                <a:cs typeface="Calibri"/>
                <a:sym typeface="Calibri"/>
              </a:rPr>
              <a:t>O</a:t>
            </a:r>
            <a:r>
              <a:rPr b="0" i="0" lang="en-US" sz="1200" u="none" cap="none" strike="noStrike">
                <a:solidFill>
                  <a:srgbClr val="1C2B3A"/>
                </a:solidFill>
                <a:latin typeface="Calibri"/>
                <a:ea typeface="Calibri"/>
                <a:cs typeface="Calibri"/>
                <a:sym typeface="Calibri"/>
              </a:rPr>
              <a:t>rigin–</a:t>
            </a:r>
            <a:r>
              <a:rPr lang="en-US" sz="1200">
                <a:solidFill>
                  <a:srgbClr val="1C2B3A"/>
                </a:solidFill>
                <a:latin typeface="Calibri"/>
                <a:ea typeface="Calibri"/>
                <a:cs typeface="Calibri"/>
                <a:sym typeface="Calibri"/>
              </a:rPr>
              <a:t>D</a:t>
            </a:r>
            <a:r>
              <a:rPr b="0" i="0" lang="en-US" sz="1200" u="none" cap="none" strike="noStrike">
                <a:solidFill>
                  <a:srgbClr val="1C2B3A"/>
                </a:solidFill>
                <a:latin typeface="Calibri"/>
                <a:ea typeface="Calibri"/>
                <a:cs typeface="Calibri"/>
                <a:sym typeface="Calibri"/>
              </a:rPr>
              <a:t>estination flows, 2011 &amp; 2021 (Nomis)  </a:t>
            </a:r>
            <a:endParaRPr b="0" i="0" sz="1200" u="none" cap="none" strike="noStrike">
              <a:solidFill>
                <a:srgbClr val="1C2B3A"/>
              </a:solidFill>
              <a:latin typeface="Calibri"/>
              <a:ea typeface="Calibri"/>
              <a:cs typeface="Calibri"/>
              <a:sym typeface="Calibri"/>
            </a:endParaRPr>
          </a:p>
          <a:p>
            <a:pPr indent="0" lvl="0" marL="0" marR="0" rtl="0" algn="l">
              <a:spcBef>
                <a:spcPts val="0"/>
              </a:spcBef>
              <a:spcAft>
                <a:spcPts val="0"/>
              </a:spcAft>
              <a:buClr>
                <a:srgbClr val="D95D39"/>
              </a:buClr>
              <a:buSzPts val="1050"/>
              <a:buFont typeface="Calibri"/>
              <a:buNone/>
            </a:pPr>
            <a:r>
              <a:rPr b="0" i="0" lang="en-US" sz="1200" u="none" cap="none" strike="noStrike">
                <a:solidFill>
                  <a:srgbClr val="1C2B3A"/>
                </a:solidFill>
                <a:latin typeface="Calibri"/>
                <a:ea typeface="Calibri"/>
                <a:cs typeface="Calibri"/>
                <a:sym typeface="Calibri"/>
              </a:rPr>
              <a:t>IMD 2010 </a:t>
            </a:r>
            <a:r>
              <a:rPr lang="en-US" sz="1200">
                <a:solidFill>
                  <a:srgbClr val="1C2B3A"/>
                </a:solidFill>
                <a:latin typeface="Calibri"/>
                <a:ea typeface="Calibri"/>
                <a:cs typeface="Calibri"/>
                <a:sym typeface="Calibri"/>
              </a:rPr>
              <a:t>&amp; 2019</a:t>
            </a:r>
            <a:r>
              <a:rPr b="0" i="0" lang="en-US" sz="1200" u="none" cap="none" strike="noStrike">
                <a:solidFill>
                  <a:srgbClr val="1C2B3A"/>
                </a:solidFill>
                <a:latin typeface="Calibri"/>
                <a:ea typeface="Calibri"/>
                <a:cs typeface="Calibri"/>
                <a:sym typeface="Calibri"/>
              </a:rPr>
              <a:t>  </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502920" y="274320"/>
            <a:ext cx="8138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METHODOLOGY · 2 OF 6</a:t>
            </a:r>
            <a:endParaRPr b="0" i="0" sz="1050" u="none" cap="none" strike="noStrike">
              <a:solidFill>
                <a:schemeClr val="dk1"/>
              </a:solidFill>
              <a:latin typeface="Calibri"/>
              <a:ea typeface="Calibri"/>
              <a:cs typeface="Calibri"/>
              <a:sym typeface="Calibri"/>
            </a:endParaRPr>
          </a:p>
        </p:txBody>
      </p:sp>
      <p:sp>
        <p:nvSpPr>
          <p:cNvPr id="79" name="Google Shape;79;p6"/>
          <p:cNvSpPr/>
          <p:nvPr/>
        </p:nvSpPr>
        <p:spPr>
          <a:xfrm>
            <a:off x="457200" y="512064"/>
            <a:ext cx="8229600" cy="502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Every cross-decile move becomes one of four flows</a:t>
            </a:r>
            <a:endParaRPr b="0" i="0" sz="2600" u="none" cap="none" strike="noStrike">
              <a:solidFill>
                <a:schemeClr val="dk1"/>
              </a:solidFill>
              <a:latin typeface="Calibri"/>
              <a:ea typeface="Calibri"/>
              <a:cs typeface="Calibri"/>
              <a:sym typeface="Calibri"/>
            </a:endParaRPr>
          </a:p>
        </p:txBody>
      </p:sp>
      <p:sp>
        <p:nvSpPr>
          <p:cNvPr id="80" name="Google Shape;80;p6"/>
          <p:cNvSpPr/>
          <p:nvPr/>
        </p:nvSpPr>
        <p:spPr>
          <a:xfrm>
            <a:off x="475488" y="1115568"/>
            <a:ext cx="8193000" cy="512100"/>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685800" y="1115568"/>
            <a:ext cx="77814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What does the classic chain look like on the deprivation ladder?</a:t>
            </a:r>
            <a:endParaRPr b="0" i="0" sz="1200" u="none" cap="none" strike="noStrike">
              <a:solidFill>
                <a:schemeClr val="dk1"/>
              </a:solidFill>
              <a:latin typeface="Calibri"/>
              <a:ea typeface="Calibri"/>
              <a:cs typeface="Calibri"/>
              <a:sym typeface="Calibri"/>
            </a:endParaRPr>
          </a:p>
        </p:txBody>
      </p:sp>
      <p:pic>
        <p:nvPicPr>
          <p:cNvPr descr="/home/claude/four_flow_ladder.png" id="82" name="Google Shape;82;p6"/>
          <p:cNvPicPr preferRelativeResize="0"/>
          <p:nvPr/>
        </p:nvPicPr>
        <p:blipFill rotWithShape="1">
          <a:blip r:embed="rId3">
            <a:alphaModFix/>
          </a:blip>
          <a:srcRect b="0" l="36779" r="37389" t="0"/>
          <a:stretch/>
        </p:blipFill>
        <p:spPr>
          <a:xfrm>
            <a:off x="3461400" y="1682500"/>
            <a:ext cx="2116450" cy="2498050"/>
          </a:xfrm>
          <a:prstGeom prst="rect">
            <a:avLst/>
          </a:prstGeom>
          <a:noFill/>
          <a:ln>
            <a:noFill/>
          </a:ln>
        </p:spPr>
      </p:pic>
      <p:sp>
        <p:nvSpPr>
          <p:cNvPr id="83" name="Google Shape;83;p6"/>
          <p:cNvSpPr/>
          <p:nvPr/>
        </p:nvSpPr>
        <p:spPr>
          <a:xfrm>
            <a:off x="502920" y="4224528"/>
            <a:ext cx="4206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i="0" lang="en-US" sz="1250" u="none" cap="none" strike="noStrike">
                <a:solidFill>
                  <a:srgbClr val="D95D39"/>
                </a:solidFill>
                <a:latin typeface="Calibri"/>
                <a:ea typeface="Calibri"/>
                <a:cs typeface="Calibri"/>
                <a:sym typeface="Calibri"/>
              </a:rPr>
              <a:t>CASCADE = IW + OP   </a:t>
            </a:r>
            <a:r>
              <a:rPr b="0" i="0" lang="en-US" sz="1250" u="none" cap="none" strike="noStrike">
                <a:solidFill>
                  <a:srgbClr val="68788A"/>
                </a:solidFill>
                <a:latin typeface="Calibri"/>
                <a:ea typeface="Calibri"/>
                <a:cs typeface="Calibri"/>
                <a:sym typeface="Calibri"/>
              </a:rPr>
              <a:t>wealthier in, poorer out-and-down</a:t>
            </a:r>
            <a:endParaRPr b="0" i="0" sz="1250" u="none" cap="none" strike="noStrike">
              <a:solidFill>
                <a:schemeClr val="dk1"/>
              </a:solidFill>
              <a:latin typeface="Calibri"/>
              <a:ea typeface="Calibri"/>
              <a:cs typeface="Calibri"/>
              <a:sym typeface="Calibri"/>
            </a:endParaRPr>
          </a:p>
        </p:txBody>
      </p:sp>
      <p:sp>
        <p:nvSpPr>
          <p:cNvPr id="84" name="Google Shape;84;p6"/>
          <p:cNvSpPr/>
          <p:nvPr/>
        </p:nvSpPr>
        <p:spPr>
          <a:xfrm>
            <a:off x="5577840" y="4224528"/>
            <a:ext cx="31089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E7CB1"/>
              </a:buClr>
              <a:buSzPts val="1250"/>
              <a:buFont typeface="Calibri"/>
              <a:buNone/>
            </a:pPr>
            <a:r>
              <a:rPr b="1" i="0" lang="en-US" sz="1250" u="none" cap="none" strike="noStrike">
                <a:solidFill>
                  <a:srgbClr val="3E7CB1"/>
                </a:solidFill>
                <a:latin typeface="Calibri"/>
                <a:ea typeface="Calibri"/>
                <a:cs typeface="Calibri"/>
                <a:sym typeface="Calibri"/>
              </a:rPr>
              <a:t>COUNTER = OW + IP   </a:t>
            </a:r>
            <a:r>
              <a:rPr b="0" i="0" lang="en-US" sz="1250" u="none" cap="none" strike="noStrike">
                <a:solidFill>
                  <a:srgbClr val="68788A"/>
                </a:solidFill>
                <a:latin typeface="Calibri"/>
                <a:ea typeface="Calibri"/>
                <a:cs typeface="Calibri"/>
                <a:sym typeface="Calibri"/>
              </a:rPr>
              <a:t>the reverse direction</a:t>
            </a:r>
            <a:endParaRPr b="0" i="0" sz="1250" u="none" cap="none" strike="noStrike">
              <a:solidFill>
                <a:schemeClr val="dk1"/>
              </a:solidFill>
              <a:latin typeface="Calibri"/>
              <a:ea typeface="Calibri"/>
              <a:cs typeface="Calibri"/>
              <a:sym typeface="Calibri"/>
            </a:endParaRPr>
          </a:p>
        </p:txBody>
      </p:sp>
      <p:sp>
        <p:nvSpPr>
          <p:cNvPr id="85" name="Google Shape;85;p6"/>
          <p:cNvSpPr/>
          <p:nvPr/>
        </p:nvSpPr>
        <p:spPr>
          <a:xfrm>
            <a:off x="502925" y="4590304"/>
            <a:ext cx="8138100" cy="36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8788A"/>
              </a:buClr>
              <a:buSzPts val="1050"/>
              <a:buFont typeface="Calibri"/>
              <a:buNone/>
            </a:pPr>
            <a:r>
              <a:rPr b="0" i="1" lang="en-US" sz="1050" u="none" cap="none" strike="noStrike">
                <a:solidFill>
                  <a:srgbClr val="68788A"/>
                </a:solidFill>
                <a:latin typeface="Calibri"/>
                <a:ea typeface="Calibri"/>
                <a:cs typeface="Calibri"/>
                <a:sym typeface="Calibri"/>
              </a:rPr>
              <a:t>Lateral moves (same decile) cross no hierarchy</a:t>
            </a:r>
            <a:r>
              <a:rPr i="1" lang="en-US" sz="1050">
                <a:solidFill>
                  <a:srgbClr val="68788A"/>
                </a:solidFill>
                <a:latin typeface="Calibri"/>
                <a:ea typeface="Calibri"/>
                <a:cs typeface="Calibri"/>
                <a:sym typeface="Calibri"/>
              </a:rPr>
              <a:t>.</a:t>
            </a:r>
            <a:r>
              <a:rPr b="0" i="1" lang="en-US" sz="1050" u="none" cap="none" strike="noStrike">
                <a:solidFill>
                  <a:srgbClr val="68788A"/>
                </a:solidFill>
                <a:latin typeface="Calibri"/>
                <a:ea typeface="Calibri"/>
                <a:cs typeface="Calibri"/>
                <a:sym typeface="Calibri"/>
              </a:rPr>
              <a:t> Area-to-area flows, not individual movers.</a:t>
            </a:r>
            <a:endParaRPr b="0" i="0" sz="1050" u="none" cap="none" strike="noStrike">
              <a:solidFill>
                <a:srgbClr val="316591"/>
              </a:solidFill>
              <a:highlight>
                <a:srgbClr val="7FA9CE"/>
              </a:highlight>
              <a:latin typeface="Calibri"/>
              <a:ea typeface="Calibri"/>
              <a:cs typeface="Calibri"/>
              <a:sym typeface="Calibri"/>
            </a:endParaRPr>
          </a:p>
        </p:txBody>
      </p:sp>
      <p:sp>
        <p:nvSpPr>
          <p:cNvPr id="86" name="Google Shape;86;p6"/>
          <p:cNvSpPr/>
          <p:nvPr/>
        </p:nvSpPr>
        <p:spPr>
          <a:xfrm>
            <a:off x="8458200" y="4759452"/>
            <a:ext cx="3657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87" name="Google Shape;87;p6"/>
          <p:cNvSpPr/>
          <p:nvPr/>
        </p:nvSpPr>
        <p:spPr>
          <a:xfrm>
            <a:off x="457200" y="2071475"/>
            <a:ext cx="2391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i="0" lang="en-US" sz="1250" u="none" cap="none" strike="noStrike">
                <a:solidFill>
                  <a:srgbClr val="C24E2E"/>
                </a:solidFill>
                <a:latin typeface="Calibri"/>
                <a:ea typeface="Calibri"/>
                <a:cs typeface="Calibri"/>
                <a:sym typeface="Calibri"/>
              </a:rPr>
              <a:t>IW</a:t>
            </a:r>
            <a:r>
              <a:rPr b="1" lang="en-US" sz="1250">
                <a:solidFill>
                  <a:srgbClr val="C24E2E"/>
                </a:solidFill>
                <a:latin typeface="Calibri"/>
                <a:ea typeface="Calibri"/>
                <a:cs typeface="Calibri"/>
                <a:sym typeface="Calibri"/>
              </a:rPr>
              <a:t> - Inflow from Wealthier areas</a:t>
            </a:r>
            <a:endParaRPr b="1" i="0" sz="1250" u="none" cap="none" strike="noStrike">
              <a:solidFill>
                <a:srgbClr val="C24E2E"/>
              </a:solidFill>
              <a:latin typeface="Calibri"/>
              <a:ea typeface="Calibri"/>
              <a:cs typeface="Calibri"/>
              <a:sym typeface="Calibri"/>
            </a:endParaRPr>
          </a:p>
          <a:p>
            <a:pPr indent="0" lvl="0" marL="0" marR="0" rtl="0" algn="l">
              <a:spcBef>
                <a:spcPts val="0"/>
              </a:spcBef>
              <a:spcAft>
                <a:spcPts val="0"/>
              </a:spcAft>
              <a:buClr>
                <a:srgbClr val="D95D39"/>
              </a:buClr>
              <a:buSzPts val="1250"/>
              <a:buFont typeface="Calibri"/>
              <a:buNone/>
            </a:pPr>
            <a:r>
              <a:rPr lang="en-US" sz="1250">
                <a:solidFill>
                  <a:srgbClr val="68788A"/>
                </a:solidFill>
                <a:latin typeface="Calibri"/>
                <a:ea typeface="Calibri"/>
                <a:cs typeface="Calibri"/>
                <a:sym typeface="Calibri"/>
              </a:rPr>
              <a:t>arriving from less-deprived deciles</a:t>
            </a:r>
            <a:endParaRPr b="0" i="0" sz="1250" u="none" cap="none" strike="noStrike">
              <a:solidFill>
                <a:schemeClr val="dk1"/>
              </a:solidFill>
              <a:latin typeface="Calibri"/>
              <a:ea typeface="Calibri"/>
              <a:cs typeface="Calibri"/>
              <a:sym typeface="Calibri"/>
            </a:endParaRPr>
          </a:p>
        </p:txBody>
      </p:sp>
      <p:sp>
        <p:nvSpPr>
          <p:cNvPr id="88" name="Google Shape;88;p6"/>
          <p:cNvSpPr/>
          <p:nvPr/>
        </p:nvSpPr>
        <p:spPr>
          <a:xfrm>
            <a:off x="6190450" y="2071475"/>
            <a:ext cx="2391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lang="en-US" sz="1250">
                <a:solidFill>
                  <a:srgbClr val="316591"/>
                </a:solidFill>
                <a:latin typeface="Calibri"/>
                <a:ea typeface="Calibri"/>
                <a:cs typeface="Calibri"/>
                <a:sym typeface="Calibri"/>
              </a:rPr>
              <a:t>O</a:t>
            </a:r>
            <a:r>
              <a:rPr b="1" i="0" lang="en-US" sz="1250" u="none" cap="none" strike="noStrike">
                <a:solidFill>
                  <a:srgbClr val="316591"/>
                </a:solidFill>
                <a:latin typeface="Calibri"/>
                <a:ea typeface="Calibri"/>
                <a:cs typeface="Calibri"/>
                <a:sym typeface="Calibri"/>
              </a:rPr>
              <a:t>W</a:t>
            </a:r>
            <a:r>
              <a:rPr b="1" lang="en-US" sz="1250">
                <a:solidFill>
                  <a:srgbClr val="316591"/>
                </a:solidFill>
                <a:latin typeface="Calibri"/>
                <a:ea typeface="Calibri"/>
                <a:cs typeface="Calibri"/>
                <a:sym typeface="Calibri"/>
              </a:rPr>
              <a:t> - Outflow to Wealthier areas</a:t>
            </a:r>
            <a:endParaRPr b="1" i="0" sz="1250" u="none" cap="none" strike="noStrike">
              <a:solidFill>
                <a:srgbClr val="316591"/>
              </a:solidFill>
              <a:latin typeface="Calibri"/>
              <a:ea typeface="Calibri"/>
              <a:cs typeface="Calibri"/>
              <a:sym typeface="Calibri"/>
            </a:endParaRPr>
          </a:p>
          <a:p>
            <a:pPr indent="0" lvl="0" marL="0" marR="0" rtl="0" algn="l">
              <a:spcBef>
                <a:spcPts val="0"/>
              </a:spcBef>
              <a:spcAft>
                <a:spcPts val="0"/>
              </a:spcAft>
              <a:buClr>
                <a:srgbClr val="D95D39"/>
              </a:buClr>
              <a:buSzPts val="1250"/>
              <a:buFont typeface="Calibri"/>
              <a:buNone/>
            </a:pPr>
            <a:r>
              <a:rPr lang="en-US" sz="1250">
                <a:solidFill>
                  <a:srgbClr val="68788A"/>
                </a:solidFill>
                <a:latin typeface="Calibri"/>
                <a:ea typeface="Calibri"/>
                <a:cs typeface="Calibri"/>
                <a:sym typeface="Calibri"/>
              </a:rPr>
              <a:t>leaving to less-deprived areas</a:t>
            </a:r>
            <a:endParaRPr b="0" i="0" sz="1250" u="none" cap="none" strike="noStrike">
              <a:solidFill>
                <a:schemeClr val="dk1"/>
              </a:solidFill>
              <a:latin typeface="Calibri"/>
              <a:ea typeface="Calibri"/>
              <a:cs typeface="Calibri"/>
              <a:sym typeface="Calibri"/>
            </a:endParaRPr>
          </a:p>
        </p:txBody>
      </p:sp>
      <p:sp>
        <p:nvSpPr>
          <p:cNvPr id="89" name="Google Shape;89;p6"/>
          <p:cNvSpPr/>
          <p:nvPr/>
        </p:nvSpPr>
        <p:spPr>
          <a:xfrm>
            <a:off x="502925" y="3148000"/>
            <a:ext cx="2391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lang="en-US" sz="1250">
                <a:solidFill>
                  <a:srgbClr val="E58A66"/>
                </a:solidFill>
                <a:latin typeface="Calibri"/>
                <a:ea typeface="Calibri"/>
                <a:cs typeface="Calibri"/>
                <a:sym typeface="Calibri"/>
              </a:rPr>
              <a:t>OP</a:t>
            </a:r>
            <a:r>
              <a:rPr b="1" lang="en-US" sz="1250">
                <a:solidFill>
                  <a:srgbClr val="E58A66"/>
                </a:solidFill>
                <a:latin typeface="Calibri"/>
                <a:ea typeface="Calibri"/>
                <a:cs typeface="Calibri"/>
                <a:sym typeface="Calibri"/>
              </a:rPr>
              <a:t> - Outflow to Poorer areas</a:t>
            </a:r>
            <a:endParaRPr b="1" i="0" sz="1250" u="none" cap="none" strike="noStrike">
              <a:solidFill>
                <a:srgbClr val="E58A66"/>
              </a:solidFill>
              <a:latin typeface="Calibri"/>
              <a:ea typeface="Calibri"/>
              <a:cs typeface="Calibri"/>
              <a:sym typeface="Calibri"/>
            </a:endParaRPr>
          </a:p>
          <a:p>
            <a:pPr indent="0" lvl="0" marL="0" marR="0" rtl="0" algn="l">
              <a:spcBef>
                <a:spcPts val="0"/>
              </a:spcBef>
              <a:spcAft>
                <a:spcPts val="0"/>
              </a:spcAft>
              <a:buClr>
                <a:srgbClr val="D95D39"/>
              </a:buClr>
              <a:buSzPts val="1250"/>
              <a:buFont typeface="Calibri"/>
              <a:buNone/>
            </a:pPr>
            <a:r>
              <a:rPr lang="en-US" sz="1250">
                <a:solidFill>
                  <a:srgbClr val="68788A"/>
                </a:solidFill>
                <a:latin typeface="Calibri"/>
                <a:ea typeface="Calibri"/>
                <a:cs typeface="Calibri"/>
                <a:sym typeface="Calibri"/>
              </a:rPr>
              <a:t>leaving to more-deprived deciles</a:t>
            </a:r>
            <a:endParaRPr b="0" i="0" sz="1250" u="none" cap="none" strike="noStrike">
              <a:solidFill>
                <a:schemeClr val="dk1"/>
              </a:solidFill>
              <a:latin typeface="Calibri"/>
              <a:ea typeface="Calibri"/>
              <a:cs typeface="Calibri"/>
              <a:sym typeface="Calibri"/>
            </a:endParaRPr>
          </a:p>
        </p:txBody>
      </p:sp>
      <p:sp>
        <p:nvSpPr>
          <p:cNvPr id="90" name="Google Shape;90;p6"/>
          <p:cNvSpPr/>
          <p:nvPr/>
        </p:nvSpPr>
        <p:spPr>
          <a:xfrm>
            <a:off x="6144725" y="3147988"/>
            <a:ext cx="2391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lang="en-US" sz="1250">
                <a:solidFill>
                  <a:srgbClr val="7FA9CE"/>
                </a:solidFill>
                <a:latin typeface="Calibri"/>
                <a:ea typeface="Calibri"/>
                <a:cs typeface="Calibri"/>
                <a:sym typeface="Calibri"/>
              </a:rPr>
              <a:t>IP</a:t>
            </a:r>
            <a:r>
              <a:rPr b="1" lang="en-US" sz="1250">
                <a:solidFill>
                  <a:srgbClr val="7FA9CE"/>
                </a:solidFill>
                <a:latin typeface="Calibri"/>
                <a:ea typeface="Calibri"/>
                <a:cs typeface="Calibri"/>
                <a:sym typeface="Calibri"/>
              </a:rPr>
              <a:t> - Inflow from Poorer areas</a:t>
            </a:r>
            <a:endParaRPr b="1" i="0" sz="1250" u="none" cap="none" strike="noStrike">
              <a:solidFill>
                <a:srgbClr val="7FA9CE"/>
              </a:solidFill>
              <a:latin typeface="Calibri"/>
              <a:ea typeface="Calibri"/>
              <a:cs typeface="Calibri"/>
              <a:sym typeface="Calibri"/>
            </a:endParaRPr>
          </a:p>
          <a:p>
            <a:pPr indent="0" lvl="0" marL="0" marR="0" rtl="0" algn="l">
              <a:spcBef>
                <a:spcPts val="0"/>
              </a:spcBef>
              <a:spcAft>
                <a:spcPts val="0"/>
              </a:spcAft>
              <a:buClr>
                <a:srgbClr val="D95D39"/>
              </a:buClr>
              <a:buSzPts val="1250"/>
              <a:buFont typeface="Calibri"/>
              <a:buNone/>
            </a:pPr>
            <a:r>
              <a:rPr lang="en-US" sz="1250">
                <a:solidFill>
                  <a:srgbClr val="68788A"/>
                </a:solidFill>
                <a:latin typeface="Calibri"/>
                <a:ea typeface="Calibri"/>
                <a:cs typeface="Calibri"/>
                <a:sym typeface="Calibri"/>
              </a:rPr>
              <a:t>arriving from more-deprived areas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7"/>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METHODOLOGY · 3 OF 6</a:t>
            </a:r>
            <a:endParaRPr b="0" i="0" sz="1050" u="none" cap="none" strike="noStrike">
              <a:solidFill>
                <a:schemeClr val="dk1"/>
              </a:solidFill>
              <a:latin typeface="Calibri"/>
              <a:ea typeface="Calibri"/>
              <a:cs typeface="Calibri"/>
              <a:sym typeface="Calibri"/>
            </a:endParaRPr>
          </a:p>
        </p:txBody>
      </p:sp>
      <p:sp>
        <p:nvSpPr>
          <p:cNvPr id="97" name="Google Shape;97;p7"/>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Churn → </a:t>
            </a:r>
            <a:r>
              <a:rPr b="1" lang="en-US" sz="2600">
                <a:solidFill>
                  <a:srgbClr val="1C2B3A"/>
                </a:solidFill>
                <a:latin typeface="Cambria"/>
                <a:ea typeface="Cambria"/>
                <a:cs typeface="Cambria"/>
                <a:sym typeface="Cambria"/>
              </a:rPr>
              <a:t>A</a:t>
            </a:r>
            <a:r>
              <a:rPr b="1" i="0" lang="en-US" sz="2600" u="none" cap="none" strike="noStrike">
                <a:solidFill>
                  <a:srgbClr val="1C2B3A"/>
                </a:solidFill>
                <a:latin typeface="Cambria"/>
                <a:ea typeface="Cambria"/>
                <a:cs typeface="Cambria"/>
                <a:sym typeface="Cambria"/>
              </a:rPr>
              <a:t> restructuring typology</a:t>
            </a:r>
            <a:endParaRPr b="0" i="0" sz="2600" u="none" cap="none" strike="noStrike">
              <a:solidFill>
                <a:schemeClr val="dk1"/>
              </a:solidFill>
              <a:latin typeface="Calibri"/>
              <a:ea typeface="Calibri"/>
              <a:cs typeface="Calibri"/>
              <a:sym typeface="Calibri"/>
            </a:endParaRPr>
          </a:p>
        </p:txBody>
      </p:sp>
      <p:sp>
        <p:nvSpPr>
          <p:cNvPr id="98" name="Google Shape;98;p7"/>
          <p:cNvSpPr/>
          <p:nvPr/>
        </p:nvSpPr>
        <p:spPr>
          <a:xfrm>
            <a:off x="475488" y="1115568"/>
            <a:ext cx="8193024" cy="512064"/>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685800" y="1115568"/>
            <a:ext cx="7781544"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Which direction of ladder-crossing movement carries an area's turnover?</a:t>
            </a:r>
            <a:endParaRPr b="0" i="0" sz="1200" u="none" cap="none" strike="noStrike">
              <a:solidFill>
                <a:schemeClr val="dk1"/>
              </a:solidFill>
              <a:latin typeface="Calibri"/>
              <a:ea typeface="Calibri"/>
              <a:cs typeface="Calibri"/>
              <a:sym typeface="Calibri"/>
            </a:endParaRPr>
          </a:p>
        </p:txBody>
      </p:sp>
      <p:sp>
        <p:nvSpPr>
          <p:cNvPr id="100" name="Google Shape;100;p7"/>
          <p:cNvSpPr/>
          <p:nvPr/>
        </p:nvSpPr>
        <p:spPr>
          <a:xfrm>
            <a:off x="475488" y="3520440"/>
            <a:ext cx="1938528" cy="749808"/>
          </a:xfrm>
          <a:prstGeom prst="roundRect">
            <a:avLst>
              <a:gd fmla="val 7317" name="adj"/>
            </a:avLst>
          </a:prstGeom>
          <a:solidFill>
            <a:srgbClr val="3E7C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475488" y="3520440"/>
            <a:ext cx="193852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Counter-led</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dominance &lt; 0.48</a:t>
            </a:r>
            <a:endParaRPr b="0" i="0" sz="1350" u="none" cap="none" strike="noStrike">
              <a:solidFill>
                <a:schemeClr val="dk1"/>
              </a:solidFill>
              <a:latin typeface="Calibri"/>
              <a:ea typeface="Calibri"/>
              <a:cs typeface="Calibri"/>
              <a:sym typeface="Calibri"/>
            </a:endParaRPr>
          </a:p>
        </p:txBody>
      </p:sp>
      <p:sp>
        <p:nvSpPr>
          <p:cNvPr id="102" name="Google Shape;102;p7"/>
          <p:cNvSpPr/>
          <p:nvPr/>
        </p:nvSpPr>
        <p:spPr>
          <a:xfrm>
            <a:off x="2560320" y="3520440"/>
            <a:ext cx="1938528" cy="749808"/>
          </a:xfrm>
          <a:prstGeom prst="roundRect">
            <a:avLst>
              <a:gd fmla="val 7317" name="adj"/>
            </a:avLst>
          </a:prstGeom>
          <a:solidFill>
            <a:srgbClr val="D3D9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2560320" y="3520440"/>
            <a:ext cx="193852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350"/>
              <a:buFont typeface="Calibri"/>
              <a:buNone/>
            </a:pPr>
            <a:r>
              <a:rPr b="1" i="0" lang="en-US" sz="1350" u="none" cap="none" strike="noStrike">
                <a:solidFill>
                  <a:srgbClr val="1C2B3A"/>
                </a:solidFill>
                <a:latin typeface="Calibri"/>
                <a:ea typeface="Calibri"/>
                <a:cs typeface="Calibri"/>
                <a:sym typeface="Calibri"/>
              </a:rPr>
              <a:t>Symmetric</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B3A"/>
              </a:buClr>
              <a:buSzPts val="1050"/>
              <a:buFont typeface="Calibri"/>
              <a:buNone/>
            </a:pPr>
            <a:r>
              <a:rPr b="0" i="0" lang="en-US" sz="1050" u="none" cap="none" strike="noStrike">
                <a:solidFill>
                  <a:srgbClr val="1C2B3A"/>
                </a:solidFill>
                <a:latin typeface="Calibri"/>
                <a:ea typeface="Calibri"/>
                <a:cs typeface="Calibri"/>
                <a:sym typeface="Calibri"/>
              </a:rPr>
              <a:t>0.48 – 0.52</a:t>
            </a:r>
            <a:endParaRPr b="0" i="0" sz="1350" u="none" cap="none" strike="noStrike">
              <a:solidFill>
                <a:schemeClr val="dk1"/>
              </a:solidFill>
              <a:latin typeface="Calibri"/>
              <a:ea typeface="Calibri"/>
              <a:cs typeface="Calibri"/>
              <a:sym typeface="Calibri"/>
            </a:endParaRPr>
          </a:p>
        </p:txBody>
      </p:sp>
      <p:sp>
        <p:nvSpPr>
          <p:cNvPr id="104" name="Google Shape;104;p7"/>
          <p:cNvSpPr/>
          <p:nvPr/>
        </p:nvSpPr>
        <p:spPr>
          <a:xfrm>
            <a:off x="4645152" y="3520440"/>
            <a:ext cx="1938528" cy="749808"/>
          </a:xfrm>
          <a:prstGeom prst="roundRect">
            <a:avLst>
              <a:gd fmla="val 7317" name="adj"/>
            </a:avLst>
          </a:prstGeom>
          <a:solidFill>
            <a:srgbClr val="D95D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4645152" y="3520440"/>
            <a:ext cx="193852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Cascade-led</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dominance &gt; 0.52</a:t>
            </a:r>
            <a:endParaRPr b="0" i="0" sz="1350" u="none" cap="none" strike="noStrike">
              <a:solidFill>
                <a:schemeClr val="dk1"/>
              </a:solidFill>
              <a:latin typeface="Calibri"/>
              <a:ea typeface="Calibri"/>
              <a:cs typeface="Calibri"/>
              <a:sym typeface="Calibri"/>
            </a:endParaRPr>
          </a:p>
        </p:txBody>
      </p:sp>
      <p:sp>
        <p:nvSpPr>
          <p:cNvPr id="106" name="Google Shape;106;p7"/>
          <p:cNvSpPr/>
          <p:nvPr/>
        </p:nvSpPr>
        <p:spPr>
          <a:xfrm>
            <a:off x="6729984" y="3520440"/>
            <a:ext cx="1938528" cy="749808"/>
          </a:xfrm>
          <a:prstGeom prst="roundRect">
            <a:avLst>
              <a:gd fmla="val 7317" name="adj"/>
            </a:avLst>
          </a:prstGeom>
          <a:solidFill>
            <a:srgbClr val="8F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6729984" y="3520440"/>
            <a:ext cx="193852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Lateral</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cross-decile share &lt; P25</a:t>
            </a:r>
            <a:endParaRPr b="0" i="0" sz="1350" u="none" cap="none" strike="noStrike">
              <a:solidFill>
                <a:schemeClr val="dk1"/>
              </a:solidFill>
              <a:latin typeface="Calibri"/>
              <a:ea typeface="Calibri"/>
              <a:cs typeface="Calibri"/>
              <a:sym typeface="Calibri"/>
            </a:endParaRPr>
          </a:p>
        </p:txBody>
      </p:sp>
      <p:sp>
        <p:nvSpPr>
          <p:cNvPr id="108" name="Google Shape;108;p7"/>
          <p:cNvSpPr/>
          <p:nvPr/>
        </p:nvSpPr>
        <p:spPr>
          <a:xfrm>
            <a:off x="502925" y="4415425"/>
            <a:ext cx="81381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i="0" lang="en-US" sz="1250" u="none" cap="none" strike="noStrike">
                <a:solidFill>
                  <a:srgbClr val="D95D39"/>
                </a:solidFill>
                <a:latin typeface="Calibri"/>
                <a:ea typeface="Calibri"/>
                <a:cs typeface="Calibri"/>
                <a:sym typeface="Calibri"/>
              </a:rPr>
              <a:t>Cascade-led = more affluent inflows </a:t>
            </a:r>
            <a:r>
              <a:rPr b="1" lang="en-US" sz="1250">
                <a:solidFill>
                  <a:srgbClr val="D95D39"/>
                </a:solidFill>
                <a:latin typeface="Calibri"/>
                <a:ea typeface="Calibri"/>
                <a:cs typeface="Calibri"/>
                <a:sym typeface="Calibri"/>
              </a:rPr>
              <a:t>and poorer outflows, than the counter</a:t>
            </a:r>
            <a:endParaRPr b="1" i="0" sz="1250" u="none" cap="none" strike="noStrike">
              <a:solidFill>
                <a:srgbClr val="D95D39"/>
              </a:solidFill>
              <a:latin typeface="Calibri"/>
              <a:ea typeface="Calibri"/>
              <a:cs typeface="Calibri"/>
              <a:sym typeface="Calibri"/>
            </a:endParaRPr>
          </a:p>
          <a:p>
            <a:pPr indent="0" lvl="0" marL="0" marR="0" rtl="0" algn="l">
              <a:spcBef>
                <a:spcPts val="0"/>
              </a:spcBef>
              <a:spcAft>
                <a:spcPts val="0"/>
              </a:spcAft>
              <a:buClr>
                <a:srgbClr val="D95D39"/>
              </a:buClr>
              <a:buSzPts val="1250"/>
              <a:buFont typeface="Calibri"/>
              <a:buNone/>
            </a:pPr>
            <a:r>
              <a:rPr lang="en-US" sz="1250">
                <a:solidFill>
                  <a:srgbClr val="1C2B3A"/>
                </a:solidFill>
                <a:latin typeface="Calibri"/>
                <a:ea typeface="Calibri"/>
                <a:cs typeface="Calibri"/>
                <a:sym typeface="Calibri"/>
              </a:rPr>
              <a:t>This </a:t>
            </a:r>
            <a:r>
              <a:rPr b="0" i="0" lang="en-US" sz="1250" u="none" cap="none" strike="noStrike">
                <a:solidFill>
                  <a:srgbClr val="1C2B3A"/>
                </a:solidFill>
                <a:latin typeface="Calibri"/>
                <a:ea typeface="Calibri"/>
                <a:cs typeface="Calibri"/>
                <a:sym typeface="Calibri"/>
              </a:rPr>
              <a:t>is the </a:t>
            </a:r>
            <a:r>
              <a:rPr lang="en-US" sz="1250">
                <a:solidFill>
                  <a:srgbClr val="1C2B3A"/>
                </a:solidFill>
                <a:latin typeface="Calibri"/>
                <a:ea typeface="Calibri"/>
                <a:cs typeface="Calibri"/>
                <a:sym typeface="Calibri"/>
              </a:rPr>
              <a:t>operational version of the classic gentrification mechanism.</a:t>
            </a:r>
            <a:endParaRPr b="0" i="0" sz="1250" u="none" cap="none" strike="noStrike">
              <a:solidFill>
                <a:schemeClr val="dk1"/>
              </a:solidFill>
              <a:latin typeface="Calibri"/>
              <a:ea typeface="Calibri"/>
              <a:cs typeface="Calibri"/>
              <a:sym typeface="Calibri"/>
            </a:endParaRPr>
          </a:p>
        </p:txBody>
      </p:sp>
      <p:sp>
        <p:nvSpPr>
          <p:cNvPr id="109" name="Google Shape;109;p7"/>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10" name="Google Shape;110;p7"/>
          <p:cNvSpPr/>
          <p:nvPr/>
        </p:nvSpPr>
        <p:spPr>
          <a:xfrm>
            <a:off x="7125125" y="246938"/>
            <a:ext cx="1515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7CB1"/>
              </a:buClr>
              <a:buSzPts val="900"/>
              <a:buFont typeface="Calibri"/>
              <a:buNone/>
            </a:pPr>
            <a:r>
              <a:rPr b="1" lang="en-US" sz="900">
                <a:solidFill>
                  <a:srgbClr val="3E7CB1"/>
                </a:solidFill>
                <a:latin typeface="Calibri"/>
                <a:ea typeface="Calibri"/>
                <a:cs typeface="Calibri"/>
                <a:sym typeface="Calibri"/>
              </a:rPr>
              <a:t>MAIN</a:t>
            </a:r>
            <a:r>
              <a:rPr b="1" i="0" lang="en-US" sz="900" u="none" cap="none" strike="noStrike">
                <a:solidFill>
                  <a:srgbClr val="3E7CB1"/>
                </a:solidFill>
                <a:latin typeface="Calibri"/>
                <a:ea typeface="Calibri"/>
                <a:cs typeface="Calibri"/>
                <a:sym typeface="Calibri"/>
              </a:rPr>
              <a:t> DIAGNOSTIC </a:t>
            </a:r>
            <a:endParaRPr b="0" i="0" sz="900" u="none" cap="none" strike="noStrike">
              <a:solidFill>
                <a:srgbClr val="000000"/>
              </a:solidFill>
              <a:latin typeface="Calibri"/>
              <a:ea typeface="Calibri"/>
              <a:cs typeface="Calibri"/>
              <a:sym typeface="Calibri"/>
            </a:endParaRPr>
          </a:p>
        </p:txBody>
      </p:sp>
      <p:sp>
        <p:nvSpPr>
          <p:cNvPr id="111" name="Google Shape;111;p7"/>
          <p:cNvSpPr/>
          <p:nvPr/>
        </p:nvSpPr>
        <p:spPr>
          <a:xfrm>
            <a:off x="475488" y="1755648"/>
            <a:ext cx="3017400" cy="1572900"/>
          </a:xfrm>
          <a:prstGeom prst="roundRect">
            <a:avLst>
              <a:gd fmla="val 3488"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694944" y="1883664"/>
            <a:ext cx="2606100" cy="13260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C2B3A"/>
              </a:buClr>
              <a:buSzPts val="1200"/>
              <a:buFont typeface="Calibri"/>
              <a:buNone/>
            </a:pPr>
            <a:r>
              <a:rPr b="1" i="0" lang="en-US" sz="1200" u="none" cap="none" strike="noStrike">
                <a:solidFill>
                  <a:srgbClr val="1C2B3A"/>
                </a:solidFill>
                <a:latin typeface="Calibri"/>
                <a:ea typeface="Calibri"/>
                <a:cs typeface="Calibri"/>
                <a:sym typeface="Calibri"/>
              </a:rPr>
              <a:t>MEASURE — churn (addition)</a:t>
            </a:r>
            <a:endParaRPr b="0" i="0" sz="1200" u="none" cap="none" strike="noStrike">
              <a:solidFill>
                <a:srgbClr val="000000"/>
              </a:solidFill>
              <a:latin typeface="Calibri"/>
              <a:ea typeface="Calibri"/>
              <a:cs typeface="Calibri"/>
              <a:sym typeface="Calibri"/>
            </a:endParaRPr>
          </a:p>
          <a:p>
            <a:pPr indent="0" lvl="0" marL="0" marR="0" rtl="0" algn="l">
              <a:lnSpc>
                <a:spcPct val="128000"/>
              </a:lnSpc>
              <a:spcBef>
                <a:spcPts val="0"/>
              </a:spcBef>
              <a:spcAft>
                <a:spcPts val="0"/>
              </a:spcAft>
              <a:buClr>
                <a:srgbClr val="D95D39"/>
              </a:buClr>
              <a:buSzPts val="1200"/>
              <a:buFont typeface="Courier New"/>
              <a:buNone/>
            </a:pPr>
            <a:r>
              <a:rPr b="1" i="0" lang="en-US" sz="1200" u="none" cap="none" strike="noStrike">
                <a:solidFill>
                  <a:srgbClr val="D95D39"/>
                </a:solidFill>
                <a:latin typeface="Courier New"/>
                <a:ea typeface="Courier New"/>
                <a:cs typeface="Courier New"/>
                <a:sym typeface="Courier New"/>
              </a:rPr>
              <a:t>Cascade_Churn = IW + OP</a:t>
            </a:r>
            <a:endParaRPr b="0" i="0" sz="1200" u="none" cap="none" strike="noStrike">
              <a:solidFill>
                <a:srgbClr val="000000"/>
              </a:solidFill>
              <a:latin typeface="Calibri"/>
              <a:ea typeface="Calibri"/>
              <a:cs typeface="Calibri"/>
              <a:sym typeface="Calibri"/>
            </a:endParaRPr>
          </a:p>
          <a:p>
            <a:pPr indent="0" lvl="0" marL="0" marR="0" rtl="0" algn="l">
              <a:lnSpc>
                <a:spcPct val="128000"/>
              </a:lnSpc>
              <a:spcBef>
                <a:spcPts val="0"/>
              </a:spcBef>
              <a:spcAft>
                <a:spcPts val="0"/>
              </a:spcAft>
              <a:buClr>
                <a:srgbClr val="3E7CB1"/>
              </a:buClr>
              <a:buSzPts val="1200"/>
              <a:buFont typeface="Courier New"/>
              <a:buNone/>
            </a:pPr>
            <a:r>
              <a:rPr b="1" i="0" lang="en-US" sz="1200" u="none" cap="none" strike="noStrike">
                <a:solidFill>
                  <a:srgbClr val="3E7CB1"/>
                </a:solidFill>
                <a:latin typeface="Courier New"/>
                <a:ea typeface="Courier New"/>
                <a:cs typeface="Courier New"/>
                <a:sym typeface="Courier New"/>
              </a:rPr>
              <a:t>Counter_Churn = OW + IP</a:t>
            </a:r>
            <a:endParaRPr b="0" i="0" sz="1200" u="none" cap="none" strike="noStrike">
              <a:solidFill>
                <a:srgbClr val="000000"/>
              </a:solidFill>
              <a:latin typeface="Calibri"/>
              <a:ea typeface="Calibri"/>
              <a:cs typeface="Calibri"/>
              <a:sym typeface="Calibri"/>
            </a:endParaRPr>
          </a:p>
          <a:p>
            <a:pPr indent="0" lvl="0" marL="0" marR="0" rtl="0" algn="l">
              <a:lnSpc>
                <a:spcPct val="128000"/>
              </a:lnSpc>
              <a:spcBef>
                <a:spcPts val="0"/>
              </a:spcBef>
              <a:spcAft>
                <a:spcPts val="0"/>
              </a:spcAft>
              <a:buClr>
                <a:srgbClr val="68788A"/>
              </a:buClr>
              <a:buSzPts val="1000"/>
              <a:buFont typeface="Calibri"/>
              <a:buNone/>
            </a:pPr>
            <a:r>
              <a:rPr b="0" i="1" lang="en-US" sz="1000" u="none" cap="none" strike="noStrike">
                <a:solidFill>
                  <a:srgbClr val="68788A"/>
                </a:solidFill>
                <a:latin typeface="Calibri"/>
                <a:ea typeface="Calibri"/>
                <a:cs typeface="Calibri"/>
                <a:sym typeface="Calibri"/>
              </a:rPr>
              <a:t>after Dennett &amp; Stillwell (2008)</a:t>
            </a:r>
            <a:endParaRPr b="0" i="0" sz="1200" u="none" cap="none" strike="noStrike">
              <a:solidFill>
                <a:srgbClr val="000000"/>
              </a:solidFill>
              <a:latin typeface="Calibri"/>
              <a:ea typeface="Calibri"/>
              <a:cs typeface="Calibri"/>
              <a:sym typeface="Calibri"/>
            </a:endParaRPr>
          </a:p>
        </p:txBody>
      </p:sp>
      <p:sp>
        <p:nvSpPr>
          <p:cNvPr id="113" name="Google Shape;113;p7"/>
          <p:cNvSpPr/>
          <p:nvPr/>
        </p:nvSpPr>
        <p:spPr>
          <a:xfrm>
            <a:off x="3639312" y="1755648"/>
            <a:ext cx="5029200" cy="1572900"/>
          </a:xfrm>
          <a:prstGeom prst="roundRect">
            <a:avLst>
              <a:gd fmla="val 3488"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3858768" y="1828800"/>
            <a:ext cx="4617600" cy="14631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C2B3A"/>
              </a:buClr>
              <a:buSzPts val="1200"/>
              <a:buFont typeface="Calibri"/>
              <a:buNone/>
            </a:pPr>
            <a:r>
              <a:rPr b="1" i="0" lang="en-US" sz="1200" u="none" cap="none" strike="noStrike">
                <a:solidFill>
                  <a:srgbClr val="1C2B3A"/>
                </a:solidFill>
                <a:latin typeface="Calibri"/>
                <a:ea typeface="Calibri"/>
                <a:cs typeface="Calibri"/>
                <a:sym typeface="Calibri"/>
              </a:rPr>
              <a:t>CLASSIFY — two axes</a:t>
            </a:r>
            <a:endParaRPr b="0" i="0" sz="1200" u="none" cap="none" strike="noStrike">
              <a:solidFill>
                <a:srgbClr val="000000"/>
              </a:solidFill>
              <a:latin typeface="Calibri"/>
              <a:ea typeface="Calibri"/>
              <a:cs typeface="Calibri"/>
              <a:sym typeface="Calibri"/>
            </a:endParaRPr>
          </a:p>
          <a:p>
            <a:pPr indent="0" lvl="0" marL="0" marR="0" rtl="0" algn="l">
              <a:lnSpc>
                <a:spcPct val="112000"/>
              </a:lnSpc>
              <a:spcBef>
                <a:spcPts val="0"/>
              </a:spcBef>
              <a:spcAft>
                <a:spcPts val="0"/>
              </a:spcAft>
              <a:buClr>
                <a:srgbClr val="D95D39"/>
              </a:buClr>
              <a:buSzPts val="1050"/>
              <a:buFont typeface="Courier New"/>
              <a:buNone/>
            </a:pPr>
            <a:r>
              <a:rPr b="1" i="0" lang="en-US" sz="1050" u="none" cap="none" strike="noStrike">
                <a:solidFill>
                  <a:srgbClr val="D95D39"/>
                </a:solidFill>
                <a:latin typeface="Courier New"/>
                <a:ea typeface="Courier New"/>
                <a:cs typeface="Courier New"/>
                <a:sym typeface="Courier New"/>
              </a:rPr>
              <a:t>Cascade_Dominance =</a:t>
            </a:r>
            <a:endParaRPr b="0" i="0" sz="1200" u="none" cap="none" strike="noStrike">
              <a:solidFill>
                <a:srgbClr val="000000"/>
              </a:solidFill>
              <a:latin typeface="Calibri"/>
              <a:ea typeface="Calibri"/>
              <a:cs typeface="Calibri"/>
              <a:sym typeface="Calibri"/>
            </a:endParaRPr>
          </a:p>
          <a:p>
            <a:pPr indent="0" lvl="0" marL="0" marR="0" rtl="0" algn="l">
              <a:lnSpc>
                <a:spcPct val="112000"/>
              </a:lnSpc>
              <a:spcBef>
                <a:spcPts val="0"/>
              </a:spcBef>
              <a:spcAft>
                <a:spcPts val="0"/>
              </a:spcAft>
              <a:buClr>
                <a:srgbClr val="D95D39"/>
              </a:buClr>
              <a:buSzPts val="1050"/>
              <a:buFont typeface="Courier New"/>
              <a:buNone/>
            </a:pPr>
            <a:r>
              <a:rPr b="1" i="0" lang="en-US" sz="1050" u="none" cap="none" strike="noStrike">
                <a:solidFill>
                  <a:srgbClr val="D95D39"/>
                </a:solidFill>
                <a:latin typeface="Courier New"/>
                <a:ea typeface="Courier New"/>
                <a:cs typeface="Courier New"/>
                <a:sym typeface="Courier New"/>
              </a:rPr>
              <a:t>  Cascade_Churn / (Cascade_Churn + Counter_Churn)</a:t>
            </a:r>
            <a:endParaRPr b="0" i="0" sz="1200" u="none" cap="none" strike="noStrike">
              <a:solidFill>
                <a:srgbClr val="000000"/>
              </a:solidFill>
              <a:latin typeface="Calibri"/>
              <a:ea typeface="Calibri"/>
              <a:cs typeface="Calibri"/>
              <a:sym typeface="Calibri"/>
            </a:endParaRPr>
          </a:p>
          <a:p>
            <a:pPr indent="0" lvl="0" marL="0" marR="0" rtl="0" algn="l">
              <a:lnSpc>
                <a:spcPct val="112000"/>
              </a:lnSpc>
              <a:spcBef>
                <a:spcPts val="0"/>
              </a:spcBef>
              <a:spcAft>
                <a:spcPts val="0"/>
              </a:spcAft>
              <a:buClr>
                <a:srgbClr val="68788A"/>
              </a:buClr>
              <a:buSzPts val="950"/>
              <a:buFont typeface="Calibri"/>
              <a:buNone/>
            </a:pPr>
            <a:r>
              <a:rPr b="0" i="1" lang="en-US" sz="950" u="none" cap="none" strike="noStrike">
                <a:solidFill>
                  <a:srgbClr val="68788A"/>
                </a:solidFill>
                <a:latin typeface="Calibri"/>
                <a:ea typeface="Calibri"/>
                <a:cs typeface="Calibri"/>
                <a:sym typeface="Calibri"/>
              </a:rPr>
              <a:t>which direction carries the churn</a:t>
            </a:r>
            <a:endParaRPr b="0" i="0" sz="1200" u="none" cap="none" strike="noStrike">
              <a:solidFill>
                <a:srgbClr val="000000"/>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050"/>
              <a:buFont typeface="Courier New"/>
              <a:buNone/>
            </a:pPr>
            <a:r>
              <a:rPr b="1" i="0" lang="en-US" sz="1050" u="none" cap="none" strike="noStrike">
                <a:solidFill>
                  <a:srgbClr val="1C2B3A"/>
                </a:solidFill>
                <a:latin typeface="Courier New"/>
                <a:ea typeface="Courier New"/>
                <a:cs typeface="Courier New"/>
                <a:sym typeface="Courier New"/>
              </a:rPr>
              <a:t>Cross_Decile_Share =</a:t>
            </a:r>
            <a:endParaRPr b="0" i="0" sz="1200" u="none" cap="none" strike="noStrike">
              <a:solidFill>
                <a:srgbClr val="000000"/>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050"/>
              <a:buFont typeface="Courier New"/>
              <a:buNone/>
            </a:pPr>
            <a:r>
              <a:rPr b="1" i="0" lang="en-US" sz="1050" u="none" cap="none" strike="noStrike">
                <a:solidFill>
                  <a:srgbClr val="1C2B3A"/>
                </a:solidFill>
                <a:latin typeface="Courier New"/>
                <a:ea typeface="Courier New"/>
                <a:cs typeface="Courier New"/>
                <a:sym typeface="Courier New"/>
              </a:rPr>
              <a:t>  (Cascade_Churn + Counter_Churn) / Total_Migration</a:t>
            </a:r>
            <a:endParaRPr b="0" i="0" sz="1200" u="none" cap="none" strike="noStrike">
              <a:solidFill>
                <a:srgbClr val="000000"/>
              </a:solidFill>
              <a:latin typeface="Calibri"/>
              <a:ea typeface="Calibri"/>
              <a:cs typeface="Calibri"/>
              <a:sym typeface="Calibri"/>
            </a:endParaRPr>
          </a:p>
          <a:p>
            <a:pPr indent="0" lvl="0" marL="0" marR="0" rtl="0" algn="l">
              <a:lnSpc>
                <a:spcPct val="112000"/>
              </a:lnSpc>
              <a:spcBef>
                <a:spcPts val="0"/>
              </a:spcBef>
              <a:spcAft>
                <a:spcPts val="0"/>
              </a:spcAft>
              <a:buClr>
                <a:srgbClr val="68788A"/>
              </a:buClr>
              <a:buSzPts val="950"/>
              <a:buFont typeface="Calibri"/>
              <a:buNone/>
            </a:pPr>
            <a:r>
              <a:rPr b="0" i="1" lang="en-US" sz="950" u="none" cap="none" strike="noStrike">
                <a:solidFill>
                  <a:srgbClr val="68788A"/>
                </a:solidFill>
                <a:latin typeface="Calibri"/>
                <a:ea typeface="Calibri"/>
                <a:cs typeface="Calibri"/>
                <a:sym typeface="Calibri"/>
              </a:rPr>
              <a:t>how much turnover crosses the ladder (lateral moves stay in the denominator)</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8"/>
          <p:cNvSpPr/>
          <p:nvPr/>
        </p:nvSpPr>
        <p:spPr>
          <a:xfrm>
            <a:off x="502920" y="274320"/>
            <a:ext cx="8138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METHODOLOGY · 4 OF 6</a:t>
            </a:r>
            <a:endParaRPr b="0" i="0" sz="1050" u="none" cap="none" strike="noStrike">
              <a:solidFill>
                <a:schemeClr val="dk1"/>
              </a:solidFill>
              <a:latin typeface="Calibri"/>
              <a:ea typeface="Calibri"/>
              <a:cs typeface="Calibri"/>
              <a:sym typeface="Calibri"/>
            </a:endParaRPr>
          </a:p>
        </p:txBody>
      </p:sp>
      <p:sp>
        <p:nvSpPr>
          <p:cNvPr id="121" name="Google Shape;121;p8"/>
          <p:cNvSpPr/>
          <p:nvPr/>
        </p:nvSpPr>
        <p:spPr>
          <a:xfrm>
            <a:off x="457200" y="512064"/>
            <a:ext cx="8229600" cy="502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Net flows → </a:t>
            </a:r>
            <a:r>
              <a:rPr b="1" lang="en-US" sz="2600">
                <a:solidFill>
                  <a:srgbClr val="1C2B3A"/>
                </a:solidFill>
                <a:latin typeface="Cambria"/>
                <a:ea typeface="Cambria"/>
                <a:cs typeface="Cambria"/>
                <a:sym typeface="Cambria"/>
              </a:rPr>
              <a:t>A</a:t>
            </a:r>
            <a:r>
              <a:rPr b="1" i="0" lang="en-US" sz="2600" u="none" cap="none" strike="noStrike">
                <a:solidFill>
                  <a:srgbClr val="1C2B3A"/>
                </a:solidFill>
                <a:latin typeface="Cambria"/>
                <a:ea typeface="Cambria"/>
                <a:cs typeface="Cambria"/>
                <a:sym typeface="Cambria"/>
              </a:rPr>
              <a:t> sign-concordance matrix</a:t>
            </a:r>
            <a:endParaRPr b="0" i="0" sz="2600" u="none" cap="none" strike="noStrike">
              <a:solidFill>
                <a:schemeClr val="dk1"/>
              </a:solidFill>
              <a:latin typeface="Calibri"/>
              <a:ea typeface="Calibri"/>
              <a:cs typeface="Calibri"/>
              <a:sym typeface="Calibri"/>
            </a:endParaRPr>
          </a:p>
        </p:txBody>
      </p:sp>
      <p:sp>
        <p:nvSpPr>
          <p:cNvPr id="122" name="Google Shape;122;p8"/>
          <p:cNvSpPr/>
          <p:nvPr/>
        </p:nvSpPr>
        <p:spPr>
          <a:xfrm>
            <a:off x="475488" y="1115568"/>
            <a:ext cx="8193000" cy="512100"/>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685800" y="1115568"/>
            <a:ext cx="77814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Which way does the area sort on balance — and do its two directions agree?</a:t>
            </a:r>
            <a:endParaRPr b="0" i="0" sz="1200" u="none" cap="none" strike="noStrike">
              <a:solidFill>
                <a:schemeClr val="dk1"/>
              </a:solidFill>
              <a:latin typeface="Calibri"/>
              <a:ea typeface="Calibri"/>
              <a:cs typeface="Calibri"/>
              <a:sym typeface="Calibri"/>
            </a:endParaRPr>
          </a:p>
        </p:txBody>
      </p:sp>
      <p:sp>
        <p:nvSpPr>
          <p:cNvPr id="124" name="Google Shape;124;p8"/>
          <p:cNvSpPr/>
          <p:nvPr/>
        </p:nvSpPr>
        <p:spPr>
          <a:xfrm>
            <a:off x="475488" y="1920240"/>
            <a:ext cx="3063300" cy="1326000"/>
          </a:xfrm>
          <a:prstGeom prst="roundRect">
            <a:avLst>
              <a:gd fmla="val 4138"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685800" y="2048256"/>
            <a:ext cx="2743200" cy="1097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C2B3A"/>
              </a:buClr>
              <a:buSzPts val="1200"/>
              <a:buFont typeface="Calibri"/>
              <a:buNone/>
            </a:pPr>
            <a:r>
              <a:rPr b="1" i="0" lang="en-US" sz="1200" u="none" cap="none" strike="noStrike">
                <a:solidFill>
                  <a:srgbClr val="1C2B3A"/>
                </a:solidFill>
                <a:latin typeface="Calibri"/>
                <a:ea typeface="Calibri"/>
                <a:cs typeface="Calibri"/>
                <a:sym typeface="Calibri"/>
              </a:rPr>
              <a:t>MEASURE — net (subtraction)</a:t>
            </a: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D95D39"/>
              </a:buClr>
              <a:buSzPts val="1250"/>
              <a:buFont typeface="Courier New"/>
              <a:buNone/>
            </a:pPr>
            <a:r>
              <a:rPr b="1" i="0" lang="en-US" sz="1250" u="none" cap="none" strike="noStrike">
                <a:solidFill>
                  <a:srgbClr val="D95D39"/>
                </a:solidFill>
                <a:latin typeface="Courier New"/>
                <a:ea typeface="Courier New"/>
                <a:cs typeface="Courier New"/>
                <a:sym typeface="Courier New"/>
              </a:rPr>
              <a:t>Net_Cascade = IW − OP</a:t>
            </a: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E7CB1"/>
              </a:buClr>
              <a:buSzPts val="1250"/>
              <a:buFont typeface="Courier New"/>
              <a:buNone/>
            </a:pPr>
            <a:r>
              <a:rPr b="1" i="0" lang="en-US" sz="1250" u="none" cap="none" strike="noStrike">
                <a:solidFill>
                  <a:srgbClr val="3E7CB1"/>
                </a:solidFill>
                <a:latin typeface="Courier New"/>
                <a:ea typeface="Courier New"/>
                <a:cs typeface="Courier New"/>
                <a:sym typeface="Courier New"/>
              </a:rPr>
              <a:t>Net_Counter = OW − IP</a:t>
            </a:r>
            <a:endParaRPr b="0" i="0" sz="1200" u="none" cap="none" strike="noStrike">
              <a:solidFill>
                <a:schemeClr val="dk1"/>
              </a:solidFill>
              <a:latin typeface="Calibri"/>
              <a:ea typeface="Calibri"/>
              <a:cs typeface="Calibri"/>
              <a:sym typeface="Calibri"/>
            </a:endParaRPr>
          </a:p>
        </p:txBody>
      </p:sp>
      <p:sp>
        <p:nvSpPr>
          <p:cNvPr id="126" name="Google Shape;126;p8"/>
          <p:cNvSpPr/>
          <p:nvPr/>
        </p:nvSpPr>
        <p:spPr>
          <a:xfrm>
            <a:off x="685800" y="3520440"/>
            <a:ext cx="2743200" cy="640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C2B3A"/>
              </a:buClr>
              <a:buSzPts val="1200"/>
              <a:buFont typeface="Calibri"/>
              <a:buNone/>
            </a:pPr>
            <a:r>
              <a:rPr b="1" i="0" lang="en-US" sz="1200" u="none" cap="none" strike="noStrike">
                <a:solidFill>
                  <a:srgbClr val="1C2B3A"/>
                </a:solidFill>
                <a:latin typeface="Calibri"/>
                <a:ea typeface="Calibri"/>
                <a:cs typeface="Calibri"/>
                <a:sym typeface="Calibri"/>
              </a:rPr>
              <a:t>Diagonal = concordant</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68788A"/>
              </a:buClr>
              <a:buSzPts val="1200"/>
              <a:buFont typeface="Calibri"/>
              <a:buNone/>
            </a:pPr>
            <a:r>
              <a:rPr b="1" i="0" lang="en-US" sz="1200" u="none" cap="none" strike="noStrike">
                <a:solidFill>
                  <a:srgbClr val="68788A"/>
                </a:solidFill>
                <a:latin typeface="Calibri"/>
                <a:ea typeface="Calibri"/>
                <a:cs typeface="Calibri"/>
                <a:sym typeface="Calibri"/>
              </a:rPr>
              <a:t>Off-diagonal = divergent</a:t>
            </a:r>
            <a:endParaRPr b="0" i="0" sz="1200" u="none" cap="none" strike="noStrike">
              <a:solidFill>
                <a:schemeClr val="dk1"/>
              </a:solidFill>
              <a:latin typeface="Calibri"/>
              <a:ea typeface="Calibri"/>
              <a:cs typeface="Calibri"/>
              <a:sym typeface="Calibri"/>
            </a:endParaRPr>
          </a:p>
        </p:txBody>
      </p:sp>
      <p:sp>
        <p:nvSpPr>
          <p:cNvPr id="127" name="Google Shape;127;p8"/>
          <p:cNvSpPr/>
          <p:nvPr/>
        </p:nvSpPr>
        <p:spPr>
          <a:xfrm>
            <a:off x="4800600" y="1598711"/>
            <a:ext cx="3840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7CB1"/>
              </a:buClr>
              <a:buSzPts val="1050"/>
              <a:buFont typeface="Calibri"/>
              <a:buNone/>
            </a:pPr>
            <a:r>
              <a:rPr b="1" i="0" lang="en-US" sz="1050" u="none" cap="none" strike="noStrike">
                <a:solidFill>
                  <a:srgbClr val="3E7CB1"/>
                </a:solidFill>
                <a:latin typeface="Calibri"/>
                <a:ea typeface="Calibri"/>
                <a:cs typeface="Calibri"/>
                <a:sym typeface="Calibri"/>
              </a:rPr>
              <a:t>Net_Counter  (OW − IP)</a:t>
            </a:r>
            <a:endParaRPr b="0" i="0" sz="1050" u="none" cap="none" strike="noStrike">
              <a:solidFill>
                <a:schemeClr val="dk1"/>
              </a:solidFill>
              <a:latin typeface="Calibri"/>
              <a:ea typeface="Calibri"/>
              <a:cs typeface="Calibri"/>
              <a:sym typeface="Calibri"/>
            </a:endParaRPr>
          </a:p>
        </p:txBody>
      </p:sp>
      <p:sp>
        <p:nvSpPr>
          <p:cNvPr id="128" name="Google Shape;128;p8"/>
          <p:cNvSpPr/>
          <p:nvPr/>
        </p:nvSpPr>
        <p:spPr>
          <a:xfrm>
            <a:off x="4800600" y="1809023"/>
            <a:ext cx="1874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8788A"/>
              </a:buClr>
              <a:buSzPts val="1100"/>
              <a:buFont typeface="Calibri"/>
              <a:buNone/>
            </a:pPr>
            <a:r>
              <a:rPr b="1" i="0" lang="en-US" sz="1100" u="none" cap="none" strike="noStrike">
                <a:solidFill>
                  <a:srgbClr val="68788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9" name="Google Shape;129;p8"/>
          <p:cNvSpPr/>
          <p:nvPr/>
        </p:nvSpPr>
        <p:spPr>
          <a:xfrm>
            <a:off x="6766560" y="1809023"/>
            <a:ext cx="18744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8788A"/>
              </a:buClr>
              <a:buSzPts val="1100"/>
              <a:buFont typeface="Calibri"/>
              <a:buNone/>
            </a:pPr>
            <a:r>
              <a:rPr b="1" i="0" lang="en-US" sz="1100" u="none" cap="none" strike="noStrike">
                <a:solidFill>
                  <a:srgbClr val="68788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30" name="Google Shape;130;p8"/>
          <p:cNvSpPr/>
          <p:nvPr/>
        </p:nvSpPr>
        <p:spPr>
          <a:xfrm rot="-5400000">
            <a:off x="2944296" y="3061823"/>
            <a:ext cx="27432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5D39"/>
              </a:buClr>
              <a:buSzPts val="1050"/>
              <a:buFont typeface="Calibri"/>
              <a:buNone/>
            </a:pPr>
            <a:r>
              <a:rPr b="1" i="0" lang="en-US" sz="1050" u="none" cap="none" strike="noStrike">
                <a:solidFill>
                  <a:srgbClr val="D95D39"/>
                </a:solidFill>
                <a:latin typeface="Calibri"/>
                <a:ea typeface="Calibri"/>
                <a:cs typeface="Calibri"/>
                <a:sym typeface="Calibri"/>
              </a:rPr>
              <a:t>Net_Cascade  (IW − OP)</a:t>
            </a:r>
            <a:endParaRPr b="0" i="0" sz="1050" u="none" cap="none" strike="noStrike">
              <a:solidFill>
                <a:schemeClr val="dk1"/>
              </a:solidFill>
              <a:latin typeface="Calibri"/>
              <a:ea typeface="Calibri"/>
              <a:cs typeface="Calibri"/>
              <a:sym typeface="Calibri"/>
            </a:endParaRPr>
          </a:p>
        </p:txBody>
      </p:sp>
      <p:sp>
        <p:nvSpPr>
          <p:cNvPr id="131" name="Google Shape;131;p8"/>
          <p:cNvSpPr/>
          <p:nvPr/>
        </p:nvSpPr>
        <p:spPr>
          <a:xfrm>
            <a:off x="4498848" y="2412527"/>
            <a:ext cx="237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8788A"/>
              </a:buClr>
              <a:buSzPts val="1100"/>
              <a:buFont typeface="Calibri"/>
              <a:buNone/>
            </a:pPr>
            <a:r>
              <a:rPr b="1" i="0" lang="en-US" sz="1100" u="none" cap="none" strike="noStrike">
                <a:solidFill>
                  <a:srgbClr val="68788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32" name="Google Shape;132;p8"/>
          <p:cNvSpPr/>
          <p:nvPr/>
        </p:nvSpPr>
        <p:spPr>
          <a:xfrm>
            <a:off x="4498848" y="3674399"/>
            <a:ext cx="237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8788A"/>
              </a:buClr>
              <a:buSzPts val="1100"/>
              <a:buFont typeface="Calibri"/>
              <a:buNone/>
            </a:pPr>
            <a:r>
              <a:rPr b="1" i="0" lang="en-US" sz="1100" u="none" cap="none" strike="noStrike">
                <a:solidFill>
                  <a:srgbClr val="68788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33" name="Google Shape;133;p8"/>
          <p:cNvSpPr/>
          <p:nvPr/>
        </p:nvSpPr>
        <p:spPr>
          <a:xfrm>
            <a:off x="4736450" y="1964475"/>
            <a:ext cx="1938600" cy="1170300"/>
          </a:xfrm>
          <a:prstGeom prst="roundRect">
            <a:avLst>
              <a:gd fmla="val 4688" name="adj"/>
            </a:avLst>
          </a:prstGeom>
          <a:solidFill>
            <a:srgbClr val="1C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910328" y="1964471"/>
            <a:ext cx="1655100" cy="117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Upward Hub</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7EDF3"/>
              </a:buClr>
              <a:buSzPts val="1000"/>
              <a:buFont typeface="Calibri"/>
              <a:buNone/>
            </a:pPr>
            <a:r>
              <a:rPr b="0" i="0" lang="en-US" sz="1000" u="none" cap="none" strike="noStrike">
                <a:solidFill>
                  <a:srgbClr val="E7EDF3"/>
                </a:solidFill>
                <a:latin typeface="Calibri"/>
                <a:ea typeface="Calibri"/>
                <a:cs typeface="Calibri"/>
                <a:sym typeface="Calibri"/>
              </a:rPr>
              <a:t>both directions</a:t>
            </a:r>
            <a:endParaRPr b="0" i="0" sz="1300" u="none" cap="none" strike="noStrike">
              <a:solidFill>
                <a:schemeClr val="dk1"/>
              </a:solidFill>
              <a:latin typeface="Calibri"/>
              <a:ea typeface="Calibri"/>
              <a:cs typeface="Calibri"/>
              <a:sym typeface="Calibri"/>
            </a:endParaRPr>
          </a:p>
        </p:txBody>
      </p:sp>
      <p:sp>
        <p:nvSpPr>
          <p:cNvPr id="135" name="Google Shape;135;p8"/>
          <p:cNvSpPr/>
          <p:nvPr/>
        </p:nvSpPr>
        <p:spPr>
          <a:xfrm>
            <a:off x="6766550" y="1964475"/>
            <a:ext cx="1938600" cy="1170300"/>
          </a:xfrm>
          <a:prstGeom prst="roundRect">
            <a:avLst>
              <a:gd fmla="val 4688"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6876288" y="1964471"/>
            <a:ext cx="1655100" cy="117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300"/>
              <a:buFont typeface="Calibri"/>
              <a:buNone/>
            </a:pPr>
            <a:r>
              <a:rPr b="1" i="0" lang="en-US" sz="1300" u="none" cap="none" strike="noStrike">
                <a:solidFill>
                  <a:srgbClr val="1C2B3A"/>
                </a:solidFill>
                <a:latin typeface="Calibri"/>
                <a:ea typeface="Calibri"/>
                <a:cs typeface="Calibri"/>
                <a:sym typeface="Calibri"/>
              </a:rPr>
              <a:t>Net receiver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8788A"/>
              </a:buClr>
              <a:buSzPts val="1000"/>
              <a:buFont typeface="Calibri"/>
              <a:buNone/>
            </a:pPr>
            <a:r>
              <a:rPr b="0" i="0" lang="en-US" sz="1000" u="none" cap="none" strike="noStrike">
                <a:solidFill>
                  <a:srgbClr val="68788A"/>
                </a:solidFill>
                <a:latin typeface="Calibri"/>
                <a:ea typeface="Calibri"/>
                <a:cs typeface="Calibri"/>
                <a:sym typeface="Calibri"/>
              </a:rPr>
              <a:t>gains movers from both directions</a:t>
            </a:r>
            <a:endParaRPr b="0" i="0" sz="1300" u="none" cap="none" strike="noStrike">
              <a:solidFill>
                <a:schemeClr val="dk1"/>
              </a:solidFill>
              <a:latin typeface="Calibri"/>
              <a:ea typeface="Calibri"/>
              <a:cs typeface="Calibri"/>
              <a:sym typeface="Calibri"/>
            </a:endParaRPr>
          </a:p>
        </p:txBody>
      </p:sp>
      <p:sp>
        <p:nvSpPr>
          <p:cNvPr id="137" name="Google Shape;137;p8"/>
          <p:cNvSpPr/>
          <p:nvPr/>
        </p:nvSpPr>
        <p:spPr>
          <a:xfrm>
            <a:off x="4736400" y="3226350"/>
            <a:ext cx="1938600" cy="1170300"/>
          </a:xfrm>
          <a:prstGeom prst="roundRect">
            <a:avLst>
              <a:gd fmla="val 4688" name="adj"/>
            </a:avLst>
          </a:prstGeom>
          <a:solidFill>
            <a:srgbClr val="FBEAE2"/>
          </a:solidFill>
          <a:ln cap="flat" cmpd="sng" w="25400">
            <a:solidFill>
              <a:srgbClr val="D95D3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4910328" y="3226343"/>
            <a:ext cx="1655100" cy="117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300"/>
              <a:buFont typeface="Calibri"/>
              <a:buNone/>
            </a:pPr>
            <a:r>
              <a:rPr b="1" i="0" lang="en-US" sz="1300" u="none" cap="none" strike="noStrike">
                <a:solidFill>
                  <a:srgbClr val="1C2B3A"/>
                </a:solidFill>
                <a:latin typeface="Calibri"/>
                <a:ea typeface="Calibri"/>
                <a:cs typeface="Calibri"/>
                <a:sym typeface="Calibri"/>
              </a:rPr>
              <a:t>Net exporter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8788A"/>
              </a:buClr>
              <a:buSzPts val="1000"/>
              <a:buFont typeface="Calibri"/>
              <a:buNone/>
            </a:pPr>
            <a:r>
              <a:rPr b="0" i="0" lang="en-US" sz="1000" u="none" cap="none" strike="noStrike">
                <a:solidFill>
                  <a:srgbClr val="68788A"/>
                </a:solidFill>
                <a:latin typeface="Calibri"/>
                <a:ea typeface="Calibri"/>
                <a:cs typeface="Calibri"/>
                <a:sym typeface="Calibri"/>
              </a:rPr>
              <a:t>loses movers in both directions</a:t>
            </a:r>
            <a:endParaRPr b="0" i="0" sz="1300" u="none" cap="none" strike="noStrike">
              <a:solidFill>
                <a:schemeClr val="dk1"/>
              </a:solidFill>
              <a:latin typeface="Calibri"/>
              <a:ea typeface="Calibri"/>
              <a:cs typeface="Calibri"/>
              <a:sym typeface="Calibri"/>
            </a:endParaRPr>
          </a:p>
        </p:txBody>
      </p:sp>
      <p:sp>
        <p:nvSpPr>
          <p:cNvPr id="139" name="Google Shape;139;p8"/>
          <p:cNvSpPr/>
          <p:nvPr/>
        </p:nvSpPr>
        <p:spPr>
          <a:xfrm>
            <a:off x="6766560" y="3226343"/>
            <a:ext cx="1874400" cy="1170300"/>
          </a:xfrm>
          <a:prstGeom prst="roundRect">
            <a:avLst>
              <a:gd fmla="val 4688"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766550" y="3226350"/>
            <a:ext cx="1938600" cy="117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300"/>
              <a:buFont typeface="Calibri"/>
              <a:buNone/>
            </a:pPr>
            <a:r>
              <a:rPr b="1" i="0" lang="en-US" sz="1300" u="none" cap="none" strike="noStrike">
                <a:solidFill>
                  <a:srgbClr val="1C2B3A"/>
                </a:solidFill>
                <a:latin typeface="Calibri"/>
                <a:ea typeface="Calibri"/>
                <a:cs typeface="Calibri"/>
                <a:sym typeface="Calibri"/>
              </a:rPr>
              <a:t>Downward</a:t>
            </a:r>
            <a:r>
              <a:rPr b="1" lang="en-US" sz="1300">
                <a:solidFill>
                  <a:srgbClr val="1C2B3A"/>
                </a:solidFill>
                <a:latin typeface="Calibri"/>
                <a:ea typeface="Calibri"/>
                <a:cs typeface="Calibri"/>
                <a:sym typeface="Calibri"/>
              </a:rPr>
              <a:t> Hub</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8788A"/>
              </a:buClr>
              <a:buSzPts val="1000"/>
              <a:buFont typeface="Calibri"/>
              <a:buNone/>
            </a:pPr>
            <a:r>
              <a:rPr b="0" i="0" lang="en-US" sz="1000" u="none" cap="none" strike="noStrike">
                <a:solidFill>
                  <a:srgbClr val="68788A"/>
                </a:solidFill>
                <a:latin typeface="Calibri"/>
                <a:ea typeface="Calibri"/>
                <a:cs typeface="Calibri"/>
                <a:sym typeface="Calibri"/>
              </a:rPr>
              <a:t>both directions</a:t>
            </a:r>
            <a:endParaRPr b="0" i="0" sz="1300" u="none" cap="none" strike="noStrike">
              <a:solidFill>
                <a:schemeClr val="dk1"/>
              </a:solidFill>
              <a:latin typeface="Calibri"/>
              <a:ea typeface="Calibri"/>
              <a:cs typeface="Calibri"/>
              <a:sym typeface="Calibri"/>
            </a:endParaRPr>
          </a:p>
        </p:txBody>
      </p:sp>
      <p:sp>
        <p:nvSpPr>
          <p:cNvPr id="141" name="Google Shape;141;p8"/>
          <p:cNvSpPr/>
          <p:nvPr/>
        </p:nvSpPr>
        <p:spPr>
          <a:xfrm>
            <a:off x="8458200" y="4759452"/>
            <a:ext cx="3657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42" name="Google Shape;142;p8"/>
          <p:cNvSpPr/>
          <p:nvPr/>
        </p:nvSpPr>
        <p:spPr>
          <a:xfrm>
            <a:off x="6181543" y="263894"/>
            <a:ext cx="25236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7CB1"/>
              </a:buClr>
              <a:buSzPts val="900"/>
              <a:buFont typeface="Calibri"/>
              <a:buNone/>
            </a:pPr>
            <a:r>
              <a:rPr b="1" i="0" lang="en-US" sz="900" u="none" cap="none" strike="noStrike">
                <a:solidFill>
                  <a:srgbClr val="3E7CB1"/>
                </a:solidFill>
                <a:latin typeface="Calibri"/>
                <a:ea typeface="Calibri"/>
                <a:cs typeface="Calibri"/>
                <a:sym typeface="Calibri"/>
              </a:rPr>
              <a:t>SECONDARY DIAGNOSTIC — for 2021</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9"/>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METHODOLOGY · 5 OF 6</a:t>
            </a:r>
            <a:endParaRPr b="0" i="0" sz="1050" u="none" cap="none" strike="noStrike">
              <a:solidFill>
                <a:schemeClr val="dk1"/>
              </a:solidFill>
              <a:latin typeface="Calibri"/>
              <a:ea typeface="Calibri"/>
              <a:cs typeface="Calibri"/>
              <a:sym typeface="Calibri"/>
            </a:endParaRPr>
          </a:p>
        </p:txBody>
      </p:sp>
      <p:sp>
        <p:nvSpPr>
          <p:cNvPr id="149" name="Google Shape;149;p9"/>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Three frames — London-only stays the core</a:t>
            </a:r>
            <a:endParaRPr b="0" i="0" sz="2600" u="none" cap="none" strike="noStrike">
              <a:solidFill>
                <a:schemeClr val="dk1"/>
              </a:solidFill>
              <a:latin typeface="Calibri"/>
              <a:ea typeface="Calibri"/>
              <a:cs typeface="Calibri"/>
              <a:sym typeface="Calibri"/>
            </a:endParaRPr>
          </a:p>
        </p:txBody>
      </p:sp>
      <p:sp>
        <p:nvSpPr>
          <p:cNvPr id="150" name="Google Shape;150;p9"/>
          <p:cNvSpPr/>
          <p:nvPr/>
        </p:nvSpPr>
        <p:spPr>
          <a:xfrm>
            <a:off x="475488" y="1115568"/>
            <a:ext cx="8193024" cy="512064"/>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685800" y="1115568"/>
            <a:ext cx="7781544"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London is not a vacuum — so which ruler, and which flows?</a:t>
            </a:r>
            <a:endParaRPr b="0" i="0" sz="1200" u="none" cap="none" strike="noStrike">
              <a:solidFill>
                <a:schemeClr val="dk1"/>
              </a:solidFill>
              <a:latin typeface="Calibri"/>
              <a:ea typeface="Calibri"/>
              <a:cs typeface="Calibri"/>
              <a:sym typeface="Calibri"/>
            </a:endParaRPr>
          </a:p>
        </p:txBody>
      </p:sp>
      <p:sp>
        <p:nvSpPr>
          <p:cNvPr id="152" name="Google Shape;152;p9"/>
          <p:cNvSpPr/>
          <p:nvPr/>
        </p:nvSpPr>
        <p:spPr>
          <a:xfrm>
            <a:off x="548640" y="1947672"/>
            <a:ext cx="420624" cy="420624"/>
          </a:xfrm>
          <a:prstGeom prst="ellipse">
            <a:avLst/>
          </a:prstGeom>
          <a:solidFill>
            <a:srgbClr val="D95D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548640" y="194767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a:t>
            </a:r>
            <a:endParaRPr b="0" i="0" sz="1600" u="none" cap="none" strike="noStrike">
              <a:solidFill>
                <a:schemeClr val="dk1"/>
              </a:solidFill>
              <a:latin typeface="Calibri"/>
              <a:ea typeface="Calibri"/>
              <a:cs typeface="Calibri"/>
              <a:sym typeface="Calibri"/>
            </a:endParaRPr>
          </a:p>
        </p:txBody>
      </p:sp>
      <p:sp>
        <p:nvSpPr>
          <p:cNvPr id="154" name="Google Shape;154;p9"/>
          <p:cNvSpPr/>
          <p:nvPr/>
        </p:nvSpPr>
        <p:spPr>
          <a:xfrm>
            <a:off x="1188720" y="1874520"/>
            <a:ext cx="2286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250"/>
              <a:buFont typeface="Calibri"/>
              <a:buNone/>
            </a:pPr>
            <a:r>
              <a:rPr b="0" i="0" lang="en-US" sz="1250" u="none" cap="none" strike="noStrike">
                <a:solidFill>
                  <a:srgbClr val="1C2B3A"/>
                </a:solidFill>
                <a:latin typeface="Calibri"/>
                <a:ea typeface="Calibri"/>
                <a:cs typeface="Calibri"/>
                <a:sym typeface="Calibri"/>
              </a:rPr>
              <a:t>London-internal flows</a:t>
            </a:r>
            <a:endParaRPr b="0" i="0" sz="1250" u="none" cap="none" strike="noStrike">
              <a:solidFill>
                <a:schemeClr val="dk1"/>
              </a:solidFill>
              <a:latin typeface="Calibri"/>
              <a:ea typeface="Calibri"/>
              <a:cs typeface="Calibri"/>
              <a:sym typeface="Calibri"/>
            </a:endParaRPr>
          </a:p>
        </p:txBody>
      </p:sp>
      <p:sp>
        <p:nvSpPr>
          <p:cNvPr id="155" name="Google Shape;155;p9"/>
          <p:cNvSpPr/>
          <p:nvPr/>
        </p:nvSpPr>
        <p:spPr>
          <a:xfrm>
            <a:off x="3566160" y="1874520"/>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250"/>
              <a:buFont typeface="Calibri"/>
              <a:buNone/>
            </a:pPr>
            <a:r>
              <a:rPr b="0" i="0" lang="en-US" sz="1250" u="none" cap="none" strike="noStrike">
                <a:solidFill>
                  <a:srgbClr val="1C2B3A"/>
                </a:solidFill>
                <a:latin typeface="Calibri"/>
                <a:ea typeface="Calibri"/>
                <a:cs typeface="Calibri"/>
                <a:sym typeface="Calibri"/>
              </a:rPr>
              <a:t>London-relative ladder</a:t>
            </a:r>
            <a:endParaRPr b="0" i="0" sz="1250" u="none" cap="none" strike="noStrike">
              <a:solidFill>
                <a:schemeClr val="dk1"/>
              </a:solidFill>
              <a:latin typeface="Calibri"/>
              <a:ea typeface="Calibri"/>
              <a:cs typeface="Calibri"/>
              <a:sym typeface="Calibri"/>
            </a:endParaRPr>
          </a:p>
        </p:txBody>
      </p:sp>
      <p:sp>
        <p:nvSpPr>
          <p:cNvPr id="156" name="Google Shape;156;p9"/>
          <p:cNvSpPr/>
          <p:nvPr/>
        </p:nvSpPr>
        <p:spPr>
          <a:xfrm>
            <a:off x="5760720" y="1874520"/>
            <a:ext cx="2194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50"/>
              <a:buFont typeface="Calibri"/>
              <a:buNone/>
            </a:pPr>
            <a:r>
              <a:rPr b="1" i="0" lang="en-US" sz="1250" u="none" cap="none" strike="noStrike">
                <a:solidFill>
                  <a:srgbClr val="D95D39"/>
                </a:solidFill>
                <a:latin typeface="Calibri"/>
                <a:ea typeface="Calibri"/>
                <a:cs typeface="Calibri"/>
                <a:sym typeface="Calibri"/>
              </a:rPr>
              <a:t>CORE</a:t>
            </a:r>
            <a:endParaRPr b="0" i="0" sz="1250" u="none" cap="none" strike="noStrike">
              <a:solidFill>
                <a:schemeClr val="dk1"/>
              </a:solidFill>
              <a:latin typeface="Calibri"/>
              <a:ea typeface="Calibri"/>
              <a:cs typeface="Calibri"/>
              <a:sym typeface="Calibri"/>
            </a:endParaRPr>
          </a:p>
        </p:txBody>
      </p:sp>
      <p:sp>
        <p:nvSpPr>
          <p:cNvPr id="157" name="Google Shape;157;p9"/>
          <p:cNvSpPr/>
          <p:nvPr/>
        </p:nvSpPr>
        <p:spPr>
          <a:xfrm>
            <a:off x="548640" y="2606040"/>
            <a:ext cx="420624" cy="420624"/>
          </a:xfrm>
          <a:prstGeom prst="ellipse">
            <a:avLst/>
          </a:prstGeom>
          <a:solidFill>
            <a:srgbClr val="AEB9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548640" y="260604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B</a:t>
            </a:r>
            <a:endParaRPr b="0" i="0" sz="1600" u="none" cap="none" strike="noStrike">
              <a:solidFill>
                <a:schemeClr val="dk1"/>
              </a:solidFill>
              <a:latin typeface="Calibri"/>
              <a:ea typeface="Calibri"/>
              <a:cs typeface="Calibri"/>
              <a:sym typeface="Calibri"/>
            </a:endParaRPr>
          </a:p>
        </p:txBody>
      </p:sp>
      <p:sp>
        <p:nvSpPr>
          <p:cNvPr id="159" name="Google Shape;159;p9"/>
          <p:cNvSpPr/>
          <p:nvPr/>
        </p:nvSpPr>
        <p:spPr>
          <a:xfrm>
            <a:off x="1188720" y="2532888"/>
            <a:ext cx="2286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250"/>
              <a:buFont typeface="Calibri"/>
              <a:buNone/>
            </a:pPr>
            <a:r>
              <a:rPr b="0" i="0" lang="en-US" sz="1250" u="none" cap="none" strike="noStrike">
                <a:solidFill>
                  <a:srgbClr val="1C2B3A"/>
                </a:solidFill>
                <a:latin typeface="Calibri"/>
                <a:ea typeface="Calibri"/>
                <a:cs typeface="Calibri"/>
                <a:sym typeface="Calibri"/>
              </a:rPr>
              <a:t>London-internal flows</a:t>
            </a:r>
            <a:endParaRPr b="0" i="0" sz="1250" u="none" cap="none" strike="noStrike">
              <a:solidFill>
                <a:schemeClr val="dk1"/>
              </a:solidFill>
              <a:latin typeface="Calibri"/>
              <a:ea typeface="Calibri"/>
              <a:cs typeface="Calibri"/>
              <a:sym typeface="Calibri"/>
            </a:endParaRPr>
          </a:p>
        </p:txBody>
      </p:sp>
      <p:sp>
        <p:nvSpPr>
          <p:cNvPr id="160" name="Google Shape;160;p9"/>
          <p:cNvSpPr/>
          <p:nvPr/>
        </p:nvSpPr>
        <p:spPr>
          <a:xfrm>
            <a:off x="3566160" y="2532888"/>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250"/>
              <a:buFont typeface="Calibri"/>
              <a:buNone/>
            </a:pPr>
            <a:r>
              <a:rPr b="0" i="0" lang="en-US" sz="1250" u="none" cap="none" strike="noStrike">
                <a:solidFill>
                  <a:srgbClr val="1C2B3A"/>
                </a:solidFill>
                <a:latin typeface="Calibri"/>
                <a:ea typeface="Calibri"/>
                <a:cs typeface="Calibri"/>
                <a:sym typeface="Calibri"/>
              </a:rPr>
              <a:t>National ladder</a:t>
            </a:r>
            <a:endParaRPr b="0" i="0" sz="1250" u="none" cap="none" strike="noStrike">
              <a:solidFill>
                <a:schemeClr val="dk1"/>
              </a:solidFill>
              <a:latin typeface="Calibri"/>
              <a:ea typeface="Calibri"/>
              <a:cs typeface="Calibri"/>
              <a:sym typeface="Calibri"/>
            </a:endParaRPr>
          </a:p>
        </p:txBody>
      </p:sp>
      <p:sp>
        <p:nvSpPr>
          <p:cNvPr id="161" name="Google Shape;161;p9"/>
          <p:cNvSpPr/>
          <p:nvPr/>
        </p:nvSpPr>
        <p:spPr>
          <a:xfrm>
            <a:off x="5760720" y="2532888"/>
            <a:ext cx="21945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250"/>
              <a:buFont typeface="Calibri"/>
              <a:buNone/>
            </a:pPr>
            <a:r>
              <a:rPr b="0" i="0" lang="en-US" sz="1250" u="none" cap="none" strike="noStrike">
                <a:solidFill>
                  <a:srgbClr val="68788A"/>
                </a:solidFill>
                <a:latin typeface="Calibri"/>
                <a:ea typeface="Calibri"/>
                <a:cs typeface="Calibri"/>
                <a:sym typeface="Calibri"/>
              </a:rPr>
              <a:t>isolates re-ranking</a:t>
            </a:r>
            <a:endParaRPr b="0" i="0" sz="1250" u="none" cap="none" strike="noStrike">
              <a:solidFill>
                <a:schemeClr val="dk1"/>
              </a:solidFill>
              <a:latin typeface="Calibri"/>
              <a:ea typeface="Calibri"/>
              <a:cs typeface="Calibri"/>
              <a:sym typeface="Calibri"/>
            </a:endParaRPr>
          </a:p>
        </p:txBody>
      </p:sp>
      <p:sp>
        <p:nvSpPr>
          <p:cNvPr id="162" name="Google Shape;162;p9"/>
          <p:cNvSpPr/>
          <p:nvPr/>
        </p:nvSpPr>
        <p:spPr>
          <a:xfrm>
            <a:off x="548640" y="3264408"/>
            <a:ext cx="420624" cy="420624"/>
          </a:xfrm>
          <a:prstGeom prst="ellipse">
            <a:avLst/>
          </a:prstGeom>
          <a:solidFill>
            <a:srgbClr val="AEB9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548640" y="326440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C</a:t>
            </a:r>
            <a:endParaRPr b="0" i="0" sz="1600" u="none" cap="none" strike="noStrike">
              <a:solidFill>
                <a:schemeClr val="dk1"/>
              </a:solidFill>
              <a:latin typeface="Calibri"/>
              <a:ea typeface="Calibri"/>
              <a:cs typeface="Calibri"/>
              <a:sym typeface="Calibri"/>
            </a:endParaRPr>
          </a:p>
        </p:txBody>
      </p:sp>
      <p:sp>
        <p:nvSpPr>
          <p:cNvPr id="164" name="Google Shape;164;p9"/>
          <p:cNvSpPr/>
          <p:nvPr/>
        </p:nvSpPr>
        <p:spPr>
          <a:xfrm>
            <a:off x="1188720" y="3191256"/>
            <a:ext cx="2286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250"/>
              <a:buFont typeface="Calibri"/>
              <a:buNone/>
            </a:pPr>
            <a:r>
              <a:rPr b="0" i="0" lang="en-US" sz="1250" u="none" cap="none" strike="noStrike">
                <a:solidFill>
                  <a:srgbClr val="1C2B3A"/>
                </a:solidFill>
                <a:latin typeface="Calibri"/>
                <a:ea typeface="Calibri"/>
                <a:cs typeface="Calibri"/>
                <a:sym typeface="Calibri"/>
              </a:rPr>
              <a:t>+ external flows</a:t>
            </a:r>
            <a:endParaRPr b="0" i="0" sz="1250" u="none" cap="none" strike="noStrike">
              <a:solidFill>
                <a:schemeClr val="dk1"/>
              </a:solidFill>
              <a:latin typeface="Calibri"/>
              <a:ea typeface="Calibri"/>
              <a:cs typeface="Calibri"/>
              <a:sym typeface="Calibri"/>
            </a:endParaRPr>
          </a:p>
        </p:txBody>
      </p:sp>
      <p:sp>
        <p:nvSpPr>
          <p:cNvPr id="165" name="Google Shape;165;p9"/>
          <p:cNvSpPr/>
          <p:nvPr/>
        </p:nvSpPr>
        <p:spPr>
          <a:xfrm>
            <a:off x="3566160" y="3191256"/>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250"/>
              <a:buFont typeface="Calibri"/>
              <a:buNone/>
            </a:pPr>
            <a:r>
              <a:rPr b="0" i="0" lang="en-US" sz="1250" u="none" cap="none" strike="noStrike">
                <a:solidFill>
                  <a:srgbClr val="1C2B3A"/>
                </a:solidFill>
                <a:latin typeface="Calibri"/>
                <a:ea typeface="Calibri"/>
                <a:cs typeface="Calibri"/>
                <a:sym typeface="Calibri"/>
              </a:rPr>
              <a:t>National ladder</a:t>
            </a:r>
            <a:endParaRPr b="0" i="0" sz="1250" u="none" cap="none" strike="noStrike">
              <a:solidFill>
                <a:schemeClr val="dk1"/>
              </a:solidFill>
              <a:latin typeface="Calibri"/>
              <a:ea typeface="Calibri"/>
              <a:cs typeface="Calibri"/>
              <a:sym typeface="Calibri"/>
            </a:endParaRPr>
          </a:p>
        </p:txBody>
      </p:sp>
      <p:sp>
        <p:nvSpPr>
          <p:cNvPr id="166" name="Google Shape;166;p9"/>
          <p:cNvSpPr/>
          <p:nvPr/>
        </p:nvSpPr>
        <p:spPr>
          <a:xfrm>
            <a:off x="5760720" y="3191256"/>
            <a:ext cx="2194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250"/>
              <a:buFont typeface="Calibri"/>
              <a:buNone/>
            </a:pPr>
            <a:r>
              <a:rPr b="0" i="0" lang="en-US" sz="1250" u="none" cap="none" strike="noStrike">
                <a:solidFill>
                  <a:srgbClr val="68788A"/>
                </a:solidFill>
                <a:latin typeface="Calibri"/>
                <a:ea typeface="Calibri"/>
                <a:cs typeface="Calibri"/>
                <a:sym typeface="Calibri"/>
              </a:rPr>
              <a:t>adds boundary effects</a:t>
            </a:r>
            <a:endParaRPr b="0" i="0" sz="1250" u="none" cap="none" strike="noStrike">
              <a:solidFill>
                <a:schemeClr val="dk1"/>
              </a:solidFill>
              <a:latin typeface="Calibri"/>
              <a:ea typeface="Calibri"/>
              <a:cs typeface="Calibri"/>
              <a:sym typeface="Calibri"/>
            </a:endParaRPr>
          </a:p>
        </p:txBody>
      </p:sp>
      <p:sp>
        <p:nvSpPr>
          <p:cNvPr id="167" name="Google Shape;167;p9"/>
          <p:cNvSpPr/>
          <p:nvPr/>
        </p:nvSpPr>
        <p:spPr>
          <a:xfrm>
            <a:off x="1188720" y="3858768"/>
            <a:ext cx="6858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250"/>
              <a:buFont typeface="Courier New"/>
              <a:buNone/>
            </a:pPr>
            <a:r>
              <a:rPr b="1" lang="en-US" sz="1250">
                <a:solidFill>
                  <a:srgbClr val="1C2B3A"/>
                </a:solidFill>
                <a:latin typeface="Courier New"/>
                <a:ea typeface="Courier New"/>
                <a:cs typeface="Courier New"/>
                <a:sym typeface="Courier New"/>
              </a:rPr>
              <a:t>A</a:t>
            </a:r>
            <a:r>
              <a:rPr b="1" i="0" lang="en-US" sz="1250" u="none" cap="none" strike="noStrike">
                <a:solidFill>
                  <a:srgbClr val="1C2B3A"/>
                </a:solidFill>
                <a:latin typeface="Courier New"/>
                <a:ea typeface="Courier New"/>
                <a:cs typeface="Courier New"/>
                <a:sym typeface="Courier New"/>
              </a:rPr>
              <a:t> </a:t>
            </a:r>
            <a:r>
              <a:rPr lang="en-US" sz="1250">
                <a:solidFill>
                  <a:schemeClr val="dk1"/>
                </a:solidFill>
                <a:latin typeface="Calibri"/>
                <a:ea typeface="Calibri"/>
                <a:cs typeface="Calibri"/>
                <a:sym typeface="Calibri"/>
              </a:rPr>
              <a:t>→</a:t>
            </a:r>
            <a:r>
              <a:rPr b="1" i="0" lang="en-US" sz="1250" u="none" cap="none" strike="noStrike">
                <a:solidFill>
                  <a:srgbClr val="1C2B3A"/>
                </a:solidFill>
                <a:latin typeface="Courier New"/>
                <a:ea typeface="Courier New"/>
                <a:cs typeface="Courier New"/>
                <a:sym typeface="Courier New"/>
              </a:rPr>
              <a:t> </a:t>
            </a:r>
            <a:r>
              <a:rPr b="1" lang="en-US" sz="1250">
                <a:solidFill>
                  <a:srgbClr val="1C2B3A"/>
                </a:solidFill>
                <a:latin typeface="Courier New"/>
                <a:ea typeface="Courier New"/>
                <a:cs typeface="Courier New"/>
                <a:sym typeface="Courier New"/>
              </a:rPr>
              <a:t>B: </a:t>
            </a:r>
            <a:r>
              <a:rPr lang="en-US" sz="1250">
                <a:solidFill>
                  <a:srgbClr val="68788A"/>
                </a:solidFill>
                <a:latin typeface="Calibri"/>
                <a:ea typeface="Calibri"/>
                <a:cs typeface="Calibri"/>
                <a:sym typeface="Calibri"/>
              </a:rPr>
              <a:t>change the ladder only</a:t>
            </a:r>
            <a:r>
              <a:rPr b="0" i="0" lang="en-US" sz="1250" u="none" cap="none" strike="noStrike">
                <a:solidFill>
                  <a:srgbClr val="68788A"/>
                </a:solidFill>
                <a:latin typeface="Calibri"/>
                <a:ea typeface="Calibri"/>
                <a:cs typeface="Calibri"/>
                <a:sym typeface="Calibri"/>
              </a:rPr>
              <a:t>          </a:t>
            </a:r>
            <a:r>
              <a:rPr b="1" lang="en-US" sz="1250">
                <a:solidFill>
                  <a:srgbClr val="1C2B3A"/>
                </a:solidFill>
                <a:latin typeface="Courier New"/>
                <a:ea typeface="Courier New"/>
                <a:cs typeface="Courier New"/>
                <a:sym typeface="Courier New"/>
              </a:rPr>
              <a:t>B</a:t>
            </a:r>
            <a:r>
              <a:rPr b="1" i="0" lang="en-US" sz="1250" u="none" cap="none" strike="noStrike">
                <a:solidFill>
                  <a:srgbClr val="1C2B3A"/>
                </a:solidFill>
                <a:latin typeface="Courier New"/>
                <a:ea typeface="Courier New"/>
                <a:cs typeface="Courier New"/>
                <a:sym typeface="Courier New"/>
              </a:rPr>
              <a:t> </a:t>
            </a:r>
            <a:r>
              <a:rPr lang="en-US" sz="1250">
                <a:solidFill>
                  <a:schemeClr val="dk1"/>
                </a:solidFill>
                <a:latin typeface="Calibri"/>
                <a:ea typeface="Calibri"/>
                <a:cs typeface="Calibri"/>
                <a:sym typeface="Calibri"/>
              </a:rPr>
              <a:t>→</a:t>
            </a:r>
            <a:r>
              <a:rPr b="1" i="0" lang="en-US" sz="1250" u="none" cap="none" strike="noStrike">
                <a:solidFill>
                  <a:srgbClr val="1C2B3A"/>
                </a:solidFill>
                <a:latin typeface="Courier New"/>
                <a:ea typeface="Courier New"/>
                <a:cs typeface="Courier New"/>
                <a:sym typeface="Courier New"/>
              </a:rPr>
              <a:t> </a:t>
            </a:r>
            <a:r>
              <a:rPr b="1" lang="en-US" sz="1250">
                <a:solidFill>
                  <a:srgbClr val="1C2B3A"/>
                </a:solidFill>
                <a:latin typeface="Courier New"/>
                <a:ea typeface="Courier New"/>
                <a:cs typeface="Courier New"/>
                <a:sym typeface="Courier New"/>
              </a:rPr>
              <a:t>C: </a:t>
            </a:r>
            <a:r>
              <a:rPr b="0" i="0" lang="en-US" sz="1250" u="none" cap="none" strike="noStrike">
                <a:solidFill>
                  <a:srgbClr val="68788A"/>
                </a:solidFill>
                <a:latin typeface="Calibri"/>
                <a:ea typeface="Calibri"/>
                <a:cs typeface="Calibri"/>
                <a:sym typeface="Calibri"/>
              </a:rPr>
              <a:t> </a:t>
            </a:r>
            <a:r>
              <a:rPr lang="en-US" sz="1250">
                <a:solidFill>
                  <a:srgbClr val="68788A"/>
                </a:solidFill>
                <a:latin typeface="Calibri"/>
                <a:ea typeface="Calibri"/>
                <a:cs typeface="Calibri"/>
                <a:sym typeface="Calibri"/>
              </a:rPr>
              <a:t>add external flows only</a:t>
            </a:r>
            <a:endParaRPr b="0" i="0" sz="1250" u="none" cap="none" strike="noStrike">
              <a:solidFill>
                <a:schemeClr val="dk1"/>
              </a:solidFill>
              <a:latin typeface="Calibri"/>
              <a:ea typeface="Calibri"/>
              <a:cs typeface="Calibri"/>
              <a:sym typeface="Calibri"/>
            </a:endParaRPr>
          </a:p>
        </p:txBody>
      </p:sp>
      <p:sp>
        <p:nvSpPr>
          <p:cNvPr id="168" name="Google Shape;168;p9"/>
          <p:cNvSpPr/>
          <p:nvPr/>
        </p:nvSpPr>
        <p:spPr>
          <a:xfrm>
            <a:off x="475500" y="4297675"/>
            <a:ext cx="8010000" cy="657900"/>
          </a:xfrm>
          <a:prstGeom prst="roundRect">
            <a:avLst>
              <a:gd fmla="val 9677" name="adj"/>
            </a:avLst>
          </a:prstGeom>
          <a:solidFill>
            <a:srgbClr val="E8F0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713225" y="4297674"/>
            <a:ext cx="7772400" cy="65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7CB1"/>
              </a:buClr>
              <a:buSzPts val="1600"/>
              <a:buFont typeface="Calibri"/>
              <a:buNone/>
            </a:pPr>
            <a:r>
              <a:rPr b="1" lang="en-US" sz="1600">
                <a:solidFill>
                  <a:srgbClr val="3E7CB1"/>
                </a:solidFill>
                <a:latin typeface="Calibri"/>
                <a:ea typeface="Calibri"/>
                <a:cs typeface="Calibri"/>
                <a:sym typeface="Calibri"/>
              </a:rPr>
              <a:t>~</a:t>
            </a:r>
            <a:r>
              <a:rPr b="1" i="0" lang="en-US" sz="1600" u="none" cap="none" strike="noStrike">
                <a:solidFill>
                  <a:srgbClr val="3E7CB1"/>
                </a:solidFill>
                <a:latin typeface="Calibri"/>
                <a:ea typeface="Calibri"/>
                <a:cs typeface="Calibri"/>
                <a:sym typeface="Calibri"/>
              </a:rPr>
              <a:t>69% </a:t>
            </a:r>
            <a:r>
              <a:rPr b="0" i="0" lang="en-US" sz="1200" u="none" cap="none" strike="noStrike">
                <a:solidFill>
                  <a:srgbClr val="1C2B3A"/>
                </a:solidFill>
                <a:latin typeface="Calibri"/>
                <a:ea typeface="Calibri"/>
                <a:cs typeface="Calibri"/>
                <a:sym typeface="Calibri"/>
              </a:rPr>
              <a:t>of London MSOAs sit below national D6</a:t>
            </a:r>
            <a:endParaRPr sz="1200">
              <a:solidFill>
                <a:srgbClr val="1C2B3A"/>
              </a:solidFill>
              <a:latin typeface="Calibri"/>
              <a:ea typeface="Calibri"/>
              <a:cs typeface="Calibri"/>
              <a:sym typeface="Calibri"/>
            </a:endParaRPr>
          </a:p>
          <a:p>
            <a:pPr indent="0" lvl="0" marL="0" marR="0" rtl="0" algn="l">
              <a:spcBef>
                <a:spcPts val="0"/>
              </a:spcBef>
              <a:spcAft>
                <a:spcPts val="0"/>
              </a:spcAft>
              <a:buClr>
                <a:srgbClr val="3E7CB1"/>
              </a:buClr>
              <a:buSzPts val="1600"/>
              <a:buFont typeface="Calibri"/>
              <a:buNone/>
            </a:pPr>
            <a:r>
              <a:rPr lang="en-US" sz="1200">
                <a:solidFill>
                  <a:srgbClr val="1C2B3A"/>
                </a:solidFill>
                <a:latin typeface="Calibri"/>
                <a:ea typeface="Calibri"/>
                <a:cs typeface="Calibri"/>
                <a:sym typeface="Calibri"/>
              </a:rPr>
              <a:t>         T</a:t>
            </a:r>
            <a:r>
              <a:rPr b="0" i="0" lang="en-US" sz="1200" u="none" cap="none" strike="noStrike">
                <a:solidFill>
                  <a:srgbClr val="1C2B3A"/>
                </a:solidFill>
                <a:latin typeface="Calibri"/>
                <a:ea typeface="Calibri"/>
                <a:cs typeface="Calibri"/>
                <a:sym typeface="Calibri"/>
              </a:rPr>
              <a:t>he national ladder compresses London, so Frame A stays the faithful gentrification lens.</a:t>
            </a:r>
            <a:endParaRPr b="0" i="0" sz="1600" u="none" cap="none" strike="noStrike">
              <a:solidFill>
                <a:schemeClr val="dk1"/>
              </a:solidFill>
              <a:latin typeface="Calibri"/>
              <a:ea typeface="Calibri"/>
              <a:cs typeface="Calibri"/>
              <a:sym typeface="Calibri"/>
            </a:endParaRPr>
          </a:p>
        </p:txBody>
      </p:sp>
      <p:sp>
        <p:nvSpPr>
          <p:cNvPr id="170" name="Google Shape;170;p9"/>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0"/>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METHODOLOGY · 6 OF 6</a:t>
            </a:r>
            <a:endParaRPr b="0" i="0" sz="1050" u="none" cap="none" strike="noStrike">
              <a:solidFill>
                <a:schemeClr val="dk1"/>
              </a:solidFill>
              <a:latin typeface="Calibri"/>
              <a:ea typeface="Calibri"/>
              <a:cs typeface="Calibri"/>
              <a:sym typeface="Calibri"/>
            </a:endParaRPr>
          </a:p>
        </p:txBody>
      </p:sp>
      <p:sp>
        <p:nvSpPr>
          <p:cNvPr id="177" name="Google Shape;177;p10"/>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Three independent checks</a:t>
            </a:r>
            <a:endParaRPr b="0" i="0" sz="2600" u="none" cap="none" strike="noStrike">
              <a:solidFill>
                <a:schemeClr val="dk1"/>
              </a:solidFill>
              <a:latin typeface="Calibri"/>
              <a:ea typeface="Calibri"/>
              <a:cs typeface="Calibri"/>
              <a:sym typeface="Calibri"/>
            </a:endParaRPr>
          </a:p>
        </p:txBody>
      </p:sp>
      <p:sp>
        <p:nvSpPr>
          <p:cNvPr id="178" name="Google Shape;178;p10"/>
          <p:cNvSpPr/>
          <p:nvPr/>
        </p:nvSpPr>
        <p:spPr>
          <a:xfrm>
            <a:off x="475488" y="1115568"/>
            <a:ext cx="8193024" cy="512064"/>
          </a:xfrm>
          <a:prstGeom prst="roundRect">
            <a:avLst>
              <a:gd fmla="val 1071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685800" y="1115568"/>
            <a:ext cx="7781544"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WHY?   </a:t>
            </a:r>
            <a:r>
              <a:rPr b="0" i="1" lang="en-US" sz="1400" u="none" cap="none" strike="noStrike">
                <a:solidFill>
                  <a:srgbClr val="1C2B3A"/>
                </a:solidFill>
                <a:latin typeface="Cambria"/>
                <a:ea typeface="Cambria"/>
                <a:cs typeface="Cambria"/>
                <a:sym typeface="Cambria"/>
              </a:rPr>
              <a:t>How would we know whether cascade really equals gentrification?</a:t>
            </a:r>
            <a:endParaRPr b="0" i="0" sz="1200" u="none" cap="none" strike="noStrike">
              <a:solidFill>
                <a:schemeClr val="dk1"/>
              </a:solidFill>
              <a:latin typeface="Calibri"/>
              <a:ea typeface="Calibri"/>
              <a:cs typeface="Calibri"/>
              <a:sym typeface="Calibri"/>
            </a:endParaRPr>
          </a:p>
        </p:txBody>
      </p:sp>
      <p:sp>
        <p:nvSpPr>
          <p:cNvPr id="180" name="Google Shape;180;p10"/>
          <p:cNvSpPr/>
          <p:nvPr/>
        </p:nvSpPr>
        <p:spPr>
          <a:xfrm>
            <a:off x="369475" y="1965950"/>
            <a:ext cx="2686500" cy="1828800"/>
          </a:xfrm>
          <a:prstGeom prst="roundRect">
            <a:avLst>
              <a:gd fmla="val 3500"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576140" y="2176262"/>
            <a:ext cx="413100" cy="402300"/>
          </a:xfrm>
          <a:prstGeom prst="ellipse">
            <a:avLst/>
          </a:prstGeom>
          <a:solidFill>
            <a:srgbClr val="D95D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576140" y="2176262"/>
            <a:ext cx="413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183" name="Google Shape;183;p10"/>
          <p:cNvSpPr/>
          <p:nvPr/>
        </p:nvSpPr>
        <p:spPr>
          <a:xfrm>
            <a:off x="1120984" y="2212838"/>
            <a:ext cx="178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500"/>
              <a:buFont typeface="Cambria"/>
              <a:buNone/>
            </a:pPr>
            <a:r>
              <a:rPr b="1" i="0" lang="en-US" sz="1500" u="none" cap="none" strike="noStrike">
                <a:solidFill>
                  <a:srgbClr val="1C2B3A"/>
                </a:solidFill>
                <a:latin typeface="Cambria"/>
                <a:ea typeface="Cambria"/>
                <a:cs typeface="Cambria"/>
                <a:sym typeface="Cambria"/>
              </a:rPr>
              <a:t>Outcome</a:t>
            </a:r>
            <a:endParaRPr b="0" i="0" sz="1500" u="none" cap="none" strike="noStrike">
              <a:solidFill>
                <a:schemeClr val="dk1"/>
              </a:solidFill>
              <a:latin typeface="Calibri"/>
              <a:ea typeface="Calibri"/>
              <a:cs typeface="Calibri"/>
              <a:sym typeface="Calibri"/>
            </a:endParaRPr>
          </a:p>
        </p:txBody>
      </p:sp>
      <p:sp>
        <p:nvSpPr>
          <p:cNvPr id="184" name="Google Shape;184;p10"/>
          <p:cNvSpPr/>
          <p:nvPr/>
        </p:nvSpPr>
        <p:spPr>
          <a:xfrm>
            <a:off x="3253391" y="1965950"/>
            <a:ext cx="2686500" cy="1828800"/>
          </a:xfrm>
          <a:prstGeom prst="roundRect">
            <a:avLst>
              <a:gd fmla="val 3500"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3460056" y="2176262"/>
            <a:ext cx="413100" cy="402300"/>
          </a:xfrm>
          <a:prstGeom prst="ellipse">
            <a:avLst/>
          </a:prstGeom>
          <a:solidFill>
            <a:srgbClr val="1C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3460056" y="2176262"/>
            <a:ext cx="413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187" name="Google Shape;187;p10"/>
          <p:cNvSpPr/>
          <p:nvPr/>
        </p:nvSpPr>
        <p:spPr>
          <a:xfrm>
            <a:off x="4004900" y="2212838"/>
            <a:ext cx="178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500"/>
              <a:buFont typeface="Cambria"/>
              <a:buNone/>
            </a:pPr>
            <a:r>
              <a:rPr b="1" i="0" lang="en-US" sz="1500" u="none" cap="none" strike="noStrike">
                <a:solidFill>
                  <a:srgbClr val="1C2B3A"/>
                </a:solidFill>
                <a:latin typeface="Cambria"/>
                <a:ea typeface="Cambria"/>
                <a:cs typeface="Cambria"/>
                <a:sym typeface="Cambria"/>
              </a:rPr>
              <a:t>Attribute</a:t>
            </a:r>
            <a:endParaRPr b="0" i="0" sz="1500" u="none" cap="none" strike="noStrike">
              <a:solidFill>
                <a:schemeClr val="dk1"/>
              </a:solidFill>
              <a:latin typeface="Calibri"/>
              <a:ea typeface="Calibri"/>
              <a:cs typeface="Calibri"/>
              <a:sym typeface="Calibri"/>
            </a:endParaRPr>
          </a:p>
        </p:txBody>
      </p:sp>
      <p:sp>
        <p:nvSpPr>
          <p:cNvPr id="188" name="Google Shape;188;p10"/>
          <p:cNvSpPr/>
          <p:nvPr/>
        </p:nvSpPr>
        <p:spPr>
          <a:xfrm>
            <a:off x="6137307" y="1965950"/>
            <a:ext cx="2686500" cy="1828800"/>
          </a:xfrm>
          <a:prstGeom prst="roundRect">
            <a:avLst>
              <a:gd fmla="val 3500"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6343972" y="2176262"/>
            <a:ext cx="413100" cy="402300"/>
          </a:xfrm>
          <a:prstGeom prst="ellipse">
            <a:avLst/>
          </a:prstGeom>
          <a:solidFill>
            <a:srgbClr val="3E7C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6343972" y="2176262"/>
            <a:ext cx="413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91" name="Google Shape;191;p10"/>
          <p:cNvSpPr/>
          <p:nvPr/>
        </p:nvSpPr>
        <p:spPr>
          <a:xfrm>
            <a:off x="6888817" y="2212838"/>
            <a:ext cx="178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500"/>
              <a:buFont typeface="Cambria"/>
              <a:buNone/>
            </a:pPr>
            <a:r>
              <a:rPr b="1" i="0" lang="en-US" sz="1500" u="none" cap="none" strike="noStrike">
                <a:solidFill>
                  <a:srgbClr val="1C2B3A"/>
                </a:solidFill>
                <a:latin typeface="Cambria"/>
                <a:ea typeface="Cambria"/>
                <a:cs typeface="Cambria"/>
                <a:sym typeface="Cambria"/>
              </a:rPr>
              <a:t>Composition</a:t>
            </a:r>
            <a:endParaRPr b="0" i="0" sz="1500" u="none" cap="none" strike="noStrike">
              <a:solidFill>
                <a:schemeClr val="dk1"/>
              </a:solidFill>
              <a:latin typeface="Calibri"/>
              <a:ea typeface="Calibri"/>
              <a:cs typeface="Calibri"/>
              <a:sym typeface="Calibri"/>
            </a:endParaRPr>
          </a:p>
        </p:txBody>
      </p:sp>
      <p:sp>
        <p:nvSpPr>
          <p:cNvPr id="192" name="Google Shape;192;p10"/>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93" name="Google Shape;193;p10"/>
          <p:cNvSpPr/>
          <p:nvPr/>
        </p:nvSpPr>
        <p:spPr>
          <a:xfrm>
            <a:off x="475488" y="4160520"/>
            <a:ext cx="8193000" cy="567000"/>
          </a:xfrm>
          <a:prstGeom prst="roundRect">
            <a:avLst>
              <a:gd fmla="val 9677" name="adj"/>
            </a:avLst>
          </a:prstGeom>
          <a:solidFill>
            <a:srgbClr val="FBE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713232" y="4160520"/>
            <a:ext cx="777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350"/>
              <a:buFont typeface="Cambria"/>
              <a:buNone/>
            </a:pPr>
            <a:r>
              <a:rPr b="1" i="0" lang="en-US" sz="1350" u="none" cap="none" strike="noStrike">
                <a:solidFill>
                  <a:srgbClr val="1C2B3A"/>
                </a:solidFill>
                <a:latin typeface="Cambria"/>
                <a:ea typeface="Cambria"/>
                <a:cs typeface="Cambria"/>
                <a:sym typeface="Cambria"/>
              </a:rPr>
              <a:t>If cascade = gentrification, three yardsticks built independently of the flow metrics should agree. </a:t>
            </a:r>
            <a:endParaRPr b="0" i="0" sz="1350" u="none" cap="none" strike="noStrike">
              <a:solidFill>
                <a:srgbClr val="000000"/>
              </a:solidFill>
              <a:latin typeface="Calibri"/>
              <a:ea typeface="Calibri"/>
              <a:cs typeface="Calibri"/>
              <a:sym typeface="Calibri"/>
            </a:endParaRPr>
          </a:p>
        </p:txBody>
      </p:sp>
      <p:sp>
        <p:nvSpPr>
          <p:cNvPr id="195" name="Google Shape;195;p10"/>
          <p:cNvSpPr/>
          <p:nvPr/>
        </p:nvSpPr>
        <p:spPr>
          <a:xfrm>
            <a:off x="397662" y="2743190"/>
            <a:ext cx="26586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150"/>
              <a:buFont typeface="Calibri"/>
              <a:buNone/>
            </a:pPr>
            <a:r>
              <a:rPr b="0" i="0" lang="en-US" sz="1150" u="none" cap="none" strike="noStrike">
                <a:solidFill>
                  <a:srgbClr val="68788A"/>
                </a:solidFill>
                <a:latin typeface="Calibri"/>
                <a:ea typeface="Calibri"/>
                <a:cs typeface="Calibri"/>
                <a:sym typeface="Calibri"/>
              </a:rPr>
              <a:t>IMD percentile change, 2010 → 2019 </a:t>
            </a:r>
            <a:endParaRPr sz="1150">
              <a:solidFill>
                <a:srgbClr val="68788A"/>
              </a:solidFill>
              <a:latin typeface="Calibri"/>
              <a:ea typeface="Calibri"/>
              <a:cs typeface="Calibri"/>
              <a:sym typeface="Calibri"/>
            </a:endParaRPr>
          </a:p>
          <a:p>
            <a:pPr indent="-301625" lvl="0" marL="457200" marR="0" rtl="0" algn="l">
              <a:spcBef>
                <a:spcPts val="0"/>
              </a:spcBef>
              <a:spcAft>
                <a:spcPts val="0"/>
              </a:spcAft>
              <a:buClr>
                <a:srgbClr val="68788A"/>
              </a:buClr>
              <a:buSzPts val="1150"/>
              <a:buFont typeface="Calibri"/>
              <a:buChar char="-"/>
            </a:pPr>
            <a:r>
              <a:rPr lang="en-US" sz="1150">
                <a:solidFill>
                  <a:srgbClr val="68788A"/>
                </a:solidFill>
                <a:latin typeface="Calibri"/>
                <a:ea typeface="Calibri"/>
                <a:cs typeface="Calibri"/>
                <a:sym typeface="Calibri"/>
              </a:rPr>
              <a:t>D</a:t>
            </a:r>
            <a:r>
              <a:rPr b="0" i="0" lang="en-US" sz="1150" u="none" cap="none" strike="noStrike">
                <a:solidFill>
                  <a:srgbClr val="68788A"/>
                </a:solidFill>
                <a:latin typeface="Calibri"/>
                <a:ea typeface="Calibri"/>
                <a:cs typeface="Calibri"/>
                <a:sym typeface="Calibri"/>
              </a:rPr>
              <a:t>id deprivation actually improve?</a:t>
            </a:r>
            <a:endParaRPr b="0" i="0" sz="1150" u="none" cap="none" strike="noStrike">
              <a:solidFill>
                <a:srgbClr val="000000"/>
              </a:solidFill>
              <a:latin typeface="Calibri"/>
              <a:ea typeface="Calibri"/>
              <a:cs typeface="Calibri"/>
              <a:sym typeface="Calibri"/>
            </a:endParaRPr>
          </a:p>
        </p:txBody>
      </p:sp>
      <p:sp>
        <p:nvSpPr>
          <p:cNvPr id="196" name="Google Shape;196;p10"/>
          <p:cNvSpPr/>
          <p:nvPr/>
        </p:nvSpPr>
        <p:spPr>
          <a:xfrm>
            <a:off x="3281595" y="2743190"/>
            <a:ext cx="26586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150"/>
              <a:buFont typeface="Calibri"/>
              <a:buNone/>
            </a:pPr>
            <a:r>
              <a:rPr b="0" i="0" lang="en-US" sz="1150" u="none" cap="none" strike="noStrike">
                <a:solidFill>
                  <a:srgbClr val="68788A"/>
                </a:solidFill>
                <a:latin typeface="Calibri"/>
                <a:ea typeface="Calibri"/>
                <a:cs typeface="Calibri"/>
                <a:sym typeface="Calibri"/>
              </a:rPr>
              <a:t>Yee &amp; Dennett (2022) </a:t>
            </a:r>
            <a:endParaRPr sz="1150">
              <a:solidFill>
                <a:srgbClr val="68788A"/>
              </a:solidFill>
              <a:latin typeface="Calibri"/>
              <a:ea typeface="Calibri"/>
              <a:cs typeface="Calibri"/>
              <a:sym typeface="Calibri"/>
            </a:endParaRPr>
          </a:p>
          <a:p>
            <a:pPr indent="-301625" lvl="0" marL="457200" marR="0" rtl="0" algn="l">
              <a:spcBef>
                <a:spcPts val="0"/>
              </a:spcBef>
              <a:spcAft>
                <a:spcPts val="0"/>
              </a:spcAft>
              <a:buClr>
                <a:srgbClr val="68788A"/>
              </a:buClr>
              <a:buSzPts val="1150"/>
              <a:buFont typeface="Calibri"/>
              <a:buChar char="-"/>
            </a:pPr>
            <a:r>
              <a:rPr lang="en-US" sz="1150">
                <a:solidFill>
                  <a:srgbClr val="68788A"/>
                </a:solidFill>
                <a:latin typeface="Calibri"/>
                <a:ea typeface="Calibri"/>
                <a:cs typeface="Calibri"/>
                <a:sym typeface="Calibri"/>
              </a:rPr>
              <a:t>T</a:t>
            </a:r>
            <a:r>
              <a:rPr b="0" i="0" lang="en-US" sz="1150" u="none" cap="none" strike="noStrike">
                <a:solidFill>
                  <a:srgbClr val="68788A"/>
                </a:solidFill>
                <a:latin typeface="Calibri"/>
                <a:ea typeface="Calibri"/>
                <a:cs typeface="Calibri"/>
                <a:sym typeface="Calibri"/>
              </a:rPr>
              <a:t>he established attribute-based gentrification classification.</a:t>
            </a:r>
            <a:endParaRPr b="0" i="0" sz="1150" u="none" cap="none" strike="noStrike">
              <a:solidFill>
                <a:srgbClr val="000000"/>
              </a:solidFill>
              <a:latin typeface="Calibri"/>
              <a:ea typeface="Calibri"/>
              <a:cs typeface="Calibri"/>
              <a:sym typeface="Calibri"/>
            </a:endParaRPr>
          </a:p>
        </p:txBody>
      </p:sp>
      <p:sp>
        <p:nvSpPr>
          <p:cNvPr id="197" name="Google Shape;197;p10"/>
          <p:cNvSpPr/>
          <p:nvPr/>
        </p:nvSpPr>
        <p:spPr>
          <a:xfrm>
            <a:off x="6165550" y="2743200"/>
            <a:ext cx="26304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150"/>
              <a:buFont typeface="Calibri"/>
              <a:buNone/>
            </a:pPr>
            <a:r>
              <a:rPr b="0" i="0" lang="en-US" sz="1150" u="none" cap="none" strike="noStrike">
                <a:solidFill>
                  <a:srgbClr val="68788A"/>
                </a:solidFill>
                <a:latin typeface="Calibri"/>
                <a:ea typeface="Calibri"/>
                <a:cs typeface="Calibri"/>
                <a:sym typeface="Calibri"/>
              </a:rPr>
              <a:t>Occupational ascent </a:t>
            </a:r>
            <a:endParaRPr sz="1150">
              <a:solidFill>
                <a:srgbClr val="68788A"/>
              </a:solidFill>
              <a:latin typeface="Calibri"/>
              <a:ea typeface="Calibri"/>
              <a:cs typeface="Calibri"/>
              <a:sym typeface="Calibri"/>
            </a:endParaRPr>
          </a:p>
          <a:p>
            <a:pPr indent="-301625" lvl="0" marL="457200" marR="0" rtl="0" algn="l">
              <a:spcBef>
                <a:spcPts val="0"/>
              </a:spcBef>
              <a:spcAft>
                <a:spcPts val="0"/>
              </a:spcAft>
              <a:buClr>
                <a:srgbClr val="68788A"/>
              </a:buClr>
              <a:buSzPts val="1150"/>
              <a:buFont typeface="Calibri"/>
              <a:buChar char="-"/>
            </a:pPr>
            <a:r>
              <a:rPr lang="en-US" sz="1150">
                <a:solidFill>
                  <a:srgbClr val="68788A"/>
                </a:solidFill>
                <a:latin typeface="Calibri"/>
                <a:ea typeface="Calibri"/>
                <a:cs typeface="Calibri"/>
                <a:sym typeface="Calibri"/>
              </a:rPr>
              <a:t>R</a:t>
            </a:r>
            <a:r>
              <a:rPr b="0" i="0" lang="en-US" sz="1150" u="none" cap="none" strike="noStrike">
                <a:solidFill>
                  <a:srgbClr val="68788A"/>
                </a:solidFill>
                <a:latin typeface="Calibri"/>
                <a:ea typeface="Calibri"/>
                <a:cs typeface="Calibri"/>
                <a:sym typeface="Calibri"/>
              </a:rPr>
              <a:t>ise in SOC major groups 1–3, </a:t>
            </a:r>
            <a:r>
              <a:rPr lang="en-US" sz="1150">
                <a:solidFill>
                  <a:srgbClr val="68788A"/>
                </a:solidFill>
                <a:latin typeface="Calibri"/>
                <a:ea typeface="Calibri"/>
                <a:cs typeface="Calibri"/>
                <a:sym typeface="Calibri"/>
              </a:rPr>
              <a:t>after Dr Duncan Smith</a:t>
            </a:r>
            <a:r>
              <a:rPr b="0" i="0" lang="en-US" sz="1150" u="none" cap="none" strike="noStrike">
                <a:solidFill>
                  <a:srgbClr val="68788A"/>
                </a:solidFill>
                <a:latin typeface="Calibri"/>
                <a:ea typeface="Calibri"/>
                <a:cs typeface="Calibri"/>
                <a:sym typeface="Calibri"/>
              </a:rPr>
              <a:t>.</a:t>
            </a:r>
            <a:endParaRPr b="0" i="0" sz="115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11"/>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FINDINGS · 1 OF 2</a:t>
            </a:r>
            <a:endParaRPr b="0" i="0" sz="1050" u="none" cap="none" strike="noStrike">
              <a:solidFill>
                <a:schemeClr val="dk1"/>
              </a:solidFill>
              <a:latin typeface="Calibri"/>
              <a:ea typeface="Calibri"/>
              <a:cs typeface="Calibri"/>
              <a:sym typeface="Calibri"/>
            </a:endParaRPr>
          </a:p>
        </p:txBody>
      </p:sp>
      <p:sp>
        <p:nvSpPr>
          <p:cNvPr id="204" name="Google Shape;204;p11"/>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Cascade ≠ </a:t>
            </a:r>
            <a:r>
              <a:rPr b="1" lang="en-US" sz="2600">
                <a:solidFill>
                  <a:srgbClr val="1C2B3A"/>
                </a:solidFill>
                <a:latin typeface="Cambria"/>
                <a:ea typeface="Cambria"/>
                <a:cs typeface="Cambria"/>
                <a:sym typeface="Cambria"/>
              </a:rPr>
              <a:t>A</a:t>
            </a:r>
            <a:r>
              <a:rPr b="1" i="0" lang="en-US" sz="2600" u="none" cap="none" strike="noStrike">
                <a:solidFill>
                  <a:srgbClr val="1C2B3A"/>
                </a:solidFill>
                <a:latin typeface="Cambria"/>
                <a:ea typeface="Cambria"/>
                <a:cs typeface="Cambria"/>
                <a:sym typeface="Cambria"/>
              </a:rPr>
              <a:t>ttribute-defined gentrification</a:t>
            </a:r>
            <a:endParaRPr b="0" i="0" sz="2600" u="none" cap="none" strike="noStrike">
              <a:solidFill>
                <a:schemeClr val="dk1"/>
              </a:solidFill>
              <a:latin typeface="Calibri"/>
              <a:ea typeface="Calibri"/>
              <a:cs typeface="Calibri"/>
              <a:sym typeface="Calibri"/>
            </a:endParaRPr>
          </a:p>
        </p:txBody>
      </p:sp>
      <p:sp>
        <p:nvSpPr>
          <p:cNvPr id="205" name="Google Shape;205;p11"/>
          <p:cNvSpPr/>
          <p:nvPr/>
        </p:nvSpPr>
        <p:spPr>
          <a:xfrm>
            <a:off x="475488" y="1253139"/>
            <a:ext cx="2615100" cy="1481400"/>
          </a:xfrm>
          <a:prstGeom prst="roundRect">
            <a:avLst>
              <a:gd fmla="val 4321"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475488" y="1372011"/>
            <a:ext cx="26151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4400"/>
              <a:buFont typeface="Cambria"/>
              <a:buNone/>
            </a:pPr>
            <a:r>
              <a:rPr b="1" i="0" lang="en-US" sz="4400" u="none" cap="none" strike="noStrike">
                <a:solidFill>
                  <a:srgbClr val="2E8B57"/>
                </a:solidFill>
                <a:latin typeface="Cambria"/>
                <a:ea typeface="Cambria"/>
                <a:cs typeface="Cambria"/>
                <a:sym typeface="Cambria"/>
              </a:rPr>
              <a:t>16</a:t>
            </a:r>
            <a:endParaRPr b="0" i="0" sz="4400" u="none" cap="none" strike="noStrike">
              <a:solidFill>
                <a:schemeClr val="dk1"/>
              </a:solidFill>
              <a:latin typeface="Calibri"/>
              <a:ea typeface="Calibri"/>
              <a:cs typeface="Calibri"/>
              <a:sym typeface="Calibri"/>
            </a:endParaRPr>
          </a:p>
        </p:txBody>
      </p:sp>
      <p:sp>
        <p:nvSpPr>
          <p:cNvPr id="207" name="Google Shape;207;p11"/>
          <p:cNvSpPr/>
          <p:nvPr/>
        </p:nvSpPr>
        <p:spPr>
          <a:xfrm>
            <a:off x="475488" y="2085243"/>
            <a:ext cx="26151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250"/>
              <a:buFont typeface="Calibri"/>
              <a:buNone/>
            </a:pPr>
            <a:r>
              <a:rPr b="1" i="0" lang="en-US" sz="1250" u="none" cap="none" strike="noStrike">
                <a:solidFill>
                  <a:srgbClr val="1C2B3A"/>
                </a:solidFill>
                <a:latin typeface="Calibri"/>
                <a:ea typeface="Calibri"/>
                <a:cs typeface="Calibri"/>
                <a:sym typeface="Calibri"/>
              </a:rPr>
              <a:t>areas where both agree</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8788A"/>
              </a:buClr>
              <a:buSzPts val="1050"/>
              <a:buFont typeface="Calibri"/>
              <a:buNone/>
            </a:pPr>
            <a:r>
              <a:rPr b="0" i="0" lang="en-US" sz="1050" u="none" cap="none" strike="noStrike">
                <a:solidFill>
                  <a:srgbClr val="68788A"/>
                </a:solidFill>
                <a:latin typeface="Calibri"/>
                <a:ea typeface="Calibri"/>
                <a:cs typeface="Calibri"/>
                <a:sym typeface="Calibri"/>
              </a:rPr>
              <a:t>Yee-GEN &amp; cascade-led</a:t>
            </a:r>
            <a:endParaRPr b="0" i="0" sz="1250" u="none" cap="none" strike="noStrike">
              <a:solidFill>
                <a:schemeClr val="dk1"/>
              </a:solidFill>
              <a:latin typeface="Calibri"/>
              <a:ea typeface="Calibri"/>
              <a:cs typeface="Calibri"/>
              <a:sym typeface="Calibri"/>
            </a:endParaRPr>
          </a:p>
        </p:txBody>
      </p:sp>
      <p:sp>
        <p:nvSpPr>
          <p:cNvPr id="208" name="Google Shape;208;p11"/>
          <p:cNvSpPr/>
          <p:nvPr/>
        </p:nvSpPr>
        <p:spPr>
          <a:xfrm>
            <a:off x="3282696" y="1253139"/>
            <a:ext cx="2615100" cy="1481400"/>
          </a:xfrm>
          <a:prstGeom prst="roundRect">
            <a:avLst>
              <a:gd fmla="val 4321"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3282696" y="1372011"/>
            <a:ext cx="26151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4400"/>
              <a:buFont typeface="Cambria"/>
              <a:buNone/>
            </a:pPr>
            <a:r>
              <a:rPr b="1" i="0" lang="en-US" sz="4400" u="none" cap="none" strike="noStrike">
                <a:solidFill>
                  <a:srgbClr val="C0392B"/>
                </a:solidFill>
                <a:latin typeface="Cambria"/>
                <a:ea typeface="Cambria"/>
                <a:cs typeface="Cambria"/>
                <a:sym typeface="Cambria"/>
              </a:rPr>
              <a:t>25</a:t>
            </a:r>
            <a:endParaRPr b="0" i="0" sz="4400" u="none" cap="none" strike="noStrike">
              <a:solidFill>
                <a:schemeClr val="dk1"/>
              </a:solidFill>
              <a:latin typeface="Calibri"/>
              <a:ea typeface="Calibri"/>
              <a:cs typeface="Calibri"/>
              <a:sym typeface="Calibri"/>
            </a:endParaRPr>
          </a:p>
        </p:txBody>
      </p:sp>
      <p:sp>
        <p:nvSpPr>
          <p:cNvPr id="210" name="Google Shape;210;p11"/>
          <p:cNvSpPr/>
          <p:nvPr/>
        </p:nvSpPr>
        <p:spPr>
          <a:xfrm>
            <a:off x="3282696" y="2085243"/>
            <a:ext cx="26151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250"/>
              <a:buFont typeface="Calibri"/>
              <a:buNone/>
            </a:pPr>
            <a:r>
              <a:rPr b="1" i="0" lang="en-US" sz="1250" u="none" cap="none" strike="noStrike">
                <a:solidFill>
                  <a:srgbClr val="1C2B3A"/>
                </a:solidFill>
                <a:latin typeface="Calibri"/>
                <a:ea typeface="Calibri"/>
                <a:cs typeface="Calibri"/>
                <a:sym typeface="Calibri"/>
              </a:rPr>
              <a:t>attribute-only</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8788A"/>
              </a:buClr>
              <a:buSzPts val="1050"/>
              <a:buFont typeface="Calibri"/>
              <a:buNone/>
            </a:pPr>
            <a:r>
              <a:rPr b="0" i="0" lang="en-US" sz="1050" u="none" cap="none" strike="noStrike">
                <a:solidFill>
                  <a:srgbClr val="68788A"/>
                </a:solidFill>
                <a:latin typeface="Calibri"/>
                <a:ea typeface="Calibri"/>
                <a:cs typeface="Calibri"/>
                <a:sym typeface="Calibri"/>
              </a:rPr>
              <a:t>Yee-GEN, no cascade</a:t>
            </a:r>
            <a:endParaRPr b="0" i="0" sz="1250" u="none" cap="none" strike="noStrike">
              <a:solidFill>
                <a:schemeClr val="dk1"/>
              </a:solidFill>
              <a:latin typeface="Calibri"/>
              <a:ea typeface="Calibri"/>
              <a:cs typeface="Calibri"/>
              <a:sym typeface="Calibri"/>
            </a:endParaRPr>
          </a:p>
        </p:txBody>
      </p:sp>
      <p:sp>
        <p:nvSpPr>
          <p:cNvPr id="211" name="Google Shape;211;p11"/>
          <p:cNvSpPr/>
          <p:nvPr/>
        </p:nvSpPr>
        <p:spPr>
          <a:xfrm>
            <a:off x="6089904" y="1253139"/>
            <a:ext cx="2615100" cy="1481400"/>
          </a:xfrm>
          <a:prstGeom prst="roundRect">
            <a:avLst>
              <a:gd fmla="val 4321"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6089904" y="1372011"/>
            <a:ext cx="26151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E7CB1"/>
              </a:buClr>
              <a:buSzPts val="4400"/>
              <a:buFont typeface="Cambria"/>
              <a:buNone/>
            </a:pPr>
            <a:r>
              <a:rPr b="1" i="0" lang="en-US" sz="4400" u="none" cap="none" strike="noStrike">
                <a:solidFill>
                  <a:srgbClr val="3E7CB1"/>
                </a:solidFill>
                <a:latin typeface="Cambria"/>
                <a:ea typeface="Cambria"/>
                <a:cs typeface="Cambria"/>
                <a:sym typeface="Cambria"/>
              </a:rPr>
              <a:t>197</a:t>
            </a:r>
            <a:endParaRPr b="0" i="0" sz="4400" u="none" cap="none" strike="noStrike">
              <a:solidFill>
                <a:schemeClr val="dk1"/>
              </a:solidFill>
              <a:latin typeface="Calibri"/>
              <a:ea typeface="Calibri"/>
              <a:cs typeface="Calibri"/>
              <a:sym typeface="Calibri"/>
            </a:endParaRPr>
          </a:p>
        </p:txBody>
      </p:sp>
      <p:sp>
        <p:nvSpPr>
          <p:cNvPr id="213" name="Google Shape;213;p11"/>
          <p:cNvSpPr/>
          <p:nvPr/>
        </p:nvSpPr>
        <p:spPr>
          <a:xfrm>
            <a:off x="6089904" y="2085243"/>
            <a:ext cx="26151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A"/>
              </a:buClr>
              <a:buSzPts val="1250"/>
              <a:buFont typeface="Calibri"/>
              <a:buNone/>
            </a:pPr>
            <a:r>
              <a:rPr b="1" i="0" lang="en-US" sz="1250" u="none" cap="none" strike="noStrike">
                <a:solidFill>
                  <a:srgbClr val="1C2B3A"/>
                </a:solidFill>
                <a:latin typeface="Calibri"/>
                <a:ea typeface="Calibri"/>
                <a:cs typeface="Calibri"/>
                <a:sym typeface="Calibri"/>
              </a:rPr>
              <a:t>flow-only</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8788A"/>
              </a:buClr>
              <a:buSzPts val="1050"/>
              <a:buFont typeface="Calibri"/>
              <a:buNone/>
            </a:pPr>
            <a:r>
              <a:rPr b="0" i="0" lang="en-US" sz="1050" u="none" cap="none" strike="noStrike">
                <a:solidFill>
                  <a:srgbClr val="68788A"/>
                </a:solidFill>
                <a:latin typeface="Calibri"/>
                <a:ea typeface="Calibri"/>
                <a:cs typeface="Calibri"/>
                <a:sym typeface="Calibri"/>
              </a:rPr>
              <a:t>cascade, no Yee-GEN</a:t>
            </a:r>
            <a:endParaRPr b="0" i="0" sz="1250" u="none" cap="none" strike="noStrike">
              <a:solidFill>
                <a:schemeClr val="dk1"/>
              </a:solidFill>
              <a:latin typeface="Calibri"/>
              <a:ea typeface="Calibri"/>
              <a:cs typeface="Calibri"/>
              <a:sym typeface="Calibri"/>
            </a:endParaRPr>
          </a:p>
        </p:txBody>
      </p:sp>
      <p:sp>
        <p:nvSpPr>
          <p:cNvPr id="214" name="Google Shape;214;p11"/>
          <p:cNvSpPr/>
          <p:nvPr/>
        </p:nvSpPr>
        <p:spPr>
          <a:xfrm>
            <a:off x="475488" y="3364992"/>
            <a:ext cx="3977640" cy="1325880"/>
          </a:xfrm>
          <a:prstGeom prst="roundRect">
            <a:avLst>
              <a:gd fmla="val 4828" name="adj"/>
            </a:avLst>
          </a:prstGeom>
          <a:solidFill>
            <a:srgbClr val="FBE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713232" y="3474720"/>
            <a:ext cx="3566160" cy="11430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D95D39"/>
              </a:buClr>
              <a:buSzPts val="1300"/>
              <a:buFont typeface="Cambria"/>
              <a:buNone/>
            </a:pPr>
            <a:r>
              <a:rPr b="1" i="0" lang="en-US" sz="1300" u="none" cap="none" strike="noStrike">
                <a:solidFill>
                  <a:srgbClr val="D95D39"/>
                </a:solidFill>
                <a:latin typeface="Cambria"/>
                <a:ea typeface="Cambria"/>
                <a:cs typeface="Cambria"/>
                <a:sym typeface="Cambria"/>
              </a:rPr>
              <a:t>The IMD kicker</a:t>
            </a:r>
            <a:endParaRPr b="0" i="0" sz="13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200"/>
              <a:buFont typeface="Calibri"/>
              <a:buNone/>
            </a:pPr>
            <a:r>
              <a:rPr b="0" i="0" lang="en-US" sz="1200" u="none" cap="none" strike="noStrike">
                <a:solidFill>
                  <a:srgbClr val="1C2B3A"/>
                </a:solidFill>
                <a:latin typeface="Calibri"/>
                <a:ea typeface="Calibri"/>
                <a:cs typeface="Calibri"/>
                <a:sym typeface="Calibri"/>
              </a:rPr>
              <a:t>Yee-GEN alone: +0.043 IMD gain</a:t>
            </a:r>
            <a:endParaRPr b="0" i="0" sz="13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200"/>
              <a:buFont typeface="Calibri"/>
              <a:buNone/>
            </a:pPr>
            <a:r>
              <a:rPr b="0" i="0" lang="en-US" sz="1200" u="none" cap="none" strike="noStrike">
                <a:solidFill>
                  <a:srgbClr val="1C2B3A"/>
                </a:solidFill>
                <a:latin typeface="Calibri"/>
                <a:ea typeface="Calibri"/>
                <a:cs typeface="Calibri"/>
                <a:sym typeface="Calibri"/>
              </a:rPr>
              <a:t>Yee-GEN + cascade: only +0.017</a:t>
            </a:r>
            <a:endParaRPr b="0" i="0" sz="13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68788A"/>
              </a:buClr>
              <a:buSzPts val="1100"/>
              <a:buFont typeface="Calibri"/>
              <a:buNone/>
            </a:pPr>
            <a:r>
              <a:rPr b="0" i="1" lang="en-US" sz="1100" u="none" cap="none" strike="noStrike">
                <a:solidFill>
                  <a:srgbClr val="68788A"/>
                </a:solidFill>
                <a:latin typeface="Calibri"/>
                <a:ea typeface="Calibri"/>
                <a:cs typeface="Calibri"/>
                <a:sym typeface="Calibri"/>
              </a:rPr>
              <a:t>Cascade does not reinforce gentrification.</a:t>
            </a:r>
            <a:endParaRPr b="0" i="0" sz="1300" u="none" cap="none" strike="noStrike">
              <a:solidFill>
                <a:schemeClr val="dk1"/>
              </a:solidFill>
              <a:latin typeface="Calibri"/>
              <a:ea typeface="Calibri"/>
              <a:cs typeface="Calibri"/>
              <a:sym typeface="Calibri"/>
            </a:endParaRPr>
          </a:p>
        </p:txBody>
      </p:sp>
      <p:sp>
        <p:nvSpPr>
          <p:cNvPr id="216" name="Google Shape;216;p11"/>
          <p:cNvSpPr/>
          <p:nvPr/>
        </p:nvSpPr>
        <p:spPr>
          <a:xfrm>
            <a:off x="4690872" y="3364992"/>
            <a:ext cx="3977640" cy="1325880"/>
          </a:xfrm>
          <a:prstGeom prst="roundRect">
            <a:avLst>
              <a:gd fmla="val 4828" name="adj"/>
            </a:avLst>
          </a:prstGeom>
          <a:solidFill>
            <a:srgbClr val="E8F0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a:off x="4928616" y="3474720"/>
            <a:ext cx="3566160" cy="11430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7CB1"/>
              </a:buClr>
              <a:buSzPts val="1300"/>
              <a:buFont typeface="Cambria"/>
              <a:buNone/>
            </a:pPr>
            <a:r>
              <a:rPr b="1" i="0" lang="en-US" sz="1300" u="none" cap="none" strike="noStrike">
                <a:solidFill>
                  <a:srgbClr val="3E7CB1"/>
                </a:solidFill>
                <a:latin typeface="Cambria"/>
                <a:ea typeface="Cambria"/>
                <a:cs typeface="Cambria"/>
                <a:sym typeface="Cambria"/>
              </a:rPr>
              <a:t>The twist</a:t>
            </a:r>
            <a:endParaRPr b="0" i="0" sz="13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200"/>
              <a:buFont typeface="Calibri"/>
              <a:buNone/>
            </a:pPr>
            <a:r>
              <a:rPr b="0" i="0" lang="en-US" sz="1200" u="none" cap="none" strike="noStrike">
                <a:solidFill>
                  <a:srgbClr val="1C2B3A"/>
                </a:solidFill>
                <a:latin typeface="Calibri"/>
                <a:ea typeface="Calibri"/>
                <a:cs typeface="Calibri"/>
                <a:sym typeface="Calibri"/>
              </a:rPr>
              <a:t>The flow method's own IMD signal sits in the counter direction, not the cascade.</a:t>
            </a:r>
            <a:endParaRPr b="0" i="0" sz="13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68788A"/>
              </a:buClr>
              <a:buSzPts val="1100"/>
              <a:buFont typeface="Calibri"/>
              <a:buNone/>
            </a:pPr>
            <a:r>
              <a:rPr b="0" i="1" lang="en-US" sz="1100" u="none" cap="none" strike="noStrike">
                <a:solidFill>
                  <a:srgbClr val="68788A"/>
                </a:solidFill>
                <a:latin typeface="Calibri"/>
                <a:ea typeface="Calibri"/>
                <a:cs typeface="Calibri"/>
                <a:sym typeface="Calibri"/>
              </a:rPr>
              <a:t>The rare agreement: 2011, inner London only.</a:t>
            </a:r>
            <a:endParaRPr b="0" i="0" sz="1300" u="none" cap="none" strike="noStrike">
              <a:solidFill>
                <a:schemeClr val="dk1"/>
              </a:solidFill>
              <a:latin typeface="Calibri"/>
              <a:ea typeface="Calibri"/>
              <a:cs typeface="Calibri"/>
              <a:sym typeface="Calibri"/>
            </a:endParaRPr>
          </a:p>
        </p:txBody>
      </p:sp>
      <p:sp>
        <p:nvSpPr>
          <p:cNvPr id="218" name="Google Shape;218;p11"/>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12"/>
          <p:cNvSpPr/>
          <p:nvPr/>
        </p:nvSpPr>
        <p:spPr>
          <a:xfrm>
            <a:off x="502920" y="274320"/>
            <a:ext cx="8138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FINDINGS · 2 OF 2</a:t>
            </a:r>
            <a:endParaRPr b="0" i="0" sz="1050" u="none" cap="none" strike="noStrike">
              <a:solidFill>
                <a:schemeClr val="dk1"/>
              </a:solidFill>
              <a:latin typeface="Calibri"/>
              <a:ea typeface="Calibri"/>
              <a:cs typeface="Calibri"/>
              <a:sym typeface="Calibri"/>
            </a:endParaRPr>
          </a:p>
        </p:txBody>
      </p:sp>
      <p:sp>
        <p:nvSpPr>
          <p:cNvPr id="225" name="Google Shape;225;p12"/>
          <p:cNvSpPr/>
          <p:nvPr/>
        </p:nvSpPr>
        <p:spPr>
          <a:xfrm>
            <a:off x="457200" y="512064"/>
            <a:ext cx="8229600" cy="502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2021's cascade is an exodus, not relocation</a:t>
            </a:r>
            <a:endParaRPr b="0" i="0" sz="2600" u="none" cap="none" strike="noStrike">
              <a:solidFill>
                <a:schemeClr val="dk1"/>
              </a:solidFill>
              <a:latin typeface="Calibri"/>
              <a:ea typeface="Calibri"/>
              <a:cs typeface="Calibri"/>
              <a:sym typeface="Calibri"/>
            </a:endParaRPr>
          </a:p>
        </p:txBody>
      </p:sp>
      <p:pic>
        <p:nvPicPr>
          <p:cNvPr descr="/mnt/project/fig_25_extreme_msoa_map.png" id="226" name="Google Shape;226;p12"/>
          <p:cNvPicPr preferRelativeResize="0"/>
          <p:nvPr/>
        </p:nvPicPr>
        <p:blipFill rotWithShape="1">
          <a:blip r:embed="rId3">
            <a:alphaModFix/>
          </a:blip>
          <a:srcRect b="0" l="0" r="0" t="0"/>
          <a:stretch/>
        </p:blipFill>
        <p:spPr>
          <a:xfrm>
            <a:off x="411475" y="1113075"/>
            <a:ext cx="5369349" cy="2586850"/>
          </a:xfrm>
          <a:prstGeom prst="rect">
            <a:avLst/>
          </a:prstGeom>
          <a:noFill/>
          <a:ln>
            <a:noFill/>
          </a:ln>
        </p:spPr>
      </p:pic>
      <p:sp>
        <p:nvSpPr>
          <p:cNvPr id="227" name="Google Shape;227;p12"/>
          <p:cNvSpPr/>
          <p:nvPr/>
        </p:nvSpPr>
        <p:spPr>
          <a:xfrm>
            <a:off x="475488" y="3596858"/>
            <a:ext cx="4937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050"/>
              <a:buFont typeface="Calibri"/>
              <a:buNone/>
            </a:pPr>
            <a:r>
              <a:rPr b="0" i="1" lang="en-US" sz="1050" u="none" cap="none" strike="noStrike">
                <a:solidFill>
                  <a:srgbClr val="68788A"/>
                </a:solidFill>
                <a:latin typeface="Calibri"/>
                <a:ea typeface="Calibri"/>
                <a:cs typeface="Calibri"/>
                <a:sym typeface="Calibri"/>
              </a:rPr>
              <a:t>Cascade extremes shift inner → outer </a:t>
            </a:r>
            <a:r>
              <a:rPr i="1" lang="en-US" sz="1050">
                <a:solidFill>
                  <a:srgbClr val="68788A"/>
                </a:solidFill>
                <a:latin typeface="Calibri"/>
                <a:ea typeface="Calibri"/>
                <a:cs typeface="Calibri"/>
                <a:sym typeface="Calibri"/>
              </a:rPr>
              <a:t>by </a:t>
            </a:r>
            <a:r>
              <a:rPr b="0" i="1" lang="en-US" sz="1050" u="none" cap="none" strike="noStrike">
                <a:solidFill>
                  <a:srgbClr val="68788A"/>
                </a:solidFill>
                <a:latin typeface="Calibri"/>
                <a:ea typeface="Calibri"/>
                <a:cs typeface="Calibri"/>
                <a:sym typeface="Calibri"/>
              </a:rPr>
              <a:t>2021</a:t>
            </a:r>
            <a:r>
              <a:rPr i="1" lang="en-US" sz="1050">
                <a:solidFill>
                  <a:srgbClr val="68788A"/>
                </a:solidFill>
                <a:latin typeface="Calibri"/>
                <a:ea typeface="Calibri"/>
                <a:cs typeface="Calibri"/>
                <a:sym typeface="Calibri"/>
              </a:rPr>
              <a:t> (</a:t>
            </a:r>
            <a:r>
              <a:rPr b="0" i="1" lang="en-US" sz="1050" u="none" cap="none" strike="noStrike">
                <a:solidFill>
                  <a:srgbClr val="68788A"/>
                </a:solidFill>
                <a:latin typeface="Calibri"/>
                <a:ea typeface="Calibri"/>
                <a:cs typeface="Calibri"/>
                <a:sym typeface="Calibri"/>
              </a:rPr>
              <a:t>orange); persistence is rare.</a:t>
            </a:r>
            <a:endParaRPr b="0" i="0" sz="1050" u="none" cap="none" strike="noStrike">
              <a:solidFill>
                <a:schemeClr val="dk1"/>
              </a:solidFill>
              <a:latin typeface="Calibri"/>
              <a:ea typeface="Calibri"/>
              <a:cs typeface="Calibri"/>
              <a:sym typeface="Calibri"/>
            </a:endParaRPr>
          </a:p>
        </p:txBody>
      </p:sp>
      <p:sp>
        <p:nvSpPr>
          <p:cNvPr id="228" name="Google Shape;228;p12"/>
          <p:cNvSpPr/>
          <p:nvPr/>
        </p:nvSpPr>
        <p:spPr>
          <a:xfrm>
            <a:off x="5988601" y="1188725"/>
            <a:ext cx="1187700" cy="62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2032"/>
              <a:buFont typeface="Cambria"/>
              <a:buNone/>
            </a:pPr>
            <a:r>
              <a:rPr b="1" i="0" lang="en-US" sz="1832" u="none" cap="none" strike="noStrike">
                <a:solidFill>
                  <a:srgbClr val="D95D39"/>
                </a:solidFill>
                <a:latin typeface="Cambria"/>
                <a:ea typeface="Cambria"/>
                <a:cs typeface="Cambria"/>
                <a:sym typeface="Cambria"/>
              </a:rPr>
              <a:t>+51%</a:t>
            </a:r>
            <a:endParaRPr b="0" i="0" sz="1832" u="none" cap="none" strike="noStrike">
              <a:solidFill>
                <a:schemeClr val="dk1"/>
              </a:solidFill>
              <a:latin typeface="Calibri"/>
              <a:ea typeface="Calibri"/>
              <a:cs typeface="Calibri"/>
              <a:sym typeface="Calibri"/>
            </a:endParaRPr>
          </a:p>
        </p:txBody>
      </p:sp>
      <p:sp>
        <p:nvSpPr>
          <p:cNvPr id="229" name="Google Shape;229;p12"/>
          <p:cNvSpPr/>
          <p:nvPr/>
        </p:nvSpPr>
        <p:spPr>
          <a:xfrm>
            <a:off x="7176301" y="1216425"/>
            <a:ext cx="1515300" cy="62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016"/>
              <a:buFont typeface="Calibri"/>
              <a:buNone/>
            </a:pPr>
            <a:r>
              <a:rPr b="0" i="0" lang="en-US" sz="1016" u="none" cap="none" strike="noStrike">
                <a:solidFill>
                  <a:srgbClr val="1C2B3A"/>
                </a:solidFill>
                <a:latin typeface="Calibri"/>
                <a:ea typeface="Calibri"/>
                <a:cs typeface="Calibri"/>
                <a:sym typeface="Calibri"/>
              </a:rPr>
              <a:t>external outflow, </a:t>
            </a:r>
            <a:endParaRPr b="0" i="0" sz="1016" u="none" cap="none" strike="noStrike">
              <a:solidFill>
                <a:srgbClr val="1C2B3A"/>
              </a:solidFill>
              <a:latin typeface="Calibri"/>
              <a:ea typeface="Calibri"/>
              <a:cs typeface="Calibri"/>
              <a:sym typeface="Calibri"/>
            </a:endParaRPr>
          </a:p>
          <a:p>
            <a:pPr indent="0" lvl="0" marL="0" marR="0" rtl="0" algn="l">
              <a:spcBef>
                <a:spcPts val="0"/>
              </a:spcBef>
              <a:spcAft>
                <a:spcPts val="0"/>
              </a:spcAft>
              <a:buClr>
                <a:srgbClr val="1C2B3A"/>
              </a:buClr>
              <a:buSzPts val="1016"/>
              <a:buFont typeface="Calibri"/>
              <a:buNone/>
            </a:pPr>
            <a:r>
              <a:rPr b="0" i="0" lang="en-US" sz="1016" u="none" cap="none" strike="noStrike">
                <a:solidFill>
                  <a:srgbClr val="1C2B3A"/>
                </a:solidFill>
                <a:latin typeface="Calibri"/>
                <a:ea typeface="Calibri"/>
                <a:cs typeface="Calibri"/>
                <a:sym typeface="Calibri"/>
              </a:rPr>
              <a:t>2011 → 2021</a:t>
            </a:r>
            <a:endParaRPr b="0" i="0" sz="1016" u="none" cap="none" strike="noStrike">
              <a:solidFill>
                <a:schemeClr val="dk1"/>
              </a:solidFill>
              <a:latin typeface="Calibri"/>
              <a:ea typeface="Calibri"/>
              <a:cs typeface="Calibri"/>
              <a:sym typeface="Calibri"/>
            </a:endParaRPr>
          </a:p>
        </p:txBody>
      </p:sp>
      <p:sp>
        <p:nvSpPr>
          <p:cNvPr id="230" name="Google Shape;230;p12"/>
          <p:cNvSpPr/>
          <p:nvPr/>
        </p:nvSpPr>
        <p:spPr>
          <a:xfrm>
            <a:off x="5988601" y="2043500"/>
            <a:ext cx="1187700" cy="62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2032"/>
              <a:buFont typeface="Cambria"/>
              <a:buNone/>
            </a:pPr>
            <a:r>
              <a:rPr b="1" i="0" lang="en-US" sz="1832" u="none" cap="none" strike="noStrike">
                <a:solidFill>
                  <a:srgbClr val="D95D39"/>
                </a:solidFill>
                <a:latin typeface="Cambria"/>
                <a:ea typeface="Cambria"/>
                <a:cs typeface="Cambria"/>
                <a:sym typeface="Cambria"/>
              </a:rPr>
              <a:t>53 → 116</a:t>
            </a:r>
            <a:endParaRPr b="0" i="0" sz="1832" u="none" cap="none" strike="noStrike">
              <a:solidFill>
                <a:schemeClr val="dk1"/>
              </a:solidFill>
              <a:latin typeface="Calibri"/>
              <a:ea typeface="Calibri"/>
              <a:cs typeface="Calibri"/>
              <a:sym typeface="Calibri"/>
            </a:endParaRPr>
          </a:p>
        </p:txBody>
      </p:sp>
      <p:sp>
        <p:nvSpPr>
          <p:cNvPr id="231" name="Google Shape;231;p12"/>
          <p:cNvSpPr/>
          <p:nvPr/>
        </p:nvSpPr>
        <p:spPr>
          <a:xfrm>
            <a:off x="7176301" y="2043500"/>
            <a:ext cx="1515300" cy="62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016"/>
              <a:buFont typeface="Calibri"/>
              <a:buNone/>
            </a:pPr>
            <a:r>
              <a:rPr b="0" i="0" lang="en-US" sz="1016" u="none" cap="none" strike="noStrike">
                <a:solidFill>
                  <a:srgbClr val="1C2B3A"/>
                </a:solidFill>
                <a:latin typeface="Calibri"/>
                <a:ea typeface="Calibri"/>
                <a:cs typeface="Calibri"/>
                <a:sym typeface="Calibri"/>
              </a:rPr>
              <a:t>net-exporter MSOAs</a:t>
            </a:r>
            <a:endParaRPr b="0" i="0" sz="1016" u="none" cap="none" strike="noStrike">
              <a:solidFill>
                <a:schemeClr val="dk1"/>
              </a:solidFill>
              <a:latin typeface="Calibri"/>
              <a:ea typeface="Calibri"/>
              <a:cs typeface="Calibri"/>
              <a:sym typeface="Calibri"/>
            </a:endParaRPr>
          </a:p>
        </p:txBody>
      </p:sp>
      <p:sp>
        <p:nvSpPr>
          <p:cNvPr id="232" name="Google Shape;232;p12"/>
          <p:cNvSpPr/>
          <p:nvPr/>
        </p:nvSpPr>
        <p:spPr>
          <a:xfrm>
            <a:off x="5988601" y="2898276"/>
            <a:ext cx="1187700" cy="62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D39"/>
              </a:buClr>
              <a:buSzPts val="2032"/>
              <a:buFont typeface="Cambria"/>
              <a:buNone/>
            </a:pPr>
            <a:r>
              <a:rPr b="1" i="0" lang="en-US" sz="1832" u="none" cap="none" strike="noStrike">
                <a:solidFill>
                  <a:srgbClr val="D95D39"/>
                </a:solidFill>
                <a:latin typeface="Cambria"/>
                <a:ea typeface="Cambria"/>
                <a:cs typeface="Cambria"/>
                <a:sym typeface="Cambria"/>
              </a:rPr>
              <a:t>85%</a:t>
            </a:r>
            <a:endParaRPr b="0" i="0" sz="1832" u="none" cap="none" strike="noStrike">
              <a:solidFill>
                <a:schemeClr val="dk1"/>
              </a:solidFill>
              <a:latin typeface="Calibri"/>
              <a:ea typeface="Calibri"/>
              <a:cs typeface="Calibri"/>
              <a:sym typeface="Calibri"/>
            </a:endParaRPr>
          </a:p>
        </p:txBody>
      </p:sp>
      <p:sp>
        <p:nvSpPr>
          <p:cNvPr id="233" name="Google Shape;233;p12"/>
          <p:cNvSpPr/>
          <p:nvPr/>
        </p:nvSpPr>
        <p:spPr>
          <a:xfrm>
            <a:off x="7176301" y="2870576"/>
            <a:ext cx="1515300" cy="62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A"/>
              </a:buClr>
              <a:buSzPts val="1016"/>
              <a:buFont typeface="Calibri"/>
              <a:buNone/>
            </a:pPr>
            <a:r>
              <a:rPr b="0" i="0" lang="en-US" sz="1016" u="none" cap="none" strike="noStrike">
                <a:solidFill>
                  <a:srgbClr val="1C2B3A"/>
                </a:solidFill>
                <a:latin typeface="Calibri"/>
                <a:ea typeface="Calibri"/>
                <a:cs typeface="Calibri"/>
                <a:sym typeface="Calibri"/>
              </a:rPr>
              <a:t>of 2021 cascade-led areas are outer London</a:t>
            </a:r>
            <a:endParaRPr b="0" i="0" sz="1016" u="none" cap="none" strike="noStrike">
              <a:solidFill>
                <a:schemeClr val="dk1"/>
              </a:solidFill>
              <a:latin typeface="Calibri"/>
              <a:ea typeface="Calibri"/>
              <a:cs typeface="Calibri"/>
              <a:sym typeface="Calibri"/>
            </a:endParaRPr>
          </a:p>
        </p:txBody>
      </p:sp>
      <p:sp>
        <p:nvSpPr>
          <p:cNvPr id="234" name="Google Shape;234;p12"/>
          <p:cNvSpPr/>
          <p:nvPr/>
        </p:nvSpPr>
        <p:spPr>
          <a:xfrm>
            <a:off x="475488" y="3931920"/>
            <a:ext cx="3977700" cy="841200"/>
          </a:xfrm>
          <a:prstGeom prst="roundRect">
            <a:avLst>
              <a:gd fmla="val 6522" name="adj"/>
            </a:avLst>
          </a:prstGeom>
          <a:solidFill>
            <a:srgbClr val="FBEA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685800" y="4005072"/>
            <a:ext cx="3657600" cy="7131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D95D39"/>
              </a:buClr>
              <a:buSzPts val="1200"/>
              <a:buFont typeface="Calibri"/>
              <a:buNone/>
            </a:pPr>
            <a:r>
              <a:rPr b="1" i="0" lang="en-US" sz="1200" u="none" cap="none" strike="noStrike">
                <a:solidFill>
                  <a:srgbClr val="D95D39"/>
                </a:solidFill>
                <a:latin typeface="Calibri"/>
                <a:ea typeface="Calibri"/>
                <a:cs typeface="Calibri"/>
                <a:sym typeface="Calibri"/>
              </a:rPr>
              <a:t>2011 · gentrification — the inflow arm</a:t>
            </a:r>
            <a:endParaRPr b="0" i="0" sz="1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100"/>
              <a:buFont typeface="Calibri"/>
              <a:buNone/>
            </a:pPr>
            <a:r>
              <a:rPr b="0" i="0" lang="en-US" sz="1100" u="none" cap="none" strike="noStrike">
                <a:solidFill>
                  <a:srgbClr val="1C2B3A"/>
                </a:solidFill>
                <a:latin typeface="Calibri"/>
                <a:ea typeface="Calibri"/>
                <a:cs typeface="Calibri"/>
                <a:sym typeface="Calibri"/>
              </a:rPr>
              <a:t>inflow share 40–93% · persistent · inner cores</a:t>
            </a:r>
            <a:endParaRPr b="0" i="0" sz="1200" u="none" cap="none" strike="noStrike">
              <a:solidFill>
                <a:schemeClr val="dk1"/>
              </a:solidFill>
              <a:latin typeface="Calibri"/>
              <a:ea typeface="Calibri"/>
              <a:cs typeface="Calibri"/>
              <a:sym typeface="Calibri"/>
            </a:endParaRPr>
          </a:p>
        </p:txBody>
      </p:sp>
      <p:sp>
        <p:nvSpPr>
          <p:cNvPr id="236" name="Google Shape;236;p12"/>
          <p:cNvSpPr/>
          <p:nvPr/>
        </p:nvSpPr>
        <p:spPr>
          <a:xfrm>
            <a:off x="4690872" y="3931920"/>
            <a:ext cx="3977700" cy="841200"/>
          </a:xfrm>
          <a:prstGeom prst="roundRect">
            <a:avLst>
              <a:gd fmla="val 6522" name="adj"/>
            </a:avLst>
          </a:prstGeom>
          <a:solidFill>
            <a:srgbClr val="E8F0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4901184" y="4005072"/>
            <a:ext cx="3657600" cy="7131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3E7CB1"/>
              </a:buClr>
              <a:buSzPts val="1200"/>
              <a:buFont typeface="Calibri"/>
              <a:buNone/>
            </a:pPr>
            <a:r>
              <a:rPr b="1" i="0" lang="en-US" sz="1200" u="none" cap="none" strike="noStrike">
                <a:solidFill>
                  <a:srgbClr val="3E7CB1"/>
                </a:solidFill>
                <a:latin typeface="Calibri"/>
                <a:ea typeface="Calibri"/>
                <a:cs typeface="Calibri"/>
                <a:sym typeface="Calibri"/>
              </a:rPr>
              <a:t>2021 · exodus — the outflow arm</a:t>
            </a:r>
            <a:endParaRPr b="0" i="0" sz="1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100"/>
              <a:buFont typeface="Calibri"/>
              <a:buNone/>
            </a:pPr>
            <a:r>
              <a:rPr b="0" i="0" lang="en-US" sz="1100" u="none" cap="none" strike="noStrike">
                <a:solidFill>
                  <a:srgbClr val="1C2B3A"/>
                </a:solidFill>
                <a:latin typeface="Calibri"/>
                <a:ea typeface="Calibri"/>
                <a:cs typeface="Calibri"/>
                <a:sym typeface="Calibri"/>
              </a:rPr>
              <a:t>inflow share 1–35% · episodic · outer ring</a:t>
            </a:r>
            <a:endParaRPr b="0" i="0" sz="1200" u="none" cap="none" strike="noStrike">
              <a:solidFill>
                <a:schemeClr val="dk1"/>
              </a:solidFill>
              <a:latin typeface="Calibri"/>
              <a:ea typeface="Calibri"/>
              <a:cs typeface="Calibri"/>
              <a:sym typeface="Calibri"/>
            </a:endParaRPr>
          </a:p>
        </p:txBody>
      </p:sp>
      <p:sp>
        <p:nvSpPr>
          <p:cNvPr id="238" name="Google Shape;238;p12"/>
          <p:cNvSpPr/>
          <p:nvPr/>
        </p:nvSpPr>
        <p:spPr>
          <a:xfrm>
            <a:off x="475488" y="4828032"/>
            <a:ext cx="8193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8788A"/>
              </a:buClr>
              <a:buSzPts val="1000"/>
              <a:buFont typeface="Calibri"/>
              <a:buNone/>
            </a:pPr>
            <a:r>
              <a:rPr b="0" i="1" lang="en-US" sz="1000" u="none" cap="none" strike="noStrike">
                <a:solidFill>
                  <a:srgbClr val="68788A"/>
                </a:solidFill>
                <a:latin typeface="Calibri"/>
                <a:ea typeface="Calibri"/>
                <a:cs typeface="Calibri"/>
                <a:sym typeface="Calibri"/>
              </a:rPr>
              <a:t>Same headline metric, opposite processes — the inflow share separates them. </a:t>
            </a:r>
            <a:endParaRPr b="0" i="0" sz="1000" u="none" cap="none" strike="noStrike">
              <a:solidFill>
                <a:schemeClr val="dk1"/>
              </a:solidFill>
              <a:latin typeface="Calibri"/>
              <a:ea typeface="Calibri"/>
              <a:cs typeface="Calibri"/>
              <a:sym typeface="Calibri"/>
            </a:endParaRPr>
          </a:p>
        </p:txBody>
      </p:sp>
      <p:sp>
        <p:nvSpPr>
          <p:cNvPr id="239" name="Google Shape;239;p12"/>
          <p:cNvSpPr/>
          <p:nvPr/>
        </p:nvSpPr>
        <p:spPr>
          <a:xfrm>
            <a:off x="8458200" y="4759452"/>
            <a:ext cx="3657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244" name="Shape 244"/>
        <p:cNvGrpSpPr/>
        <p:nvPr/>
      </p:nvGrpSpPr>
      <p:grpSpPr>
        <a:xfrm>
          <a:off x="0" y="0"/>
          <a:ext cx="0" cy="0"/>
          <a:chOff x="0" y="0"/>
          <a:chExt cx="0" cy="0"/>
        </a:xfrm>
      </p:grpSpPr>
      <p:sp>
        <p:nvSpPr>
          <p:cNvPr id="245" name="Google Shape;245;p13"/>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050"/>
              <a:buFont typeface="Calibri"/>
              <a:buNone/>
            </a:pPr>
            <a:r>
              <a:rPr b="1" i="0" lang="en-US" sz="1050" u="none" cap="none" strike="noStrike">
                <a:solidFill>
                  <a:srgbClr val="CADCFC"/>
                </a:solidFill>
                <a:latin typeface="Calibri"/>
                <a:ea typeface="Calibri"/>
                <a:cs typeface="Calibri"/>
                <a:sym typeface="Calibri"/>
              </a:rPr>
              <a:t>CONCLUSION</a:t>
            </a:r>
            <a:endParaRPr b="0" i="0" sz="1050" u="none" cap="none" strike="noStrike">
              <a:solidFill>
                <a:schemeClr val="dk1"/>
              </a:solidFill>
              <a:latin typeface="Calibri"/>
              <a:ea typeface="Calibri"/>
              <a:cs typeface="Calibri"/>
              <a:sym typeface="Calibri"/>
            </a:endParaRPr>
          </a:p>
        </p:txBody>
      </p:sp>
      <p:sp>
        <p:nvSpPr>
          <p:cNvPr id="246" name="Google Shape;246;p13"/>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The definition fails as an equivalence</a:t>
            </a:r>
            <a:endParaRPr b="0" i="0" sz="2600" u="none" cap="none" strike="noStrike">
              <a:solidFill>
                <a:schemeClr val="dk1"/>
              </a:solidFill>
              <a:latin typeface="Calibri"/>
              <a:ea typeface="Calibri"/>
              <a:cs typeface="Calibri"/>
              <a:sym typeface="Calibri"/>
            </a:endParaRPr>
          </a:p>
        </p:txBody>
      </p:sp>
      <p:sp>
        <p:nvSpPr>
          <p:cNvPr id="247" name="Google Shape;247;p13"/>
          <p:cNvSpPr/>
          <p:nvPr/>
        </p:nvSpPr>
        <p:spPr>
          <a:xfrm>
            <a:off x="502920" y="1234440"/>
            <a:ext cx="3931920" cy="1481328"/>
          </a:xfrm>
          <a:prstGeom prst="roundRect">
            <a:avLst>
              <a:gd fmla="val 4938" name="adj"/>
            </a:avLst>
          </a:prstGeom>
          <a:solidFill>
            <a:srgbClr val="243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a:off x="758952" y="1426464"/>
            <a:ext cx="384048" cy="384048"/>
          </a:xfrm>
          <a:prstGeom prst="ellipse">
            <a:avLst/>
          </a:prstGeom>
          <a:solidFill>
            <a:srgbClr val="D95D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a:off x="758952" y="14264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50" name="Google Shape;250;p13"/>
          <p:cNvSpPr/>
          <p:nvPr/>
        </p:nvSpPr>
        <p:spPr>
          <a:xfrm>
            <a:off x="1280160" y="1444752"/>
            <a:ext cx="2971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Measurement decoupling</a:t>
            </a:r>
            <a:endParaRPr b="0" i="0" sz="1500" u="none" cap="none" strike="noStrike">
              <a:solidFill>
                <a:schemeClr val="dk1"/>
              </a:solidFill>
              <a:latin typeface="Calibri"/>
              <a:ea typeface="Calibri"/>
              <a:cs typeface="Calibri"/>
              <a:sym typeface="Calibri"/>
            </a:endParaRPr>
          </a:p>
        </p:txBody>
      </p:sp>
      <p:sp>
        <p:nvSpPr>
          <p:cNvPr id="251" name="Google Shape;251;p13"/>
          <p:cNvSpPr/>
          <p:nvPr/>
        </p:nvSpPr>
        <p:spPr>
          <a:xfrm>
            <a:off x="777240" y="1938528"/>
            <a:ext cx="3429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2E0"/>
              </a:buClr>
              <a:buSzPts val="1150"/>
              <a:buFont typeface="Calibri"/>
              <a:buNone/>
            </a:pPr>
            <a:r>
              <a:rPr b="1" i="0" lang="en-US" sz="1150" u="none" cap="none" strike="noStrike">
                <a:solidFill>
                  <a:srgbClr val="C4D2E0"/>
                </a:solidFill>
                <a:latin typeface="Calibri"/>
                <a:ea typeface="Calibri"/>
                <a:cs typeface="Calibri"/>
                <a:sym typeface="Calibri"/>
              </a:rPr>
              <a:t>Cascade alone cannot define gentrification.</a:t>
            </a:r>
            <a:endParaRPr b="1" i="0" sz="1150" u="none" cap="none" strike="noStrike">
              <a:solidFill>
                <a:srgbClr val="C4D2E0"/>
              </a:solidFill>
              <a:latin typeface="Calibri"/>
              <a:ea typeface="Calibri"/>
              <a:cs typeface="Calibri"/>
              <a:sym typeface="Calibri"/>
            </a:endParaRPr>
          </a:p>
          <a:p>
            <a:pPr indent="-301625" lvl="0" marL="457200" rtl="0" algn="l">
              <a:spcBef>
                <a:spcPts val="0"/>
              </a:spcBef>
              <a:spcAft>
                <a:spcPts val="0"/>
              </a:spcAft>
              <a:buClr>
                <a:srgbClr val="C4D2E0"/>
              </a:buClr>
              <a:buSzPts val="1150"/>
              <a:buFont typeface="Calibri"/>
              <a:buChar char="●"/>
            </a:pPr>
            <a:r>
              <a:rPr lang="en-US" sz="1150">
                <a:solidFill>
                  <a:srgbClr val="C4D2E0"/>
                </a:solidFill>
                <a:latin typeface="Calibri"/>
                <a:ea typeface="Calibri"/>
                <a:cs typeface="Calibri"/>
                <a:sym typeface="Calibri"/>
              </a:rPr>
              <a:t>Attributes - who is there; </a:t>
            </a:r>
            <a:endParaRPr sz="1150">
              <a:solidFill>
                <a:srgbClr val="C4D2E0"/>
              </a:solidFill>
              <a:latin typeface="Calibri"/>
              <a:ea typeface="Calibri"/>
              <a:cs typeface="Calibri"/>
              <a:sym typeface="Calibri"/>
            </a:endParaRPr>
          </a:p>
          <a:p>
            <a:pPr indent="-301625" lvl="0" marL="457200" rtl="0" algn="l">
              <a:spcBef>
                <a:spcPts val="0"/>
              </a:spcBef>
              <a:spcAft>
                <a:spcPts val="0"/>
              </a:spcAft>
              <a:buClr>
                <a:srgbClr val="C4D2E0"/>
              </a:buClr>
              <a:buSzPts val="1150"/>
              <a:buFont typeface="Calibri"/>
              <a:buChar char="●"/>
            </a:pPr>
            <a:r>
              <a:rPr lang="en-US" sz="1150">
                <a:solidFill>
                  <a:srgbClr val="C4D2E0"/>
                </a:solidFill>
                <a:latin typeface="Calibri"/>
                <a:ea typeface="Calibri"/>
                <a:cs typeface="Calibri"/>
                <a:sym typeface="Calibri"/>
              </a:rPr>
              <a:t>Flows - how the hierarchy is reshuffled. </a:t>
            </a:r>
            <a:endParaRPr sz="1150">
              <a:solidFill>
                <a:srgbClr val="C4D2E0"/>
              </a:solidFill>
              <a:latin typeface="Calibri"/>
              <a:ea typeface="Calibri"/>
              <a:cs typeface="Calibri"/>
              <a:sym typeface="Calibri"/>
            </a:endParaRPr>
          </a:p>
        </p:txBody>
      </p:sp>
      <p:sp>
        <p:nvSpPr>
          <p:cNvPr id="252" name="Google Shape;252;p13"/>
          <p:cNvSpPr/>
          <p:nvPr/>
        </p:nvSpPr>
        <p:spPr>
          <a:xfrm>
            <a:off x="4709160" y="1234440"/>
            <a:ext cx="3931920" cy="1481328"/>
          </a:xfrm>
          <a:prstGeom prst="roundRect">
            <a:avLst>
              <a:gd fmla="val 4938" name="adj"/>
            </a:avLst>
          </a:prstGeom>
          <a:solidFill>
            <a:srgbClr val="2437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4965192" y="1426464"/>
            <a:ext cx="384048" cy="384048"/>
          </a:xfrm>
          <a:prstGeom prst="ellipse">
            <a:avLst/>
          </a:prstGeom>
          <a:solidFill>
            <a:srgbClr val="3E7C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a:off x="4965192" y="14264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255" name="Google Shape;255;p13"/>
          <p:cNvSpPr/>
          <p:nvPr/>
        </p:nvSpPr>
        <p:spPr>
          <a:xfrm>
            <a:off x="5486400" y="1444752"/>
            <a:ext cx="2971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Temporal shock</a:t>
            </a:r>
            <a:endParaRPr b="0" i="0" sz="1500" u="none" cap="none" strike="noStrike">
              <a:solidFill>
                <a:schemeClr val="dk1"/>
              </a:solidFill>
              <a:latin typeface="Calibri"/>
              <a:ea typeface="Calibri"/>
              <a:cs typeface="Calibri"/>
              <a:sym typeface="Calibri"/>
            </a:endParaRPr>
          </a:p>
        </p:txBody>
      </p:sp>
      <p:sp>
        <p:nvSpPr>
          <p:cNvPr id="256" name="Google Shape;256;p13"/>
          <p:cNvSpPr/>
          <p:nvPr/>
        </p:nvSpPr>
        <p:spPr>
          <a:xfrm>
            <a:off x="4983480" y="1938528"/>
            <a:ext cx="3429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2E0"/>
              </a:buClr>
              <a:buSzPts val="1150"/>
              <a:buFont typeface="Calibri"/>
              <a:buNone/>
            </a:pPr>
            <a:r>
              <a:rPr b="1" i="0" lang="en-US" sz="1150" u="none" cap="none" strike="noStrike">
                <a:solidFill>
                  <a:srgbClr val="C4D2E0"/>
                </a:solidFill>
                <a:latin typeface="Calibri"/>
                <a:ea typeface="Calibri"/>
                <a:cs typeface="Calibri"/>
                <a:sym typeface="Calibri"/>
              </a:rPr>
              <a:t>The same cascade</a:t>
            </a:r>
            <a:r>
              <a:rPr b="1" lang="en-US" sz="1150">
                <a:solidFill>
                  <a:srgbClr val="C4D2E0"/>
                </a:solidFill>
                <a:latin typeface="Calibri"/>
                <a:ea typeface="Calibri"/>
                <a:cs typeface="Calibri"/>
                <a:sym typeface="Calibri"/>
              </a:rPr>
              <a:t> </a:t>
            </a:r>
            <a:r>
              <a:rPr b="1" i="0" lang="en-US" sz="1150" u="none" cap="none" strike="noStrike">
                <a:solidFill>
                  <a:srgbClr val="C4D2E0"/>
                </a:solidFill>
                <a:latin typeface="Calibri"/>
                <a:ea typeface="Calibri"/>
                <a:cs typeface="Calibri"/>
                <a:sym typeface="Calibri"/>
              </a:rPr>
              <a:t>is produced by opposite processes</a:t>
            </a:r>
            <a:r>
              <a:rPr b="1" lang="en-US" sz="1150">
                <a:solidFill>
                  <a:srgbClr val="C4D2E0"/>
                </a:solidFill>
                <a:latin typeface="Calibri"/>
                <a:ea typeface="Calibri"/>
                <a:cs typeface="Calibri"/>
                <a:sym typeface="Calibri"/>
              </a:rPr>
              <a:t>. </a:t>
            </a:r>
            <a:endParaRPr sz="1150">
              <a:solidFill>
                <a:srgbClr val="C4D2E0"/>
              </a:solidFill>
              <a:latin typeface="Calibri"/>
              <a:ea typeface="Calibri"/>
              <a:cs typeface="Calibri"/>
              <a:sym typeface="Calibri"/>
            </a:endParaRPr>
          </a:p>
          <a:p>
            <a:pPr indent="-301625" lvl="0" marL="457200" marR="0" rtl="0" algn="l">
              <a:spcBef>
                <a:spcPts val="0"/>
              </a:spcBef>
              <a:spcAft>
                <a:spcPts val="0"/>
              </a:spcAft>
              <a:buClr>
                <a:srgbClr val="C4D2E0"/>
              </a:buClr>
              <a:buSzPts val="1150"/>
              <a:buFont typeface="Calibri"/>
              <a:buChar char="●"/>
            </a:pPr>
            <a:r>
              <a:rPr b="0" i="0" lang="en-US" sz="1150" u="none" cap="none" strike="noStrike">
                <a:solidFill>
                  <a:srgbClr val="C4D2E0"/>
                </a:solidFill>
                <a:latin typeface="Calibri"/>
                <a:ea typeface="Calibri"/>
                <a:cs typeface="Calibri"/>
                <a:sym typeface="Calibri"/>
              </a:rPr>
              <a:t>2021's is a one-off pandemic exodus.</a:t>
            </a:r>
            <a:endParaRPr b="0" i="0" sz="1150" u="none" cap="none" strike="noStrike">
              <a:solidFill>
                <a:schemeClr val="dk1"/>
              </a:solidFill>
              <a:latin typeface="Calibri"/>
              <a:ea typeface="Calibri"/>
              <a:cs typeface="Calibri"/>
              <a:sym typeface="Calibri"/>
            </a:endParaRPr>
          </a:p>
        </p:txBody>
      </p:sp>
      <p:sp>
        <p:nvSpPr>
          <p:cNvPr id="257" name="Google Shape;257;p13"/>
          <p:cNvSpPr/>
          <p:nvPr/>
        </p:nvSpPr>
        <p:spPr>
          <a:xfrm>
            <a:off x="502920" y="2971800"/>
            <a:ext cx="8138160" cy="1115568"/>
          </a:xfrm>
          <a:prstGeom prst="roundRect">
            <a:avLst>
              <a:gd fmla="val 6557" name="adj"/>
            </a:avLst>
          </a:prstGeom>
          <a:solidFill>
            <a:srgbClr val="F2A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777240" y="3090672"/>
            <a:ext cx="7589520" cy="9144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C3418"/>
              </a:buClr>
              <a:buSzPts val="1100"/>
              <a:buFont typeface="Calibri"/>
              <a:buNone/>
            </a:pPr>
            <a:r>
              <a:rPr b="1" i="0" lang="en-US" sz="1100" u="none" cap="none" strike="noStrike">
                <a:solidFill>
                  <a:srgbClr val="8C3418"/>
                </a:solidFill>
                <a:latin typeface="Calibri"/>
                <a:ea typeface="Calibri"/>
                <a:cs typeface="Calibri"/>
                <a:sym typeface="Calibri"/>
              </a:rPr>
              <a:t>THE REFINED DEFINITION — a candidate for future testing</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2B3A"/>
              </a:buClr>
              <a:buSzPts val="1400"/>
              <a:buFont typeface="Cambria"/>
              <a:buNone/>
            </a:pPr>
            <a:r>
              <a:rPr b="1" i="0" lang="en-US" sz="1400" u="none" cap="none" strike="noStrike">
                <a:solidFill>
                  <a:srgbClr val="1C2B3A"/>
                </a:solidFill>
                <a:latin typeface="Cambria"/>
                <a:ea typeface="Cambria"/>
                <a:cs typeface="Cambria"/>
                <a:sym typeface="Cambria"/>
              </a:rPr>
              <a:t>Gentrification's flow is not merely cascade churn, but a </a:t>
            </a:r>
            <a:r>
              <a:rPr b="1" i="0" lang="en-US" sz="1400" u="sng" cap="none" strike="noStrike">
                <a:solidFill>
                  <a:srgbClr val="1C2B3A"/>
                </a:solidFill>
                <a:latin typeface="Cambria"/>
                <a:ea typeface="Cambria"/>
                <a:cs typeface="Cambria"/>
                <a:sym typeface="Cambria"/>
              </a:rPr>
              <a:t>persistent</a:t>
            </a:r>
            <a:r>
              <a:rPr b="1" i="0" lang="en-US" sz="1400" u="none" cap="none" strike="noStrike">
                <a:solidFill>
                  <a:srgbClr val="1C2B3A"/>
                </a:solidFill>
                <a:latin typeface="Cambria"/>
                <a:ea typeface="Cambria"/>
                <a:cs typeface="Cambria"/>
                <a:sym typeface="Cambria"/>
              </a:rPr>
              <a:t>, </a:t>
            </a:r>
            <a:r>
              <a:rPr b="1" i="0" lang="en-US" sz="1400" u="sng" cap="none" strike="noStrike">
                <a:solidFill>
                  <a:srgbClr val="1C2B3A"/>
                </a:solidFill>
                <a:latin typeface="Cambria"/>
                <a:ea typeface="Cambria"/>
                <a:cs typeface="Cambria"/>
                <a:sym typeface="Cambria"/>
              </a:rPr>
              <a:t>inflow-led cascade</a:t>
            </a:r>
            <a:r>
              <a:rPr b="1" i="0" lang="en-US" sz="1400" u="none" cap="none" strike="noStrike">
                <a:solidFill>
                  <a:srgbClr val="1C2B3A"/>
                </a:solidFill>
                <a:latin typeface="Cambria"/>
                <a:ea typeface="Cambria"/>
                <a:cs typeface="Cambria"/>
                <a:sym typeface="Cambria"/>
              </a:rPr>
              <a:t> that </a:t>
            </a:r>
            <a:r>
              <a:rPr b="1" lang="en-US" sz="1400" u="sng" cap="none" strike="noStrike">
                <a:solidFill>
                  <a:srgbClr val="1C2B3A"/>
                </a:solidFill>
                <a:latin typeface="Cambria"/>
                <a:ea typeface="Cambria"/>
                <a:cs typeface="Cambria"/>
                <a:sym typeface="Cambria"/>
              </a:rPr>
              <a:t>coincides with attribute ascent</a:t>
            </a:r>
            <a:r>
              <a:rPr b="1" lang="en-US" sz="1400" cap="none" strike="noStrike">
                <a:solidFill>
                  <a:srgbClr val="1C2B3A"/>
                </a:solidFill>
                <a:latin typeface="Cambria"/>
                <a:ea typeface="Cambria"/>
                <a:cs typeface="Cambria"/>
                <a:sym typeface="Cambria"/>
              </a:rPr>
              <a:t>, </a:t>
            </a:r>
            <a:r>
              <a:rPr b="1" lang="en-US" sz="1400" u="sng" cap="none" strike="noStrike">
                <a:solidFill>
                  <a:srgbClr val="1C2B3A"/>
                </a:solidFill>
                <a:latin typeface="Cambria"/>
                <a:ea typeface="Cambria"/>
                <a:cs typeface="Cambria"/>
                <a:sym typeface="Cambria"/>
              </a:rPr>
              <a:t>at inner London</a:t>
            </a:r>
            <a:r>
              <a:rPr b="1" lang="en-US">
                <a:solidFill>
                  <a:srgbClr val="1C2B3A"/>
                </a:solidFill>
                <a:latin typeface="Cambria"/>
                <a:ea typeface="Cambria"/>
                <a:cs typeface="Cambria"/>
                <a:sym typeface="Cambria"/>
              </a:rPr>
              <a:t>.</a:t>
            </a:r>
            <a:endParaRPr b="0" i="0" sz="1100" u="none" cap="none" strike="noStrike">
              <a:solidFill>
                <a:schemeClr val="dk1"/>
              </a:solidFill>
              <a:latin typeface="Calibri"/>
              <a:ea typeface="Calibri"/>
              <a:cs typeface="Calibri"/>
              <a:sym typeface="Calibri"/>
            </a:endParaRPr>
          </a:p>
        </p:txBody>
      </p:sp>
      <p:sp>
        <p:nvSpPr>
          <p:cNvPr id="259" name="Google Shape;259;p13"/>
          <p:cNvSpPr/>
          <p:nvPr/>
        </p:nvSpPr>
        <p:spPr>
          <a:xfrm>
            <a:off x="457200" y="434340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D2E0"/>
              </a:buClr>
              <a:buSzPts val="1550"/>
              <a:buFont typeface="Cambria"/>
              <a:buNone/>
            </a:pPr>
            <a:r>
              <a:rPr i="1" lang="en-US" sz="1450">
                <a:solidFill>
                  <a:srgbClr val="C4D2E0"/>
                </a:solidFill>
                <a:latin typeface="Cambria"/>
                <a:ea typeface="Cambria"/>
                <a:cs typeface="Cambria"/>
                <a:sym typeface="Cambria"/>
              </a:rPr>
              <a:t>Broadly, t</a:t>
            </a:r>
            <a:r>
              <a:rPr b="0" i="1" lang="en-US" sz="1450" u="none" cap="none" strike="noStrike">
                <a:solidFill>
                  <a:srgbClr val="C4D2E0"/>
                </a:solidFill>
                <a:latin typeface="Cambria"/>
                <a:ea typeface="Cambria"/>
                <a:cs typeface="Cambria"/>
                <a:sym typeface="Cambria"/>
              </a:rPr>
              <a:t>he flow lens measures hierarchy restructuring; </a:t>
            </a:r>
            <a:r>
              <a:rPr i="1" lang="en-US" sz="1450">
                <a:solidFill>
                  <a:srgbClr val="C4D2E0"/>
                </a:solidFill>
                <a:latin typeface="Cambria"/>
                <a:ea typeface="Cambria"/>
                <a:cs typeface="Cambria"/>
                <a:sym typeface="Cambria"/>
              </a:rPr>
              <a:t>G</a:t>
            </a:r>
            <a:r>
              <a:rPr b="0" i="1" lang="en-US" sz="1450" u="none" cap="none" strike="noStrike">
                <a:solidFill>
                  <a:srgbClr val="C4D2E0"/>
                </a:solidFill>
                <a:latin typeface="Cambria"/>
                <a:ea typeface="Cambria"/>
                <a:cs typeface="Cambria"/>
                <a:sym typeface="Cambria"/>
              </a:rPr>
              <a:t>entrification is one specific signature within it.</a:t>
            </a:r>
            <a:endParaRPr b="0" i="0" sz="1450" u="none" cap="none" strike="noStrike">
              <a:solidFill>
                <a:schemeClr val="dk1"/>
              </a:solidFill>
              <a:latin typeface="Calibri"/>
              <a:ea typeface="Calibri"/>
              <a:cs typeface="Calibri"/>
              <a:sym typeface="Calibri"/>
            </a:endParaRPr>
          </a:p>
        </p:txBody>
      </p:sp>
      <p:sp>
        <p:nvSpPr>
          <p:cNvPr id="260" name="Google Shape;260;p13"/>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3B8"/>
              </a:buClr>
              <a:buSzPts val="900"/>
              <a:buFont typeface="Calibri"/>
              <a:buNone/>
            </a:pPr>
            <a:r>
              <a:rPr b="0" i="0" lang="en-US" sz="900" u="none" cap="none" strike="noStrike">
                <a:solidFill>
                  <a:srgbClr val="8FA3B8"/>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4"/>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CONTRIBUTION</a:t>
            </a:r>
            <a:endParaRPr b="0" i="0" sz="1050" u="none" cap="none" strike="noStrike">
              <a:solidFill>
                <a:schemeClr val="dk1"/>
              </a:solidFill>
              <a:latin typeface="Calibri"/>
              <a:ea typeface="Calibri"/>
              <a:cs typeface="Calibri"/>
              <a:sym typeface="Calibri"/>
            </a:endParaRPr>
          </a:p>
        </p:txBody>
      </p:sp>
      <p:sp>
        <p:nvSpPr>
          <p:cNvPr id="267" name="Google Shape;267;p14"/>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What this adds</a:t>
            </a:r>
            <a:endParaRPr b="0" i="0" sz="2600" u="none" cap="none" strike="noStrike">
              <a:solidFill>
                <a:schemeClr val="dk1"/>
              </a:solidFill>
              <a:latin typeface="Calibri"/>
              <a:ea typeface="Calibri"/>
              <a:cs typeface="Calibri"/>
              <a:sym typeface="Calibri"/>
            </a:endParaRPr>
          </a:p>
        </p:txBody>
      </p:sp>
      <p:sp>
        <p:nvSpPr>
          <p:cNvPr id="268" name="Google Shape;268;p14"/>
          <p:cNvSpPr/>
          <p:nvPr/>
        </p:nvSpPr>
        <p:spPr>
          <a:xfrm>
            <a:off x="475488" y="1325880"/>
            <a:ext cx="8193024" cy="987552"/>
          </a:xfrm>
          <a:prstGeom prst="roundRect">
            <a:avLst>
              <a:gd fmla="val 6481"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713232" y="1600200"/>
            <a:ext cx="420624" cy="420624"/>
          </a:xfrm>
          <a:prstGeom prst="ellipse">
            <a:avLst/>
          </a:prstGeom>
          <a:solidFill>
            <a:srgbClr val="D95D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p:nvPr/>
        </p:nvSpPr>
        <p:spPr>
          <a:xfrm>
            <a:off x="713232" y="16002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71" name="Google Shape;271;p14"/>
          <p:cNvSpPr/>
          <p:nvPr/>
        </p:nvSpPr>
        <p:spPr>
          <a:xfrm>
            <a:off x="1325880" y="1444752"/>
            <a:ext cx="71780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450"/>
              <a:buFont typeface="Cambria"/>
              <a:buNone/>
            </a:pPr>
            <a:r>
              <a:rPr b="1" i="0" lang="en-US" sz="1450" u="none" cap="none" strike="noStrike">
                <a:solidFill>
                  <a:srgbClr val="1C2B3A"/>
                </a:solidFill>
                <a:latin typeface="Cambria"/>
                <a:ea typeface="Cambria"/>
                <a:cs typeface="Cambria"/>
                <a:sym typeface="Cambria"/>
              </a:rPr>
              <a:t>An open-data, whole-city flow lens</a:t>
            </a:r>
            <a:endParaRPr b="0" i="0" sz="1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200"/>
              <a:buFont typeface="Calibri"/>
              <a:buNone/>
            </a:pPr>
            <a:r>
              <a:t/>
            </a:r>
            <a:endParaRPr sz="1200">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200"/>
              <a:buFont typeface="Calibri"/>
              <a:buNone/>
            </a:pPr>
            <a:r>
              <a:rPr lang="en-US" sz="1200">
                <a:solidFill>
                  <a:srgbClr val="68788A"/>
                </a:solidFill>
                <a:latin typeface="Calibri"/>
                <a:ea typeface="Calibri"/>
                <a:cs typeface="Calibri"/>
                <a:sym typeface="Calibri"/>
              </a:rPr>
              <a:t>Directly examines the cascade mechanism using publicly available census OD and IMD data across London.</a:t>
            </a:r>
            <a:endParaRPr b="0" i="0" sz="1450" u="none" cap="none" strike="noStrike">
              <a:solidFill>
                <a:schemeClr val="dk1"/>
              </a:solidFill>
              <a:latin typeface="Calibri"/>
              <a:ea typeface="Calibri"/>
              <a:cs typeface="Calibri"/>
              <a:sym typeface="Calibri"/>
            </a:endParaRPr>
          </a:p>
        </p:txBody>
      </p:sp>
      <p:sp>
        <p:nvSpPr>
          <p:cNvPr id="272" name="Google Shape;272;p14"/>
          <p:cNvSpPr/>
          <p:nvPr/>
        </p:nvSpPr>
        <p:spPr>
          <a:xfrm>
            <a:off x="475488" y="2468880"/>
            <a:ext cx="8193024" cy="987552"/>
          </a:xfrm>
          <a:prstGeom prst="roundRect">
            <a:avLst>
              <a:gd fmla="val 6481"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713232" y="2743200"/>
            <a:ext cx="420624" cy="420624"/>
          </a:xfrm>
          <a:prstGeom prst="ellipse">
            <a:avLst/>
          </a:prstGeom>
          <a:solidFill>
            <a:srgbClr val="1C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713232" y="27432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75" name="Google Shape;275;p14"/>
          <p:cNvSpPr/>
          <p:nvPr/>
        </p:nvSpPr>
        <p:spPr>
          <a:xfrm>
            <a:off x="1325875" y="2587750"/>
            <a:ext cx="7178100" cy="77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C2B3A"/>
              </a:buClr>
              <a:buSzPts val="1450"/>
              <a:buFont typeface="Cambria"/>
              <a:buNone/>
            </a:pPr>
            <a:r>
              <a:rPr b="1" lang="en-US" sz="1450">
                <a:solidFill>
                  <a:srgbClr val="1C2B3A"/>
                </a:solidFill>
                <a:latin typeface="Cambria"/>
                <a:ea typeface="Cambria"/>
                <a:cs typeface="Cambria"/>
                <a:sym typeface="Cambria"/>
              </a:rPr>
              <a:t>A clearer test of the cascade hypothesis</a:t>
            </a:r>
            <a:endParaRPr b="1" sz="1450">
              <a:solidFill>
                <a:srgbClr val="1C2B3A"/>
              </a:solidFill>
              <a:latin typeface="Cambria"/>
              <a:ea typeface="Cambria"/>
              <a:cs typeface="Cambria"/>
              <a:sym typeface="Cambria"/>
            </a:endParaRPr>
          </a:p>
          <a:p>
            <a:pPr indent="0" lvl="0" marL="0" rtl="0" algn="l">
              <a:spcBef>
                <a:spcPts val="0"/>
              </a:spcBef>
              <a:spcAft>
                <a:spcPts val="0"/>
              </a:spcAft>
              <a:buClr>
                <a:srgbClr val="1C2B3A"/>
              </a:buClr>
              <a:buSzPts val="1450"/>
              <a:buFont typeface="Cambria"/>
              <a:buNone/>
            </a:pPr>
            <a:r>
              <a:t/>
            </a:r>
            <a:endParaRPr b="1" sz="1450">
              <a:solidFill>
                <a:srgbClr val="1C2B3A"/>
              </a:solidFill>
              <a:latin typeface="Cambria"/>
              <a:ea typeface="Cambria"/>
              <a:cs typeface="Cambria"/>
              <a:sym typeface="Cambria"/>
            </a:endParaRPr>
          </a:p>
          <a:p>
            <a:pPr indent="0" lvl="0" marL="0" rtl="0" algn="l">
              <a:spcBef>
                <a:spcPts val="0"/>
              </a:spcBef>
              <a:spcAft>
                <a:spcPts val="0"/>
              </a:spcAft>
              <a:buClr>
                <a:srgbClr val="68788A"/>
              </a:buClr>
              <a:buSzPts val="1200"/>
              <a:buFont typeface="Calibri"/>
              <a:buNone/>
            </a:pPr>
            <a:r>
              <a:rPr lang="en-US" sz="1200">
                <a:solidFill>
                  <a:srgbClr val="68788A"/>
                </a:solidFill>
                <a:latin typeface="Calibri"/>
                <a:ea typeface="Calibri"/>
                <a:cs typeface="Calibri"/>
                <a:sym typeface="Calibri"/>
              </a:rPr>
              <a:t>Shows where flow-based and attribute-based interpretations converge or diverge.</a:t>
            </a:r>
            <a:endParaRPr b="1" sz="1450">
              <a:solidFill>
                <a:srgbClr val="1C2B3A"/>
              </a:solidFill>
              <a:latin typeface="Cambria"/>
              <a:ea typeface="Cambria"/>
              <a:cs typeface="Cambria"/>
              <a:sym typeface="Cambria"/>
            </a:endParaRPr>
          </a:p>
        </p:txBody>
      </p:sp>
      <p:sp>
        <p:nvSpPr>
          <p:cNvPr id="276" name="Google Shape;276;p14"/>
          <p:cNvSpPr/>
          <p:nvPr/>
        </p:nvSpPr>
        <p:spPr>
          <a:xfrm>
            <a:off x="475488" y="3611880"/>
            <a:ext cx="8193024" cy="987552"/>
          </a:xfrm>
          <a:prstGeom prst="roundRect">
            <a:avLst>
              <a:gd fmla="val 6481"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p:nvPr/>
        </p:nvSpPr>
        <p:spPr>
          <a:xfrm>
            <a:off x="713232" y="3886200"/>
            <a:ext cx="420624" cy="420624"/>
          </a:xfrm>
          <a:prstGeom prst="ellipse">
            <a:avLst/>
          </a:prstGeom>
          <a:solidFill>
            <a:srgbClr val="3E7C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713232" y="38862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79" name="Google Shape;279;p14"/>
          <p:cNvSpPr/>
          <p:nvPr/>
        </p:nvSpPr>
        <p:spPr>
          <a:xfrm>
            <a:off x="1325875" y="3730750"/>
            <a:ext cx="7178100" cy="86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C2B3A"/>
              </a:buClr>
              <a:buSzPts val="1450"/>
              <a:buFont typeface="Cambria"/>
              <a:buNone/>
            </a:pPr>
            <a:r>
              <a:rPr b="1" lang="en-US" sz="1450">
                <a:solidFill>
                  <a:srgbClr val="1C2B3A"/>
                </a:solidFill>
                <a:latin typeface="Cambria"/>
                <a:ea typeface="Cambria"/>
                <a:cs typeface="Cambria"/>
                <a:sym typeface="Cambria"/>
              </a:rPr>
              <a:t>A three-frame decomposition</a:t>
            </a:r>
            <a:endParaRPr sz="1450">
              <a:solidFill>
                <a:schemeClr val="dk1"/>
              </a:solidFill>
              <a:latin typeface="Calibri"/>
              <a:ea typeface="Calibri"/>
              <a:cs typeface="Calibri"/>
              <a:sym typeface="Calibri"/>
            </a:endParaRPr>
          </a:p>
          <a:p>
            <a:pPr indent="0" lvl="0" marL="0" rtl="0" algn="l">
              <a:spcBef>
                <a:spcPts val="0"/>
              </a:spcBef>
              <a:spcAft>
                <a:spcPts val="0"/>
              </a:spcAft>
              <a:buClr>
                <a:srgbClr val="68788A"/>
              </a:buClr>
              <a:buSzPts val="1200"/>
              <a:buFont typeface="Calibri"/>
              <a:buNone/>
            </a:pPr>
            <a:r>
              <a:t/>
            </a:r>
            <a:endParaRPr sz="1200">
              <a:solidFill>
                <a:srgbClr val="68788A"/>
              </a:solidFill>
              <a:latin typeface="Calibri"/>
              <a:ea typeface="Calibri"/>
              <a:cs typeface="Calibri"/>
              <a:sym typeface="Calibri"/>
            </a:endParaRPr>
          </a:p>
          <a:p>
            <a:pPr indent="0" lvl="0" marL="0" rtl="0" algn="l">
              <a:spcBef>
                <a:spcPts val="0"/>
              </a:spcBef>
              <a:spcAft>
                <a:spcPts val="0"/>
              </a:spcAft>
              <a:buClr>
                <a:srgbClr val="68788A"/>
              </a:buClr>
              <a:buSzPts val="1200"/>
              <a:buFont typeface="Calibri"/>
              <a:buNone/>
            </a:pPr>
            <a:r>
              <a:rPr lang="en-US" sz="1200">
                <a:solidFill>
                  <a:srgbClr val="68788A"/>
                </a:solidFill>
                <a:latin typeface="Calibri"/>
                <a:ea typeface="Calibri"/>
                <a:cs typeface="Calibri"/>
                <a:sym typeface="Calibri"/>
              </a:rPr>
              <a:t>Separates neighbourhood re-ranking from external migration, attribute each cross-frame transition to a distinct mechanism.</a:t>
            </a:r>
            <a:endParaRPr sz="1450">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200"/>
              <a:buFont typeface="Calibri"/>
              <a:buNone/>
            </a:pPr>
            <a:r>
              <a:t/>
            </a:r>
            <a:endParaRPr sz="1200">
              <a:solidFill>
                <a:srgbClr val="68788A"/>
              </a:solidFill>
              <a:latin typeface="Calibri"/>
              <a:ea typeface="Calibri"/>
              <a:cs typeface="Calibri"/>
              <a:sym typeface="Calibri"/>
            </a:endParaRPr>
          </a:p>
        </p:txBody>
      </p:sp>
      <p:sp>
        <p:nvSpPr>
          <p:cNvPr id="280" name="Google Shape;280;p14"/>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15"/>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8788A"/>
              </a:buClr>
              <a:buSzPts val="1050"/>
              <a:buFont typeface="Calibri"/>
              <a:buNone/>
            </a:pPr>
            <a:r>
              <a:rPr b="1" i="0" lang="en-US" sz="1050" u="none" cap="none" strike="noStrike">
                <a:solidFill>
                  <a:srgbClr val="68788A"/>
                </a:solidFill>
                <a:latin typeface="Calibri"/>
                <a:ea typeface="Calibri"/>
                <a:cs typeface="Calibri"/>
                <a:sym typeface="Calibri"/>
              </a:rPr>
              <a:t>LIMITATIONS </a:t>
            </a:r>
            <a:endParaRPr b="0" i="0" sz="1050" u="none" cap="none" strike="noStrike">
              <a:solidFill>
                <a:schemeClr val="dk1"/>
              </a:solidFill>
              <a:latin typeface="Calibri"/>
              <a:ea typeface="Calibri"/>
              <a:cs typeface="Calibri"/>
              <a:sym typeface="Calibri"/>
            </a:endParaRPr>
          </a:p>
        </p:txBody>
      </p:sp>
      <p:sp>
        <p:nvSpPr>
          <p:cNvPr id="287" name="Google Shape;287;p15"/>
          <p:cNvSpPr/>
          <p:nvPr/>
        </p:nvSpPr>
        <p:spPr>
          <a:xfrm>
            <a:off x="457200" y="512064"/>
            <a:ext cx="822960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C2B3A"/>
              </a:buClr>
              <a:buSzPts val="2600"/>
              <a:buFont typeface="Cambria"/>
              <a:buNone/>
            </a:pPr>
            <a:r>
              <a:rPr b="1" i="0" lang="en-US" sz="2600" u="none" cap="none" strike="noStrike">
                <a:solidFill>
                  <a:srgbClr val="1C2B3A"/>
                </a:solidFill>
                <a:latin typeface="Cambria"/>
                <a:ea typeface="Cambria"/>
                <a:cs typeface="Cambria"/>
                <a:sym typeface="Cambria"/>
              </a:rPr>
              <a:t>What this can't say</a:t>
            </a:r>
            <a:endParaRPr b="0" i="0" sz="2600" u="none" cap="none" strike="noStrike">
              <a:solidFill>
                <a:schemeClr val="dk1"/>
              </a:solidFill>
              <a:latin typeface="Calibri"/>
              <a:ea typeface="Calibri"/>
              <a:cs typeface="Calibri"/>
              <a:sym typeface="Calibri"/>
            </a:endParaRPr>
          </a:p>
        </p:txBody>
      </p:sp>
      <p:sp>
        <p:nvSpPr>
          <p:cNvPr id="288" name="Google Shape;288;p15"/>
          <p:cNvSpPr/>
          <p:nvPr/>
        </p:nvSpPr>
        <p:spPr>
          <a:xfrm>
            <a:off x="475500" y="1298450"/>
            <a:ext cx="3977700" cy="1432800"/>
          </a:xfrm>
          <a:prstGeom prst="roundRect">
            <a:avLst>
              <a:gd fmla="val 660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694955" y="1447123"/>
            <a:ext cx="3566100" cy="116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300"/>
              <a:buFont typeface="Cambria"/>
              <a:buNone/>
            </a:pPr>
            <a:r>
              <a:rPr b="1" i="0" lang="en-US" sz="1300" u="none" cap="none" strike="noStrike">
                <a:solidFill>
                  <a:srgbClr val="1C2B3A"/>
                </a:solidFill>
                <a:latin typeface="Cambria"/>
                <a:ea typeface="Cambria"/>
                <a:cs typeface="Cambria"/>
                <a:sym typeface="Cambria"/>
              </a:rPr>
              <a:t>Ecological</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t/>
            </a:r>
            <a:endParaRPr sz="1100">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rPr b="0" i="0" lang="en-US" sz="1100" u="none" cap="none" strike="noStrike">
                <a:solidFill>
                  <a:srgbClr val="68788A"/>
                </a:solidFill>
                <a:latin typeface="Calibri"/>
                <a:ea typeface="Calibri"/>
                <a:cs typeface="Calibri"/>
                <a:sym typeface="Calibri"/>
              </a:rPr>
              <a:t>Area of origin is a noisy proxy for a mover's wealth. </a:t>
            </a:r>
            <a:endParaRPr b="0" i="0" sz="1100" u="none" cap="none" strike="noStrike">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rPr b="0" i="0" lang="en-US" sz="1100" u="none" cap="none" strike="noStrike">
                <a:solidFill>
                  <a:srgbClr val="68788A"/>
                </a:solidFill>
                <a:latin typeface="Calibri"/>
                <a:ea typeface="Calibri"/>
                <a:cs typeface="Calibri"/>
                <a:sym typeface="Calibri"/>
              </a:rPr>
              <a:t>(This also explains the decoupling.)</a:t>
            </a:r>
            <a:endParaRPr b="0" i="0" sz="1300" u="none" cap="none" strike="noStrike">
              <a:solidFill>
                <a:schemeClr val="dk1"/>
              </a:solidFill>
              <a:latin typeface="Calibri"/>
              <a:ea typeface="Calibri"/>
              <a:cs typeface="Calibri"/>
              <a:sym typeface="Calibri"/>
            </a:endParaRPr>
          </a:p>
        </p:txBody>
      </p:sp>
      <p:sp>
        <p:nvSpPr>
          <p:cNvPr id="290" name="Google Shape;290;p15"/>
          <p:cNvSpPr/>
          <p:nvPr/>
        </p:nvSpPr>
        <p:spPr>
          <a:xfrm>
            <a:off x="4690873" y="1298450"/>
            <a:ext cx="3977700" cy="1432800"/>
          </a:xfrm>
          <a:prstGeom prst="roundRect">
            <a:avLst>
              <a:gd fmla="val 660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4910329" y="1447123"/>
            <a:ext cx="3566100" cy="116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300"/>
              <a:buFont typeface="Cambria"/>
              <a:buNone/>
            </a:pPr>
            <a:r>
              <a:rPr b="1" i="0" lang="en-US" sz="1300" u="none" cap="none" strike="noStrike">
                <a:solidFill>
                  <a:srgbClr val="1C2B3A"/>
                </a:solidFill>
                <a:latin typeface="Cambria"/>
                <a:ea typeface="Cambria"/>
                <a:cs typeface="Cambria"/>
                <a:sym typeface="Cambria"/>
              </a:rPr>
              <a:t>Temporal mismatch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t/>
            </a:r>
            <a:endParaRPr sz="1100">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rPr b="0" i="0" lang="en-US" sz="1100" u="none" cap="none" strike="noStrike">
                <a:solidFill>
                  <a:srgbClr val="68788A"/>
                </a:solidFill>
                <a:latin typeface="Calibri"/>
                <a:ea typeface="Calibri"/>
                <a:cs typeface="Calibri"/>
                <a:sym typeface="Calibri"/>
              </a:rPr>
              <a:t>Flows are 2011 </a:t>
            </a:r>
            <a:r>
              <a:rPr lang="en-US" sz="1100">
                <a:solidFill>
                  <a:srgbClr val="68788A"/>
                </a:solidFill>
                <a:latin typeface="Calibri"/>
                <a:ea typeface="Calibri"/>
                <a:cs typeface="Calibri"/>
                <a:sym typeface="Calibri"/>
              </a:rPr>
              <a:t>→</a:t>
            </a:r>
            <a:r>
              <a:rPr b="0" i="0" lang="en-US" sz="1100" u="none" cap="none" strike="noStrike">
                <a:solidFill>
                  <a:srgbClr val="68788A"/>
                </a:solidFill>
                <a:latin typeface="Calibri"/>
                <a:ea typeface="Calibri"/>
                <a:cs typeface="Calibri"/>
                <a:sym typeface="Calibri"/>
              </a:rPr>
              <a:t> 2021; </a:t>
            </a:r>
            <a:endParaRPr b="0" i="0" sz="1100" u="none" cap="none" strike="noStrike">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rPr b="0" i="0" lang="en-US" sz="1100" u="none" cap="none" strike="noStrike">
                <a:solidFill>
                  <a:srgbClr val="68788A"/>
                </a:solidFill>
                <a:latin typeface="Calibri"/>
                <a:ea typeface="Calibri"/>
                <a:cs typeface="Calibri"/>
                <a:sym typeface="Calibri"/>
              </a:rPr>
              <a:t>IMD outcome</a:t>
            </a:r>
            <a:r>
              <a:rPr lang="en-US" sz="1100">
                <a:solidFill>
                  <a:srgbClr val="68788A"/>
                </a:solidFill>
                <a:latin typeface="Calibri"/>
                <a:ea typeface="Calibri"/>
                <a:cs typeface="Calibri"/>
                <a:sym typeface="Calibri"/>
              </a:rPr>
              <a:t>s are</a:t>
            </a:r>
            <a:r>
              <a:rPr b="0" i="0" lang="en-US" sz="1100" u="none" cap="none" strike="noStrike">
                <a:solidFill>
                  <a:srgbClr val="68788A"/>
                </a:solidFill>
                <a:latin typeface="Calibri"/>
                <a:ea typeface="Calibri"/>
                <a:cs typeface="Calibri"/>
                <a:sym typeface="Calibri"/>
              </a:rPr>
              <a:t> 2010</a:t>
            </a:r>
            <a:r>
              <a:rPr b="0" i="0" lang="en-US" sz="1100" u="none" cap="none" strike="noStrike">
                <a:solidFill>
                  <a:srgbClr val="68788A"/>
                </a:solidFill>
                <a:latin typeface="Calibri"/>
                <a:ea typeface="Calibri"/>
                <a:cs typeface="Calibri"/>
                <a:sym typeface="Calibri"/>
              </a:rPr>
              <a:t> → </a:t>
            </a:r>
            <a:r>
              <a:rPr b="0" i="0" lang="en-US" sz="1100" u="none" cap="none" strike="noStrike">
                <a:solidFill>
                  <a:srgbClr val="68788A"/>
                </a:solidFill>
                <a:latin typeface="Calibri"/>
                <a:ea typeface="Calibri"/>
                <a:cs typeface="Calibri"/>
                <a:sym typeface="Calibri"/>
              </a:rPr>
              <a:t>2019.</a:t>
            </a:r>
            <a:endParaRPr b="0" i="0" sz="1300" u="none" cap="none" strike="noStrike">
              <a:solidFill>
                <a:schemeClr val="dk1"/>
              </a:solidFill>
              <a:latin typeface="Calibri"/>
              <a:ea typeface="Calibri"/>
              <a:cs typeface="Calibri"/>
              <a:sym typeface="Calibri"/>
            </a:endParaRPr>
          </a:p>
        </p:txBody>
      </p:sp>
      <p:sp>
        <p:nvSpPr>
          <p:cNvPr id="292" name="Google Shape;292;p15"/>
          <p:cNvSpPr/>
          <p:nvPr/>
        </p:nvSpPr>
        <p:spPr>
          <a:xfrm>
            <a:off x="475500" y="2947371"/>
            <a:ext cx="3977700" cy="1432800"/>
          </a:xfrm>
          <a:prstGeom prst="roundRect">
            <a:avLst>
              <a:gd fmla="val 660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694955" y="3096044"/>
            <a:ext cx="3566100" cy="116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300"/>
              <a:buFont typeface="Cambria"/>
              <a:buNone/>
            </a:pPr>
            <a:r>
              <a:rPr b="1" lang="en-US" sz="1300">
                <a:solidFill>
                  <a:srgbClr val="1C2B3A"/>
                </a:solidFill>
                <a:latin typeface="Cambria"/>
                <a:ea typeface="Cambria"/>
                <a:cs typeface="Cambria"/>
                <a:sym typeface="Cambria"/>
              </a:rPr>
              <a:t>Historical deprivation hierarchy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t/>
            </a:r>
            <a:endParaRPr sz="1100">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rPr b="0" i="0" lang="en-US" sz="1100" u="none" cap="none" strike="noStrike">
                <a:solidFill>
                  <a:srgbClr val="68788A"/>
                </a:solidFill>
                <a:latin typeface="Calibri"/>
                <a:ea typeface="Calibri"/>
                <a:cs typeface="Calibri"/>
                <a:sym typeface="Calibri"/>
              </a:rPr>
              <a:t>A 2010 baseline is less representative by 2021</a:t>
            </a:r>
            <a:r>
              <a:rPr lang="en-US" sz="1100">
                <a:solidFill>
                  <a:srgbClr val="68788A"/>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94" name="Google Shape;294;p15"/>
          <p:cNvSpPr/>
          <p:nvPr/>
        </p:nvSpPr>
        <p:spPr>
          <a:xfrm>
            <a:off x="4690873" y="2947371"/>
            <a:ext cx="3977700" cy="1432800"/>
          </a:xfrm>
          <a:prstGeom prst="roundRect">
            <a:avLst>
              <a:gd fmla="val 6604" name="adj"/>
            </a:avLst>
          </a:prstGeom>
          <a:solidFill>
            <a:srgbClr val="F1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4910329" y="3096044"/>
            <a:ext cx="3566100" cy="116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A"/>
              </a:buClr>
              <a:buSzPts val="1300"/>
              <a:buFont typeface="Cambria"/>
              <a:buNone/>
            </a:pPr>
            <a:r>
              <a:rPr b="1" i="0" lang="en-US" sz="1300" u="none" cap="none" strike="noStrike">
                <a:solidFill>
                  <a:srgbClr val="1C2B3A"/>
                </a:solidFill>
                <a:latin typeface="Cambria"/>
                <a:ea typeface="Cambria"/>
                <a:cs typeface="Cambria"/>
                <a:sym typeface="Cambria"/>
              </a:rPr>
              <a:t>Lockdown census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t/>
            </a:r>
            <a:endParaRPr sz="1100">
              <a:solidFill>
                <a:srgbClr val="68788A"/>
              </a:solidFill>
              <a:latin typeface="Calibri"/>
              <a:ea typeface="Calibri"/>
              <a:cs typeface="Calibri"/>
              <a:sym typeface="Calibri"/>
            </a:endParaRPr>
          </a:p>
          <a:p>
            <a:pPr indent="0" lvl="0" marL="0" marR="0" rtl="0" algn="l">
              <a:spcBef>
                <a:spcPts val="0"/>
              </a:spcBef>
              <a:spcAft>
                <a:spcPts val="0"/>
              </a:spcAft>
              <a:buClr>
                <a:srgbClr val="68788A"/>
              </a:buClr>
              <a:buSzPts val="1100"/>
              <a:buFont typeface="Calibri"/>
              <a:buNone/>
            </a:pPr>
            <a:r>
              <a:rPr b="0" i="0" lang="en-US" sz="1100" u="none" cap="none" strike="noStrike">
                <a:solidFill>
                  <a:srgbClr val="68788A"/>
                </a:solidFill>
                <a:latin typeface="Calibri"/>
                <a:ea typeface="Calibri"/>
                <a:cs typeface="Calibri"/>
                <a:sym typeface="Calibri"/>
              </a:rPr>
              <a:t>March-2021 suppression and imputation degrade the flow estimates.</a:t>
            </a:r>
            <a:endParaRPr b="0" i="0" sz="1300" u="none" cap="none" strike="noStrike">
              <a:solidFill>
                <a:schemeClr val="dk1"/>
              </a:solidFill>
              <a:latin typeface="Calibri"/>
              <a:ea typeface="Calibri"/>
              <a:cs typeface="Calibri"/>
              <a:sym typeface="Calibri"/>
            </a:endParaRPr>
          </a:p>
        </p:txBody>
      </p:sp>
      <p:sp>
        <p:nvSpPr>
          <p:cNvPr id="296" name="Google Shape;296;p15"/>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8788A"/>
              </a:buClr>
              <a:buSzPts val="900"/>
              <a:buFont typeface="Calibri"/>
              <a:buNone/>
            </a:pPr>
            <a:r>
              <a:rPr b="0" i="0" lang="en-US" sz="900" u="none" cap="none" strike="noStrike">
                <a:solidFill>
                  <a:srgbClr val="68788A"/>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301" name="Shape 301"/>
        <p:cNvGrpSpPr/>
        <p:nvPr/>
      </p:nvGrpSpPr>
      <p:grpSpPr>
        <a:xfrm>
          <a:off x="0" y="0"/>
          <a:ext cx="0" cy="0"/>
          <a:chOff x="0" y="0"/>
          <a:chExt cx="0" cy="0"/>
        </a:xfrm>
      </p:grpSpPr>
      <p:sp>
        <p:nvSpPr>
          <p:cNvPr id="302" name="Google Shape;302;p16"/>
          <p:cNvSpPr/>
          <p:nvPr/>
        </p:nvSpPr>
        <p:spPr>
          <a:xfrm>
            <a:off x="502920" y="274320"/>
            <a:ext cx="81381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050"/>
              <a:buFont typeface="Calibri"/>
              <a:buNone/>
            </a:pPr>
            <a:r>
              <a:rPr b="1" i="0" lang="en-US" sz="1050" u="none" cap="none" strike="noStrike">
                <a:solidFill>
                  <a:srgbClr val="CADCFC"/>
                </a:solidFill>
                <a:latin typeface="Calibri"/>
                <a:ea typeface="Calibri"/>
                <a:cs typeface="Calibri"/>
                <a:sym typeface="Calibri"/>
              </a:rPr>
              <a:t>KEY REFERENCES</a:t>
            </a:r>
            <a:endParaRPr b="0" i="0" sz="1050" u="none" cap="none" strike="noStrike">
              <a:solidFill>
                <a:schemeClr val="dk1"/>
              </a:solidFill>
              <a:latin typeface="Calibri"/>
              <a:ea typeface="Calibri"/>
              <a:cs typeface="Calibri"/>
              <a:sym typeface="Calibri"/>
            </a:endParaRPr>
          </a:p>
        </p:txBody>
      </p:sp>
      <p:sp>
        <p:nvSpPr>
          <p:cNvPr id="303" name="Google Shape;303;p16"/>
          <p:cNvSpPr/>
          <p:nvPr/>
        </p:nvSpPr>
        <p:spPr>
          <a:xfrm>
            <a:off x="502920" y="566928"/>
            <a:ext cx="8138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Thank you</a:t>
            </a:r>
            <a:endParaRPr b="0" i="0" sz="3000" u="none" cap="none" strike="noStrike">
              <a:solidFill>
                <a:schemeClr val="dk1"/>
              </a:solidFill>
              <a:latin typeface="Calibri"/>
              <a:ea typeface="Calibri"/>
              <a:cs typeface="Calibri"/>
              <a:sym typeface="Calibri"/>
            </a:endParaRPr>
          </a:p>
        </p:txBody>
      </p:sp>
      <p:sp>
        <p:nvSpPr>
          <p:cNvPr id="304" name="Google Shape;304;p16"/>
          <p:cNvSpPr/>
          <p:nvPr/>
        </p:nvSpPr>
        <p:spPr>
          <a:xfrm>
            <a:off x="521208" y="1170432"/>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78E"/>
              </a:buClr>
              <a:buSzPts val="1400"/>
              <a:buFont typeface="Cambria"/>
              <a:buNone/>
            </a:pPr>
            <a:r>
              <a:rPr b="0" i="1" lang="en-US" sz="1400" u="none" cap="none" strike="noStrike">
                <a:solidFill>
                  <a:srgbClr val="F2A78E"/>
                </a:solidFill>
                <a:latin typeface="Cambria"/>
                <a:ea typeface="Cambria"/>
                <a:cs typeface="Cambria"/>
                <a:sym typeface="Cambria"/>
              </a:rPr>
              <a:t>Questions welcome</a:t>
            </a:r>
            <a:endParaRPr b="0" i="0" sz="1400" u="none" cap="none" strike="noStrike">
              <a:solidFill>
                <a:schemeClr val="dk1"/>
              </a:solidFill>
              <a:latin typeface="Calibri"/>
              <a:ea typeface="Calibri"/>
              <a:cs typeface="Calibri"/>
              <a:sym typeface="Calibri"/>
            </a:endParaRPr>
          </a:p>
        </p:txBody>
      </p:sp>
      <p:sp>
        <p:nvSpPr>
          <p:cNvPr id="305" name="Google Shape;305;p16"/>
          <p:cNvSpPr/>
          <p:nvPr/>
        </p:nvSpPr>
        <p:spPr>
          <a:xfrm>
            <a:off x="640075" y="1620550"/>
            <a:ext cx="7772400" cy="31389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None/>
            </a:pPr>
            <a:r>
              <a:rPr lang="en-US" sz="1500">
                <a:solidFill>
                  <a:srgbClr val="C4D2E0"/>
                </a:solidFill>
                <a:latin typeface="Calibri"/>
                <a:ea typeface="Calibri"/>
                <a:cs typeface="Calibri"/>
                <a:sym typeface="Calibri"/>
              </a:rPr>
              <a:t>Reference List</a:t>
            </a:r>
            <a:endParaRPr sz="1500">
              <a:solidFill>
                <a:srgbClr val="C4D2E0"/>
              </a:solidFill>
              <a:latin typeface="Calibri"/>
              <a:ea typeface="Calibri"/>
              <a:cs typeface="Calibri"/>
              <a:sym typeface="Calibri"/>
            </a:endParaRPr>
          </a:p>
          <a:p>
            <a:pPr indent="0" lvl="0" marL="0" marR="0" rtl="0" algn="l">
              <a:lnSpc>
                <a:spcPct val="135000"/>
              </a:lnSpc>
              <a:spcBef>
                <a:spcPts val="0"/>
              </a:spcBef>
              <a:spcAft>
                <a:spcPts val="0"/>
              </a:spcAft>
              <a:buNone/>
            </a:pPr>
            <a:r>
              <a:t/>
            </a:r>
            <a:endParaRPr sz="1300">
              <a:solidFill>
                <a:srgbClr val="C4D2E0"/>
              </a:solidFill>
              <a:latin typeface="Calibri"/>
              <a:ea typeface="Calibri"/>
              <a:cs typeface="Calibri"/>
              <a:sym typeface="Calibri"/>
            </a:endParaRPr>
          </a:p>
          <a:p>
            <a:pPr indent="-152400" lvl="0" marL="152400" rtl="0" algn="l">
              <a:lnSpc>
                <a:spcPct val="135000"/>
              </a:lnSpc>
              <a:spcBef>
                <a:spcPts val="0"/>
              </a:spcBef>
              <a:spcAft>
                <a:spcPts val="0"/>
              </a:spcAft>
              <a:buClr>
                <a:srgbClr val="C4D2E0"/>
              </a:buClr>
              <a:buSzPts val="1200"/>
              <a:buFont typeface="Calibri"/>
              <a:buChar char="•"/>
            </a:pPr>
            <a:r>
              <a:rPr lang="en-US" sz="1200">
                <a:solidFill>
                  <a:srgbClr val="C4D2E0"/>
                </a:solidFill>
                <a:latin typeface="Calibri"/>
                <a:ea typeface="Calibri"/>
                <a:cs typeface="Calibri"/>
                <a:sym typeface="Calibri"/>
              </a:rPr>
              <a:t>Dennett, A. &amp; Stillwell, J. (2008). Population turnover and churn. Population Trends 134.</a:t>
            </a:r>
            <a:endParaRPr sz="1200">
              <a:solidFill>
                <a:srgbClr val="C4D2E0"/>
              </a:solidFill>
              <a:latin typeface="Calibri"/>
              <a:ea typeface="Calibri"/>
              <a:cs typeface="Calibri"/>
              <a:sym typeface="Calibri"/>
            </a:endParaRPr>
          </a:p>
          <a:p>
            <a:pPr indent="-152400" lvl="0" marL="152400" rtl="0" algn="l">
              <a:lnSpc>
                <a:spcPct val="135000"/>
              </a:lnSpc>
              <a:spcBef>
                <a:spcPts val="0"/>
              </a:spcBef>
              <a:spcAft>
                <a:spcPts val="0"/>
              </a:spcAft>
              <a:buClr>
                <a:srgbClr val="C4D2E0"/>
              </a:buClr>
              <a:buSzPts val="1200"/>
              <a:buFont typeface="Calibri"/>
              <a:buChar char="•"/>
            </a:pPr>
            <a:r>
              <a:rPr lang="en-US" sz="1200">
                <a:solidFill>
                  <a:srgbClr val="C4D2E0"/>
                </a:solidFill>
                <a:latin typeface="Calibri"/>
                <a:ea typeface="Calibri"/>
                <a:cs typeface="Calibri"/>
                <a:sym typeface="Calibri"/>
              </a:rPr>
              <a:t>Ding, L., Hwang, J. &amp; Divringi, E. (2016). Gentrification and residential mobility. Reg. Sci. Urban Econ. 61.</a:t>
            </a:r>
            <a:endParaRPr sz="1200">
              <a:solidFill>
                <a:srgbClr val="C4D2E0"/>
              </a:solidFill>
              <a:latin typeface="Calibri"/>
              <a:ea typeface="Calibri"/>
              <a:cs typeface="Calibri"/>
              <a:sym typeface="Calibri"/>
            </a:endParaRPr>
          </a:p>
          <a:p>
            <a:pPr indent="-152400" lvl="0" marL="152400" rtl="0" algn="l">
              <a:lnSpc>
                <a:spcPct val="135000"/>
              </a:lnSpc>
              <a:spcBef>
                <a:spcPts val="0"/>
              </a:spcBef>
              <a:spcAft>
                <a:spcPts val="0"/>
              </a:spcAft>
              <a:buClr>
                <a:srgbClr val="C4D2E0"/>
              </a:buClr>
              <a:buSzPts val="1200"/>
              <a:buFont typeface="Calibri"/>
              <a:buChar char="•"/>
            </a:pPr>
            <a:r>
              <a:rPr lang="en-US" sz="1200">
                <a:solidFill>
                  <a:srgbClr val="C4D2E0"/>
                </a:solidFill>
                <a:latin typeface="Calibri"/>
                <a:ea typeface="Calibri"/>
                <a:cs typeface="Calibri"/>
                <a:sym typeface="Calibri"/>
              </a:rPr>
              <a:t>Freeman, L., Hwang, J., Haupert, T. &amp; Zhang, S. (2024). Urban Affairs Review 60(1).</a:t>
            </a:r>
            <a:endParaRPr sz="1200">
              <a:solidFill>
                <a:srgbClr val="C4D2E0"/>
              </a:solidFill>
              <a:latin typeface="Calibri"/>
              <a:ea typeface="Calibri"/>
              <a:cs typeface="Calibri"/>
              <a:sym typeface="Calibri"/>
            </a:endParaRPr>
          </a:p>
          <a:p>
            <a:pPr indent="-152400" lvl="0" marL="152400" marR="0" rtl="0" algn="l">
              <a:lnSpc>
                <a:spcPct val="135000"/>
              </a:lnSpc>
              <a:spcBef>
                <a:spcPts val="0"/>
              </a:spcBef>
              <a:spcAft>
                <a:spcPts val="0"/>
              </a:spcAft>
              <a:buClr>
                <a:srgbClr val="C4D2E0"/>
              </a:buClr>
              <a:buSzPts val="1200"/>
              <a:buFont typeface="Calibri"/>
              <a:buChar char="•"/>
            </a:pPr>
            <a:r>
              <a:rPr b="0" i="0" lang="en-US" sz="1200" u="none" cap="none" strike="noStrike">
                <a:solidFill>
                  <a:srgbClr val="C4D2E0"/>
                </a:solidFill>
                <a:latin typeface="Calibri"/>
                <a:ea typeface="Calibri"/>
                <a:cs typeface="Calibri"/>
                <a:sym typeface="Calibri"/>
              </a:rPr>
              <a:t>Marcuse, P. (1985). Gentrification, abandonment and displacement. J. Urban &amp; Contemp. Law 28.</a:t>
            </a:r>
            <a:endParaRPr sz="1200">
              <a:solidFill>
                <a:srgbClr val="C4D2E0"/>
              </a:solidFill>
              <a:latin typeface="Calibri"/>
              <a:ea typeface="Calibri"/>
              <a:cs typeface="Calibri"/>
              <a:sym typeface="Calibri"/>
            </a:endParaRPr>
          </a:p>
          <a:p>
            <a:pPr indent="-152400" lvl="0" marL="152400" rtl="0" algn="l">
              <a:lnSpc>
                <a:spcPct val="135000"/>
              </a:lnSpc>
              <a:spcBef>
                <a:spcPts val="0"/>
              </a:spcBef>
              <a:spcAft>
                <a:spcPts val="0"/>
              </a:spcAft>
              <a:buClr>
                <a:srgbClr val="C4D2E0"/>
              </a:buClr>
              <a:buSzPts val="1200"/>
              <a:buFont typeface="Calibri"/>
              <a:buChar char="•"/>
            </a:pPr>
            <a:r>
              <a:rPr lang="en-US" sz="1200">
                <a:solidFill>
                  <a:srgbClr val="C4D2E0"/>
                </a:solidFill>
                <a:latin typeface="Calibri"/>
                <a:ea typeface="Calibri"/>
                <a:cs typeface="Calibri"/>
                <a:sym typeface="Calibri"/>
              </a:rPr>
              <a:t>Smith, D. (2022). Tracking gentrification in London and Manchester using the 2021 Census occupational class data. CityGeographics.</a:t>
            </a:r>
            <a:endParaRPr sz="1200">
              <a:solidFill>
                <a:srgbClr val="C4D2E0"/>
              </a:solidFill>
              <a:latin typeface="Calibri"/>
              <a:ea typeface="Calibri"/>
              <a:cs typeface="Calibri"/>
              <a:sym typeface="Calibri"/>
            </a:endParaRPr>
          </a:p>
          <a:p>
            <a:pPr indent="-152400" lvl="0" marL="152400" marR="0" rtl="0" algn="l">
              <a:lnSpc>
                <a:spcPct val="135000"/>
              </a:lnSpc>
              <a:spcBef>
                <a:spcPts val="0"/>
              </a:spcBef>
              <a:spcAft>
                <a:spcPts val="0"/>
              </a:spcAft>
              <a:buClr>
                <a:srgbClr val="C4D2E0"/>
              </a:buClr>
              <a:buSzPts val="1200"/>
              <a:buFont typeface="Calibri"/>
              <a:buChar char="•"/>
            </a:pPr>
            <a:r>
              <a:rPr b="0" i="0" lang="en-US" sz="1200" u="none" cap="none" strike="noStrike">
                <a:solidFill>
                  <a:srgbClr val="C4D2E0"/>
                </a:solidFill>
                <a:latin typeface="Calibri"/>
                <a:ea typeface="Calibri"/>
                <a:cs typeface="Calibri"/>
                <a:sym typeface="Calibri"/>
              </a:rPr>
              <a:t>Yee, J. &amp; Dennett, A. (2022). Stratifying and predicting gentrification in London.</a:t>
            </a:r>
            <a:endParaRPr b="0" i="0" sz="1200" u="none" cap="none" strike="noStrike">
              <a:solidFill>
                <a:schemeClr val="dk1"/>
              </a:solidFill>
              <a:latin typeface="Calibri"/>
              <a:ea typeface="Calibri"/>
              <a:cs typeface="Calibri"/>
              <a:sym typeface="Calibri"/>
            </a:endParaRPr>
          </a:p>
        </p:txBody>
      </p:sp>
      <p:sp>
        <p:nvSpPr>
          <p:cNvPr id="306" name="Google Shape;306;p16"/>
          <p:cNvSpPr/>
          <p:nvPr/>
        </p:nvSpPr>
        <p:spPr>
          <a:xfrm>
            <a:off x="8458200" y="47594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FA3B8"/>
              </a:buClr>
              <a:buSzPts val="900"/>
              <a:buFont typeface="Calibri"/>
              <a:buNone/>
            </a:pPr>
            <a:r>
              <a:rPr b="0" i="0" lang="en-US" sz="900" u="none" cap="none" strike="noStrike">
                <a:solidFill>
                  <a:srgbClr val="8FA3B8"/>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