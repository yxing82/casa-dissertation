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One line: I measure gentrification by tracking the actual movement of people across London's deprivation hierarchy between the 2011 and 2021 censuses, and I test whether that flow lens agrees with the usual attribute-based way of detecting gentrification. Spoiler: it mostly doesn't — and that's the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load-bearing assumption. The intuition — and it's an old, respectable one from Marcuse — is that gentrification radiates outward as a chain of moves, so if you follow the flows you've found gentrification. Two caveats I state up front so no one thinks I'm over-claiming: I measure area-level restructuring, not individual gentrifiers; and a move from a wealthier AREA doesn't mean a wealthier PERSON. The question is whether the flow lens lines up with attribute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design choice everything rests on: the deprivation ruler is held still at 2010 across both census years. Two reasons — any change 2011 to 2021 is then attributable to how people moved, not to neighbourhoods being re-ranked underneath them; and it keeps the 2019 IMD entirely on the outcome side, so when I later validate against 2010–2019 deprivation change the classifier isn't being marked against data it already used. The cost — an eleven-year-stale ladder — I'll flag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chain has a signature: wealthier arriving, poorer leaving downward. I split every hierarchy-crossing move into four elementary flows. The two orange ones — inflow-from-wealthier and outflow-to-poorer — make up the cascade. The two blue ones make up the counter direction. Again: area-to-area, not individual movers.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four flows I build two summaries per family: the NET (subtraction) says which direction wins; the CHURN (addition) says how much reshuffling there is regardless of net — that additive move follows Dennett and Stillwell's churn measure, capturing volume of turnover, which is known to track deprivation at small scales. Two axes then define four regimes. Cascade-led is the one the classic assumption equates with gentrification — that's the equation the rest of the talk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naïve London-vs-national comparison confounds two things: changing the ruler and adding external moves. Frame B separates them, so I can attribute every change to re-ranking or to external flows. That's why London-only stays the core — it's the ruler on which moving up within London still means gentrification, since most of London sits low on the national scale. External flows aren't discarded: fig 20b shows within-London dominates the volume, but the big 2021 change is the London-to-outside surge — small channel, big shock — which is the pandemic exodus.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the equivalence I don't just describe the flows — I put the flow typology head-to-head against two independent attribute-based gentrification measures, and against whether the area's deprivation actually improved on IMD. If cascade equals gentrification, all three should agree. The next two slides are what happens when you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centrepiece. Of the areas either method flags as its version of gentrification, only 58 agree, while 149 are attribute-only and 155 are flow-only. Cramér's V of 0.10 and an Adjusted Rand Index of essentially zero say the two schemes agree no better than random. And the IMD check: Yee's attribute-gentrifying areas improve on deprivation, but adding a cascade signal on top actually weakens the gain — so cascade is not the engine of measured gentrification. The twist: the flow method's own deprivation signal sits in the counter direction, and the only place the two methods agree is classic 2011 inner-London gentrification.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reason the equivalence fails is temporal. In 2021 the cascade-led areas shift from inner to outer London — 85% are outer — external outflow is up over 50%, and net-exporter neighbourhoods more than double. But this isn't gentrification relocating to the suburbs; it's a COVID-era affluent exodus. My diagnostic rule separates them: real gentrification has high inflow share, a small gap across reference frames, and persists in the inner cores; the exodus has low inflow share, a large frame gap, and is episodic in the outer ring. Important caveat: the lockdown census both caused this and degraded the measurement, so I don't over-read the within-London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it together. The classic equivalence fails on two axes: conceptually, flows and attributes measure different things; and temporally, 2021 is a one-off shock. The contribution is an open-data, reproducible, whole-city flow lens with a decomposition that pre-empts the obvious objections — and the divergence between the two methods is itself the finding, converging with the best recent micro-data work. The line I'd leave the room with: the flow lens isn't a worse gentrification detector, it's a different 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stated plainly so they don't get raised as objections. The big one — aggregation — actually explains the decoupling: area origin is a noisy proxy for mover wealth, so flows and attributes needn't align. Temporal mismatch, the stale 2010 ladder, and lockdown measurement degradation round it out. Then thanks and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594360" y="960120"/>
            <a:ext cx="8229600" cy="320040"/>
          </a:xfrm>
          <a:prstGeom prst="rect">
            <a:avLst/>
          </a:prstGeom>
          <a:noFill/>
          <a:ln/>
        </p:spPr>
        <p:txBody>
          <a:bodyPr wrap="square" lIns="0" tIns="0" rIns="0" bIns="0" rtlCol="0" anchor="ctr"/>
          <a:lstStyle/>
          <a:p>
            <a:pPr indent="0" marL="0">
              <a:buNone/>
            </a:pPr>
            <a:r>
              <a:rPr lang="en-US" sz="1300" b="1" spc="200" kern="0" dirty="0">
                <a:solidFill>
                  <a:srgbClr val="8FA3C4"/>
                </a:solidFill>
                <a:latin typeface="Calibri" pitchFamily="34" charset="0"/>
                <a:ea typeface="Calibri" pitchFamily="34" charset="-122"/>
                <a:cs typeface="Calibri" pitchFamily="34" charset="-120"/>
              </a:rPr>
              <a:t>MSc DISSERTATION  ·  DEPARTMENTAL MINI-CONFERENCE</a:t>
            </a:r>
            <a:endParaRPr lang="en-US" sz="1300" dirty="0"/>
          </a:p>
        </p:txBody>
      </p:sp>
      <p:sp>
        <p:nvSpPr>
          <p:cNvPr id="3" name="Text 1"/>
          <p:cNvSpPr/>
          <p:nvPr/>
        </p:nvSpPr>
        <p:spPr>
          <a:xfrm>
            <a:off x="594360" y="1463040"/>
            <a:ext cx="8595360" cy="1554480"/>
          </a:xfrm>
          <a:prstGeom prst="rect">
            <a:avLst/>
          </a:prstGeom>
          <a:noFill/>
          <a:ln/>
        </p:spPr>
        <p:txBody>
          <a:bodyPr wrap="square" lIns="0" tIns="0" rIns="0" bIns="0" rtlCol="0" anchor="ctr"/>
          <a:lstStyle/>
          <a:p>
            <a:pPr indent="0" marL="0">
              <a:lnSpc>
                <a:spcPct val="98000"/>
              </a:lnSpc>
              <a:buNone/>
            </a:pPr>
            <a:r>
              <a:rPr lang="en-US" sz="4600" b="1" dirty="0">
                <a:solidFill>
                  <a:srgbClr val="FFFFFF"/>
                </a:solidFill>
                <a:latin typeface="Cambria" pitchFamily="34" charset="0"/>
                <a:ea typeface="Cambria" pitchFamily="34" charset="-122"/>
                <a:cs typeface="Cambria" pitchFamily="34" charset="-120"/>
              </a:rPr>
              <a:t>A Flow-Based Definition of Gentrification</a:t>
            </a:r>
            <a:endParaRPr lang="en-US" sz="4600" dirty="0"/>
          </a:p>
        </p:txBody>
      </p:sp>
      <p:sp>
        <p:nvSpPr>
          <p:cNvPr id="4" name="Text 2"/>
          <p:cNvSpPr/>
          <p:nvPr/>
        </p:nvSpPr>
        <p:spPr>
          <a:xfrm>
            <a:off x="594360" y="3063240"/>
            <a:ext cx="7955280" cy="731520"/>
          </a:xfrm>
          <a:prstGeom prst="rect">
            <a:avLst/>
          </a:prstGeom>
          <a:noFill/>
          <a:ln/>
        </p:spPr>
        <p:txBody>
          <a:bodyPr wrap="square" lIns="0" tIns="0" rIns="0" bIns="0" rtlCol="0" anchor="ctr"/>
          <a:lstStyle/>
          <a:p>
            <a:pPr indent="0" marL="0">
              <a:lnSpc>
                <a:spcPct val="105000"/>
              </a:lnSpc>
              <a:buNone/>
            </a:pPr>
            <a:r>
              <a:rPr lang="en-US" sz="1700" dirty="0">
                <a:solidFill>
                  <a:srgbClr val="CAD6EA"/>
                </a:solidFill>
                <a:latin typeface="Calibri" pitchFamily="34" charset="0"/>
                <a:ea typeface="Calibri" pitchFamily="34" charset="-122"/>
                <a:cs typeface="Calibri" pitchFamily="34" charset="-120"/>
              </a:rPr>
              <a:t>Analyzing socio-economic displacement in London using Census Origin–Destination data, 2011–2021</a:t>
            </a:r>
            <a:endParaRPr lang="en-US" sz="1700" dirty="0"/>
          </a:p>
        </p:txBody>
      </p:sp>
      <p:sp>
        <p:nvSpPr>
          <p:cNvPr id="5" name="Shape 3"/>
          <p:cNvSpPr/>
          <p:nvPr/>
        </p:nvSpPr>
        <p:spPr>
          <a:xfrm>
            <a:off x="594360" y="4069080"/>
            <a:ext cx="7772400" cy="685800"/>
          </a:xfrm>
          <a:prstGeom prst="roundRect">
            <a:avLst>
              <a:gd name="adj" fmla="val 13333"/>
            </a:avLst>
          </a:prstGeom>
          <a:solidFill>
            <a:srgbClr val="223250"/>
          </a:solidFill>
          <a:ln/>
        </p:spPr>
      </p:sp>
      <p:sp>
        <p:nvSpPr>
          <p:cNvPr id="6" name="Text 4"/>
          <p:cNvSpPr/>
          <p:nvPr/>
        </p:nvSpPr>
        <p:spPr>
          <a:xfrm>
            <a:off x="822960" y="4069080"/>
            <a:ext cx="7315200" cy="685800"/>
          </a:xfrm>
          <a:prstGeom prst="rect">
            <a:avLst/>
          </a:prstGeom>
          <a:noFill/>
          <a:ln/>
        </p:spPr>
        <p:txBody>
          <a:bodyPr wrap="square" lIns="0" tIns="0" rIns="0" bIns="0" rtlCol="0" anchor="ctr"/>
          <a:lstStyle/>
          <a:p>
            <a:pPr indent="0" marL="0">
              <a:buNone/>
            </a:pPr>
            <a:r>
              <a:rPr lang="en-US" sz="1600" i="1" dirty="0">
                <a:solidFill>
                  <a:srgbClr val="E4ECF7"/>
                </a:solidFill>
                <a:latin typeface="Cambria" pitchFamily="34" charset="0"/>
                <a:ea typeface="Cambria" pitchFamily="34" charset="-122"/>
                <a:cs typeface="Cambria" pitchFamily="34" charset="-120"/>
              </a:rPr>
              <a:t>Does tracking who moves recover what attribute methods call gentrification?</a:t>
            </a:r>
            <a:endParaRPr lang="en-US" sz="1600" dirty="0"/>
          </a:p>
        </p:txBody>
      </p:sp>
      <p:sp>
        <p:nvSpPr>
          <p:cNvPr id="7" name="Text 5"/>
          <p:cNvSpPr/>
          <p:nvPr/>
        </p:nvSpPr>
        <p:spPr>
          <a:xfrm>
            <a:off x="594360" y="6126480"/>
            <a:ext cx="10058400" cy="320040"/>
          </a:xfrm>
          <a:prstGeom prst="rect">
            <a:avLst/>
          </a:prstGeom>
          <a:noFill/>
          <a:ln/>
        </p:spPr>
        <p:txBody>
          <a:bodyPr wrap="square" lIns="0" tIns="0" rIns="0" bIns="0" rtlCol="0" anchor="ctr"/>
          <a:lstStyle/>
          <a:p>
            <a:pPr indent="0" marL="0">
              <a:buNone/>
            </a:pPr>
            <a:r>
              <a:rPr lang="en-US" sz="1200" dirty="0">
                <a:solidFill>
                  <a:srgbClr val="CAD6EA"/>
                </a:solidFill>
                <a:latin typeface="Calibri" pitchFamily="34" charset="0"/>
                <a:ea typeface="Calibri" pitchFamily="34" charset="-122"/>
                <a:cs typeface="Calibri" pitchFamily="34" charset="-120"/>
              </a:rPr>
              <a:t>Xing  ·  </a:t>
            </a:r>
            <a:pPr indent="0" marL="0">
              <a:buNone/>
            </a:pPr>
            <a:r>
              <a:rPr lang="en-US" sz="1200" dirty="0">
                <a:solidFill>
                  <a:srgbClr val="8FA3C4"/>
                </a:solidFill>
                <a:latin typeface="Calibri" pitchFamily="34" charset="0"/>
                <a:ea typeface="Calibri" pitchFamily="34" charset="-122"/>
                <a:cs typeface="Calibri" pitchFamily="34" charset="-120"/>
              </a:rPr>
              <a:t>Data: Census OD (Nomis, Open Geography)  ·  IMD (GOV.UK)</a:t>
            </a:r>
            <a:endParaRPr lang="en-US" sz="1200" dirty="0"/>
          </a:p>
        </p:txBody>
      </p:sp>
      <p:sp>
        <p:nvSpPr>
          <p:cNvPr id="8" name="Shape 6"/>
          <p:cNvSpPr/>
          <p:nvPr/>
        </p:nvSpPr>
        <p:spPr>
          <a:xfrm>
            <a:off x="10195560" y="1371600"/>
            <a:ext cx="457200" cy="379476"/>
          </a:xfrm>
          <a:prstGeom prst="roundRect">
            <a:avLst>
              <a:gd name="adj" fmla="val 7229"/>
            </a:avLst>
          </a:prstGeom>
          <a:solidFill>
            <a:srgbClr val="3E5578"/>
          </a:solidFill>
          <a:ln/>
        </p:spPr>
      </p:sp>
      <p:sp>
        <p:nvSpPr>
          <p:cNvPr id="9" name="Shape 7"/>
          <p:cNvSpPr/>
          <p:nvPr/>
        </p:nvSpPr>
        <p:spPr>
          <a:xfrm>
            <a:off x="10195560" y="1796796"/>
            <a:ext cx="457200" cy="379476"/>
          </a:xfrm>
          <a:prstGeom prst="roundRect">
            <a:avLst>
              <a:gd name="adj" fmla="val 7229"/>
            </a:avLst>
          </a:prstGeom>
          <a:solidFill>
            <a:srgbClr val="3E5578"/>
          </a:solidFill>
          <a:ln/>
        </p:spPr>
      </p:sp>
      <p:sp>
        <p:nvSpPr>
          <p:cNvPr id="10" name="Shape 8"/>
          <p:cNvSpPr/>
          <p:nvPr/>
        </p:nvSpPr>
        <p:spPr>
          <a:xfrm>
            <a:off x="10195560" y="2221992"/>
            <a:ext cx="457200" cy="379476"/>
          </a:xfrm>
          <a:prstGeom prst="roundRect">
            <a:avLst>
              <a:gd name="adj" fmla="val 7229"/>
            </a:avLst>
          </a:prstGeom>
          <a:solidFill>
            <a:srgbClr val="3E5578"/>
          </a:solidFill>
          <a:ln/>
        </p:spPr>
      </p:sp>
      <p:sp>
        <p:nvSpPr>
          <p:cNvPr id="11" name="Shape 9"/>
          <p:cNvSpPr/>
          <p:nvPr/>
        </p:nvSpPr>
        <p:spPr>
          <a:xfrm>
            <a:off x="10195560" y="2647188"/>
            <a:ext cx="457200" cy="379476"/>
          </a:xfrm>
          <a:prstGeom prst="roundRect">
            <a:avLst>
              <a:gd name="adj" fmla="val 7229"/>
            </a:avLst>
          </a:prstGeom>
          <a:solidFill>
            <a:srgbClr val="3E5578"/>
          </a:solidFill>
          <a:ln/>
        </p:spPr>
      </p:sp>
      <p:sp>
        <p:nvSpPr>
          <p:cNvPr id="12" name="Shape 10"/>
          <p:cNvSpPr/>
          <p:nvPr/>
        </p:nvSpPr>
        <p:spPr>
          <a:xfrm>
            <a:off x="10195560" y="3072384"/>
            <a:ext cx="457200" cy="379476"/>
          </a:xfrm>
          <a:prstGeom prst="roundRect">
            <a:avLst>
              <a:gd name="adj" fmla="val 7229"/>
            </a:avLst>
          </a:prstGeom>
          <a:solidFill>
            <a:srgbClr val="3E5578"/>
          </a:solidFill>
          <a:ln/>
        </p:spPr>
      </p:sp>
      <p:sp>
        <p:nvSpPr>
          <p:cNvPr id="13" name="Shape 11"/>
          <p:cNvSpPr/>
          <p:nvPr/>
        </p:nvSpPr>
        <p:spPr>
          <a:xfrm>
            <a:off x="10195560" y="3497580"/>
            <a:ext cx="457200" cy="379476"/>
          </a:xfrm>
          <a:prstGeom prst="roundRect">
            <a:avLst>
              <a:gd name="adj" fmla="val 7229"/>
            </a:avLst>
          </a:prstGeom>
          <a:solidFill>
            <a:srgbClr val="263A5C"/>
          </a:solidFill>
          <a:ln/>
        </p:spPr>
      </p:sp>
      <p:sp>
        <p:nvSpPr>
          <p:cNvPr id="14" name="Shape 12"/>
          <p:cNvSpPr/>
          <p:nvPr/>
        </p:nvSpPr>
        <p:spPr>
          <a:xfrm>
            <a:off x="10195560" y="3922776"/>
            <a:ext cx="457200" cy="379476"/>
          </a:xfrm>
          <a:prstGeom prst="roundRect">
            <a:avLst>
              <a:gd name="adj" fmla="val 7229"/>
            </a:avLst>
          </a:prstGeom>
          <a:solidFill>
            <a:srgbClr val="263A5C"/>
          </a:solidFill>
          <a:ln/>
        </p:spPr>
      </p:sp>
      <p:sp>
        <p:nvSpPr>
          <p:cNvPr id="15" name="Shape 13"/>
          <p:cNvSpPr/>
          <p:nvPr/>
        </p:nvSpPr>
        <p:spPr>
          <a:xfrm>
            <a:off x="10195560" y="4347972"/>
            <a:ext cx="457200" cy="379476"/>
          </a:xfrm>
          <a:prstGeom prst="roundRect">
            <a:avLst>
              <a:gd name="adj" fmla="val 7229"/>
            </a:avLst>
          </a:prstGeom>
          <a:solidFill>
            <a:srgbClr val="263A5C"/>
          </a:solidFill>
          <a:ln/>
        </p:spPr>
      </p:sp>
      <p:sp>
        <p:nvSpPr>
          <p:cNvPr id="16" name="Shape 14"/>
          <p:cNvSpPr/>
          <p:nvPr/>
        </p:nvSpPr>
        <p:spPr>
          <a:xfrm>
            <a:off x="10195560" y="4773168"/>
            <a:ext cx="457200" cy="379476"/>
          </a:xfrm>
          <a:prstGeom prst="roundRect">
            <a:avLst>
              <a:gd name="adj" fmla="val 7229"/>
            </a:avLst>
          </a:prstGeom>
          <a:solidFill>
            <a:srgbClr val="263A5C"/>
          </a:solidFill>
          <a:ln/>
        </p:spPr>
      </p:sp>
      <p:sp>
        <p:nvSpPr>
          <p:cNvPr id="17" name="Shape 15"/>
          <p:cNvSpPr/>
          <p:nvPr/>
        </p:nvSpPr>
        <p:spPr>
          <a:xfrm>
            <a:off x="10195560" y="5198364"/>
            <a:ext cx="457200" cy="379476"/>
          </a:xfrm>
          <a:prstGeom prst="roundRect">
            <a:avLst>
              <a:gd name="adj" fmla="val 7229"/>
            </a:avLst>
          </a:prstGeom>
          <a:solidFill>
            <a:srgbClr val="263A5C"/>
          </a:solidFill>
          <a:ln/>
        </p:spPr>
      </p:sp>
      <p:sp>
        <p:nvSpPr>
          <p:cNvPr id="18" name="Text 16"/>
          <p:cNvSpPr/>
          <p:nvPr/>
        </p:nvSpPr>
        <p:spPr>
          <a:xfrm>
            <a:off x="9802368" y="1737360"/>
            <a:ext cx="457200" cy="548640"/>
          </a:xfrm>
          <a:prstGeom prst="rect">
            <a:avLst/>
          </a:prstGeom>
          <a:noFill/>
          <a:ln/>
        </p:spPr>
        <p:txBody>
          <a:bodyPr wrap="square" lIns="0" tIns="0" rIns="0" bIns="0" rtlCol="0" anchor="ctr"/>
          <a:lstStyle/>
          <a:p>
            <a:pPr algn="ctr" indent="0" marL="0">
              <a:buNone/>
            </a:pPr>
            <a:r>
              <a:rPr lang="en-US" sz="3000" b="1" dirty="0">
                <a:solidFill>
                  <a:srgbClr val="C6551A"/>
                </a:solidFill>
                <a:latin typeface="Calibri" pitchFamily="34" charset="0"/>
                <a:ea typeface="Calibri" pitchFamily="34" charset="-122"/>
                <a:cs typeface="Calibri" pitchFamily="34" charset="-120"/>
              </a:rPr>
              <a:t>↓</a:t>
            </a:r>
            <a:endParaRPr lang="en-US" sz="3000" dirty="0"/>
          </a:p>
        </p:txBody>
      </p:sp>
      <p:sp>
        <p:nvSpPr>
          <p:cNvPr id="19" name="Text 17"/>
          <p:cNvSpPr/>
          <p:nvPr/>
        </p:nvSpPr>
        <p:spPr>
          <a:xfrm>
            <a:off x="10625328" y="4480560"/>
            <a:ext cx="457200" cy="548640"/>
          </a:xfrm>
          <a:prstGeom prst="rect">
            <a:avLst/>
          </a:prstGeom>
          <a:noFill/>
          <a:ln/>
        </p:spPr>
        <p:txBody>
          <a:bodyPr wrap="square" lIns="0" tIns="0" rIns="0" bIns="0" rtlCol="0" anchor="ctr"/>
          <a:lstStyle/>
          <a:p>
            <a:pPr algn="ctr" indent="0" marL="0">
              <a:buNone/>
            </a:pPr>
            <a:r>
              <a:rPr lang="en-US" sz="3000" b="1" dirty="0">
                <a:solidFill>
                  <a:srgbClr val="6FA0D6"/>
                </a:solidFill>
                <a:latin typeface="Calibri" pitchFamily="34" charset="0"/>
                <a:ea typeface="Calibri" pitchFamily="34" charset="-122"/>
                <a:cs typeface="Calibri" pitchFamily="34" charset="-120"/>
              </a:rPr>
              <a:t>↑</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1000232" cy="292608"/>
          </a:xfrm>
          <a:prstGeom prst="rect">
            <a:avLst/>
          </a:prstGeom>
          <a:noFill/>
          <a:ln/>
        </p:spPr>
        <p:txBody>
          <a:bodyPr wrap="square" lIns="0" tIns="0" rIns="0" bIns="0" rtlCol="0" anchor="ctr"/>
          <a:lstStyle/>
          <a:p>
            <a:pPr indent="0" marL="0">
              <a:buNone/>
            </a:pPr>
            <a:r>
              <a:rPr lang="en-US" sz="1200" b="1" spc="200" kern="0" dirty="0">
                <a:solidFill>
                  <a:srgbClr val="6E7C90"/>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594360" y="749808"/>
            <a:ext cx="11000232" cy="822960"/>
          </a:xfrm>
          <a:prstGeom prst="rect">
            <a:avLst/>
          </a:prstGeom>
          <a:noFill/>
          <a:ln/>
        </p:spPr>
        <p:txBody>
          <a:bodyPr wrap="square" lIns="0" tIns="0" rIns="0" bIns="0" rtlCol="0" anchor="t"/>
          <a:lstStyle/>
          <a:p>
            <a:pPr algn="l" indent="0" marL="0">
              <a:lnSpc>
                <a:spcPct val="98000"/>
              </a:lnSpc>
              <a:buNone/>
            </a:pPr>
            <a:r>
              <a:rPr lang="en-US" sz="3200" b="1" dirty="0">
                <a:solidFill>
                  <a:srgbClr val="16233B"/>
                </a:solidFill>
                <a:latin typeface="Cambria" pitchFamily="34" charset="0"/>
                <a:ea typeface="Cambria" pitchFamily="34" charset="-122"/>
                <a:cs typeface="Cambria" pitchFamily="34" charset="-120"/>
              </a:rPr>
              <a:t>The assumption this study puts to the test</a:t>
            </a:r>
            <a:endParaRPr lang="en-US" sz="3200" dirty="0"/>
          </a:p>
        </p:txBody>
      </p:sp>
      <p:sp>
        <p:nvSpPr>
          <p:cNvPr id="4" name="Text 2"/>
          <p:cNvSpPr/>
          <p:nvPr/>
        </p:nvSpPr>
        <p:spPr>
          <a:xfrm>
            <a:off x="594360" y="1783080"/>
            <a:ext cx="5486400" cy="320040"/>
          </a:xfrm>
          <a:prstGeom prst="rect">
            <a:avLst/>
          </a:prstGeom>
          <a:noFill/>
          <a:ln/>
        </p:spPr>
        <p:txBody>
          <a:bodyPr wrap="square" lIns="0" tIns="0" rIns="0" bIns="0" rtlCol="0" anchor="ctr"/>
          <a:lstStyle/>
          <a:p>
            <a:pPr indent="0" marL="0">
              <a:buNone/>
            </a:pPr>
            <a:r>
              <a:rPr lang="en-US" sz="1700" b="1" dirty="0">
                <a:solidFill>
                  <a:srgbClr val="C6551A"/>
                </a:solidFill>
                <a:latin typeface="Calibri" pitchFamily="34" charset="0"/>
                <a:ea typeface="Calibri" pitchFamily="34" charset="-122"/>
                <a:cs typeface="Calibri" pitchFamily="34" charset="-120"/>
              </a:rPr>
              <a:t>The classic chain</a:t>
            </a:r>
            <a:endParaRPr lang="en-US" sz="1700" dirty="0"/>
          </a:p>
        </p:txBody>
      </p:sp>
      <p:sp>
        <p:nvSpPr>
          <p:cNvPr id="5" name="Text 3"/>
          <p:cNvSpPr/>
          <p:nvPr/>
        </p:nvSpPr>
        <p:spPr>
          <a:xfrm>
            <a:off x="594360" y="2148840"/>
            <a:ext cx="5486400" cy="868680"/>
          </a:xfrm>
          <a:prstGeom prst="rect">
            <a:avLst/>
          </a:prstGeom>
          <a:noFill/>
          <a:ln/>
        </p:spPr>
        <p:txBody>
          <a:bodyPr wrap="square" lIns="0" tIns="0" rIns="0" bIns="0" rtlCol="0" anchor="ctr"/>
          <a:lstStyle/>
          <a:p>
            <a:pPr indent="0" marL="0">
              <a:lnSpc>
                <a:spcPct val="106000"/>
              </a:lnSpc>
              <a:buNone/>
            </a:pPr>
            <a:r>
              <a:rPr lang="en-US" sz="1550" dirty="0">
                <a:solidFill>
                  <a:srgbClr val="2A3547"/>
                </a:solidFill>
                <a:latin typeface="Calibri" pitchFamily="34" charset="0"/>
                <a:ea typeface="Calibri" pitchFamily="34" charset="-122"/>
                <a:cs typeface="Calibri" pitchFamily="34" charset="-120"/>
              </a:rPr>
              <a:t>Gentrification is read as a </a:t>
            </a:r>
            <a:pPr indent="0" marL="0">
              <a:lnSpc>
                <a:spcPct val="106000"/>
              </a:lnSpc>
              <a:buNone/>
            </a:pPr>
            <a:r>
              <a:rPr lang="en-US" sz="1550" b="1" i="1" dirty="0">
                <a:solidFill>
                  <a:srgbClr val="C6551A"/>
                </a:solidFill>
                <a:latin typeface="Calibri" pitchFamily="34" charset="0"/>
                <a:ea typeface="Calibri" pitchFamily="34" charset="-122"/>
                <a:cs typeface="Calibri" pitchFamily="34" charset="-120"/>
              </a:rPr>
              <a:t>cascade</a:t>
            </a:r>
            <a:pPr indent="0" marL="0">
              <a:lnSpc>
                <a:spcPct val="106000"/>
              </a:lnSpc>
              <a:buNone/>
            </a:pPr>
            <a:r>
              <a:rPr lang="en-US" sz="1550" dirty="0">
                <a:solidFill>
                  <a:srgbClr val="2A3547"/>
                </a:solidFill>
                <a:latin typeface="Calibri" pitchFamily="34" charset="0"/>
                <a:ea typeface="Calibri" pitchFamily="34" charset="-122"/>
                <a:cs typeface="Calibri" pitchFamily="34" charset="-120"/>
              </a:rPr>
              <a:t>: affluent residents move in, and poorer residents are pushed down the deprivation hierarchy.</a:t>
            </a:r>
            <a:endParaRPr lang="en-US" sz="1550" dirty="0"/>
          </a:p>
        </p:txBody>
      </p:sp>
      <p:sp>
        <p:nvSpPr>
          <p:cNvPr id="6" name="Text 4"/>
          <p:cNvSpPr/>
          <p:nvPr/>
        </p:nvSpPr>
        <p:spPr>
          <a:xfrm>
            <a:off x="594360" y="3127248"/>
            <a:ext cx="5486400" cy="731520"/>
          </a:xfrm>
          <a:prstGeom prst="rect">
            <a:avLst/>
          </a:prstGeom>
          <a:noFill/>
          <a:ln/>
        </p:spPr>
        <p:txBody>
          <a:bodyPr wrap="square" lIns="0" tIns="0" rIns="0" bIns="0" rtlCol="0" anchor="ctr"/>
          <a:lstStyle/>
          <a:p>
            <a:pPr indent="0" marL="0">
              <a:lnSpc>
                <a:spcPct val="106000"/>
              </a:lnSpc>
              <a:buNone/>
            </a:pPr>
            <a:r>
              <a:rPr lang="en-US" sz="1550" b="1" dirty="0">
                <a:solidFill>
                  <a:srgbClr val="2A3547"/>
                </a:solidFill>
                <a:latin typeface="Calibri" pitchFamily="34" charset="0"/>
                <a:ea typeface="Calibri" pitchFamily="34" charset="-122"/>
                <a:cs typeface="Calibri" pitchFamily="34" charset="-120"/>
              </a:rPr>
              <a:t>Richly theorised</a:t>
            </a:r>
            <a:pPr indent="0" marL="0">
              <a:lnSpc>
                <a:spcPct val="106000"/>
              </a:lnSpc>
              <a:buNone/>
            </a:pPr>
            <a:r>
              <a:rPr lang="en-US" sz="1550" dirty="0">
                <a:solidFill>
                  <a:srgbClr val="2A3547"/>
                </a:solidFill>
                <a:latin typeface="Calibri" pitchFamily="34" charset="0"/>
                <a:ea typeface="Calibri" pitchFamily="34" charset="-122"/>
                <a:cs typeface="Calibri" pitchFamily="34" charset="-120"/>
              </a:rPr>
              <a:t> — Marcuse's (1985) chain displacement — but rarely tested at whole-city scale with open flow data.</a:t>
            </a:r>
            <a:endParaRPr lang="en-US" sz="1550" dirty="0"/>
          </a:p>
        </p:txBody>
      </p:sp>
      <p:sp>
        <p:nvSpPr>
          <p:cNvPr id="7" name="Text 5"/>
          <p:cNvSpPr/>
          <p:nvPr/>
        </p:nvSpPr>
        <p:spPr>
          <a:xfrm>
            <a:off x="594360" y="3977640"/>
            <a:ext cx="5486400" cy="731520"/>
          </a:xfrm>
          <a:prstGeom prst="rect">
            <a:avLst/>
          </a:prstGeom>
          <a:noFill/>
          <a:ln/>
        </p:spPr>
        <p:txBody>
          <a:bodyPr wrap="square" lIns="0" tIns="0" rIns="0" bIns="0" rtlCol="0" anchor="ctr"/>
          <a:lstStyle/>
          <a:p>
            <a:pPr indent="0" marL="0">
              <a:lnSpc>
                <a:spcPct val="106000"/>
              </a:lnSpc>
              <a:buNone/>
            </a:pPr>
            <a:r>
              <a:rPr lang="en-US" sz="1550" b="1" dirty="0">
                <a:solidFill>
                  <a:srgbClr val="2A3547"/>
                </a:solidFill>
                <a:latin typeface="Calibri" pitchFamily="34" charset="0"/>
                <a:ea typeface="Calibri" pitchFamily="34" charset="-122"/>
                <a:cs typeface="Calibri" pitchFamily="34" charset="-120"/>
              </a:rPr>
              <a:t>Recent direct tests</a:t>
            </a:r>
            <a:pPr indent="0" marL="0">
              <a:lnSpc>
                <a:spcPct val="106000"/>
              </a:lnSpc>
              <a:buNone/>
            </a:pPr>
            <a:r>
              <a:rPr lang="en-US" sz="1550" dirty="0">
                <a:solidFill>
                  <a:srgbClr val="2A3547"/>
                </a:solidFill>
                <a:latin typeface="Calibri" pitchFamily="34" charset="0"/>
                <a:ea typeface="Calibri" pitchFamily="34" charset="-122"/>
                <a:cs typeface="Calibri" pitchFamily="34" charset="-120"/>
              </a:rPr>
              <a:t> find the downward cascade weak or mixed (Ding et al. 2016; Freeman et al. 2024).</a:t>
            </a:r>
            <a:endParaRPr lang="en-US" sz="1550" dirty="0"/>
          </a:p>
        </p:txBody>
      </p:sp>
      <p:sp>
        <p:nvSpPr>
          <p:cNvPr id="8" name="Shape 6"/>
          <p:cNvSpPr/>
          <p:nvPr/>
        </p:nvSpPr>
        <p:spPr>
          <a:xfrm>
            <a:off x="6537960" y="1783080"/>
            <a:ext cx="5029200" cy="1783080"/>
          </a:xfrm>
          <a:prstGeom prst="roundRect">
            <a:avLst>
              <a:gd name="adj" fmla="val 4615"/>
            </a:avLst>
          </a:prstGeom>
          <a:solidFill>
            <a:srgbClr val="F3F6FB"/>
          </a:solidFill>
          <a:ln/>
          <a:effectLst>
            <a:outerShdw sx="100000" sy="100000" kx="0" ky="0" algn="bl" rotWithShape="0" blurRad="101600" dist="38100" dir="5400000">
              <a:srgbClr val="9AA6B8">
                <a:alpha val="28000"/>
              </a:srgbClr>
            </a:outerShdw>
          </a:effectLst>
        </p:spPr>
      </p:sp>
      <p:sp>
        <p:nvSpPr>
          <p:cNvPr id="9" name="Text 7"/>
          <p:cNvSpPr/>
          <p:nvPr/>
        </p:nvSpPr>
        <p:spPr>
          <a:xfrm>
            <a:off x="6793992" y="1938528"/>
            <a:ext cx="4517136" cy="365760"/>
          </a:xfrm>
          <a:prstGeom prst="rect">
            <a:avLst/>
          </a:prstGeom>
          <a:noFill/>
          <a:ln/>
        </p:spPr>
        <p:txBody>
          <a:bodyPr wrap="square" lIns="0" tIns="0" rIns="0" bIns="0" rtlCol="0" anchor="ctr"/>
          <a:lstStyle/>
          <a:p>
            <a:pPr indent="0" marL="0">
              <a:buNone/>
            </a:pPr>
            <a:r>
              <a:rPr lang="en-US" sz="1500" b="1" dirty="0">
                <a:solidFill>
                  <a:srgbClr val="16233B"/>
                </a:solidFill>
                <a:latin typeface="Calibri" pitchFamily="34" charset="0"/>
                <a:ea typeface="Calibri" pitchFamily="34" charset="-122"/>
                <a:cs typeface="Calibri" pitchFamily="34" charset="-120"/>
              </a:rPr>
              <a:t>What this measures — and what it doesn't</a:t>
            </a:r>
            <a:endParaRPr lang="en-US" sz="1500" dirty="0"/>
          </a:p>
        </p:txBody>
      </p:sp>
      <p:sp>
        <p:nvSpPr>
          <p:cNvPr id="10" name="Text 8"/>
          <p:cNvSpPr/>
          <p:nvPr/>
        </p:nvSpPr>
        <p:spPr>
          <a:xfrm>
            <a:off x="6793992" y="2331720"/>
            <a:ext cx="4517136" cy="1188720"/>
          </a:xfrm>
          <a:prstGeom prst="rect">
            <a:avLst/>
          </a:prstGeom>
          <a:noFill/>
          <a:ln/>
        </p:spPr>
        <p:txBody>
          <a:bodyPr wrap="square" lIns="0" tIns="0" rIns="0" bIns="0" rtlCol="0" anchor="ctr"/>
          <a:lstStyle/>
          <a:p>
            <a:pPr indent="0" marL="0">
              <a:lnSpc>
                <a:spcPct val="105000"/>
              </a:lnSpc>
              <a:spcAft>
                <a:spcPts val="600"/>
              </a:spcAft>
              <a:buNone/>
            </a:pPr>
            <a:r>
              <a:rPr lang="en-US" sz="1350" b="1" dirty="0">
                <a:solidFill>
                  <a:srgbClr val="2A3547"/>
                </a:solidFill>
                <a:latin typeface="Calibri" pitchFamily="34" charset="0"/>
                <a:ea typeface="Calibri" pitchFamily="34" charset="-122"/>
                <a:cs typeface="Calibri" pitchFamily="34" charset="-120"/>
              </a:rPr>
              <a:t>Area-level restructuring</a:t>
            </a:r>
            <a:pPr indent="0" marL="0">
              <a:lnSpc>
                <a:spcPct val="105000"/>
              </a:lnSpc>
              <a:spcAft>
                <a:spcPts val="600"/>
              </a:spcAft>
              <a:buNone/>
            </a:pPr>
            <a:r>
              <a:rPr lang="en-US" sz="1350" dirty="0">
                <a:solidFill>
                  <a:srgbClr val="2A3547"/>
                </a:solidFill>
                <a:latin typeface="Calibri" pitchFamily="34" charset="0"/>
                <a:ea typeface="Calibri" pitchFamily="34" charset="-122"/>
                <a:cs typeface="Calibri" pitchFamily="34" charset="-120"/>
              </a:rPr>
              <a:t> along a deprivation ladder — a candidate signature of displacement pressure, not gentrifiers themselves.</a:t>
            </a:r>
            <a:endParaRPr lang="en-US" sz="1350" dirty="0"/>
          </a:p>
          <a:p>
            <a:pPr indent="0" marL="0">
              <a:lnSpc>
                <a:spcPct val="105000"/>
              </a:lnSpc>
              <a:spcAft>
                <a:spcPts val="600"/>
              </a:spcAft>
              <a:buNone/>
            </a:pPr>
            <a:r>
              <a:rPr lang="en-US" sz="1350" b="1" dirty="0">
                <a:solidFill>
                  <a:srgbClr val="245C99"/>
                </a:solidFill>
                <a:latin typeface="Calibri" pitchFamily="34" charset="0"/>
                <a:ea typeface="Calibri" pitchFamily="34" charset="-122"/>
                <a:cs typeface="Calibri" pitchFamily="34" charset="-120"/>
              </a:rPr>
              <a:t>“From a wealthier area” ≠ “a wealthier person.”</a:t>
            </a:r>
            <a:endParaRPr lang="en-US" sz="1350" dirty="0"/>
          </a:p>
        </p:txBody>
      </p:sp>
      <p:sp>
        <p:nvSpPr>
          <p:cNvPr id="11" name="Shape 9"/>
          <p:cNvSpPr/>
          <p:nvPr/>
        </p:nvSpPr>
        <p:spPr>
          <a:xfrm>
            <a:off x="6537960" y="3749040"/>
            <a:ext cx="5029200" cy="1371600"/>
          </a:xfrm>
          <a:prstGeom prst="roundRect">
            <a:avLst>
              <a:gd name="adj" fmla="val 6000"/>
            </a:avLst>
          </a:prstGeom>
          <a:solidFill>
            <a:srgbClr val="16233B"/>
          </a:solidFill>
          <a:ln/>
          <a:effectLst>
            <a:outerShdw sx="100000" sy="100000" kx="0" ky="0" algn="bl" rotWithShape="0" blurRad="101600" dist="38100" dir="5400000">
              <a:srgbClr val="9AA6B8">
                <a:alpha val="28000"/>
              </a:srgbClr>
            </a:outerShdw>
          </a:effectLst>
        </p:spPr>
      </p:sp>
      <p:sp>
        <p:nvSpPr>
          <p:cNvPr id="12" name="Text 10"/>
          <p:cNvSpPr/>
          <p:nvPr/>
        </p:nvSpPr>
        <p:spPr>
          <a:xfrm>
            <a:off x="6793992" y="3913632"/>
            <a:ext cx="4517136" cy="274320"/>
          </a:xfrm>
          <a:prstGeom prst="rect">
            <a:avLst/>
          </a:prstGeom>
          <a:noFill/>
          <a:ln/>
        </p:spPr>
        <p:txBody>
          <a:bodyPr wrap="square" lIns="0" tIns="0" rIns="0" bIns="0" rtlCol="0" anchor="ctr"/>
          <a:lstStyle/>
          <a:p>
            <a:pPr indent="0" marL="0">
              <a:buNone/>
            </a:pPr>
            <a:r>
              <a:rPr lang="en-US" sz="1200" b="1" spc="200" kern="0" dirty="0">
                <a:solidFill>
                  <a:srgbClr val="8FA3C4"/>
                </a:solidFill>
                <a:latin typeface="Calibri" pitchFamily="34" charset="0"/>
                <a:ea typeface="Calibri" pitchFamily="34" charset="-122"/>
                <a:cs typeface="Calibri" pitchFamily="34" charset="-120"/>
              </a:rPr>
              <a:t>THE QUESTION</a:t>
            </a:r>
            <a:endParaRPr lang="en-US" sz="1200" dirty="0"/>
          </a:p>
        </p:txBody>
      </p:sp>
      <p:sp>
        <p:nvSpPr>
          <p:cNvPr id="13" name="Text 11"/>
          <p:cNvSpPr/>
          <p:nvPr/>
        </p:nvSpPr>
        <p:spPr>
          <a:xfrm>
            <a:off x="6793992" y="4224528"/>
            <a:ext cx="4517136" cy="822960"/>
          </a:xfrm>
          <a:prstGeom prst="rect">
            <a:avLst/>
          </a:prstGeom>
          <a:noFill/>
          <a:ln/>
        </p:spPr>
        <p:txBody>
          <a:bodyPr wrap="square" lIns="0" tIns="0" rIns="0" bIns="0" rtlCol="0" anchor="ctr"/>
          <a:lstStyle/>
          <a:p>
            <a:pPr indent="0" marL="0">
              <a:lnSpc>
                <a:spcPct val="100000"/>
              </a:lnSpc>
              <a:buNone/>
            </a:pPr>
            <a:r>
              <a:rPr lang="en-US" sz="1700" b="1" dirty="0">
                <a:solidFill>
                  <a:srgbClr val="FFFFFF"/>
                </a:solidFill>
                <a:latin typeface="Cambria" pitchFamily="34" charset="0"/>
                <a:ea typeface="Cambria" pitchFamily="34" charset="-122"/>
                <a:cs typeface="Cambria" pitchFamily="34" charset="-120"/>
              </a:rPr>
              <a:t>Does a flow lens recover what attribute-based methods call gentrification?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1000232" cy="292608"/>
          </a:xfrm>
          <a:prstGeom prst="rect">
            <a:avLst/>
          </a:prstGeom>
          <a:noFill/>
          <a:ln/>
        </p:spPr>
        <p:txBody>
          <a:bodyPr wrap="square" lIns="0" tIns="0" rIns="0" bIns="0" rtlCol="0" anchor="ctr"/>
          <a:lstStyle/>
          <a:p>
            <a:pPr indent="0" marL="0">
              <a:buNone/>
            </a:pPr>
            <a:r>
              <a:rPr lang="en-US" sz="1200" b="1" spc="200" kern="0" dirty="0">
                <a:solidFill>
                  <a:srgbClr val="6E7C90"/>
                </a:solidFill>
                <a:latin typeface="Calibri" pitchFamily="34" charset="0"/>
                <a:ea typeface="Calibri" pitchFamily="34" charset="-122"/>
                <a:cs typeface="Calibri" pitchFamily="34" charset="-120"/>
              </a:rPr>
              <a:t>METHODOLOGY · 1 OF 5</a:t>
            </a:r>
            <a:endParaRPr lang="en-US" sz="1200" dirty="0"/>
          </a:p>
        </p:txBody>
      </p:sp>
      <p:sp>
        <p:nvSpPr>
          <p:cNvPr id="3" name="Shape 1"/>
          <p:cNvSpPr/>
          <p:nvPr/>
        </p:nvSpPr>
        <p:spPr>
          <a:xfrm>
            <a:off x="11210544" y="365760"/>
            <a:ext cx="384048" cy="384048"/>
          </a:xfrm>
          <a:prstGeom prst="ellipse">
            <a:avLst/>
          </a:prstGeom>
          <a:solidFill>
            <a:srgbClr val="16233B"/>
          </a:solidFill>
          <a:ln/>
        </p:spPr>
      </p:sp>
      <p:sp>
        <p:nvSpPr>
          <p:cNvPr id="4" name="Text 2"/>
          <p:cNvSpPr/>
          <p:nvPr/>
        </p:nvSpPr>
        <p:spPr>
          <a:xfrm>
            <a:off x="11210544" y="365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594360" y="749808"/>
            <a:ext cx="11000232" cy="822960"/>
          </a:xfrm>
          <a:prstGeom prst="rect">
            <a:avLst/>
          </a:prstGeom>
          <a:noFill/>
          <a:ln/>
        </p:spPr>
        <p:txBody>
          <a:bodyPr wrap="square" lIns="0" tIns="0" rIns="0" bIns="0" rtlCol="0" anchor="t"/>
          <a:lstStyle/>
          <a:p>
            <a:pPr algn="l" indent="0" marL="0">
              <a:lnSpc>
                <a:spcPct val="98000"/>
              </a:lnSpc>
              <a:buNone/>
            </a:pPr>
            <a:r>
              <a:rPr lang="en-US" sz="3200" b="1" dirty="0">
                <a:solidFill>
                  <a:srgbClr val="16233B"/>
                </a:solidFill>
                <a:latin typeface="Cambria" pitchFamily="34" charset="0"/>
                <a:ea typeface="Cambria" pitchFamily="34" charset="-122"/>
                <a:cs typeface="Cambria" pitchFamily="34" charset="-120"/>
              </a:rPr>
              <a:t>Data, and a deprivation ladder fixed at 2010</a:t>
            </a:r>
            <a:endParaRPr lang="en-US" sz="3200" dirty="0"/>
          </a:p>
        </p:txBody>
      </p:sp>
      <p:sp>
        <p:nvSpPr>
          <p:cNvPr id="6" name="Shape 4"/>
          <p:cNvSpPr/>
          <p:nvPr/>
        </p:nvSpPr>
        <p:spPr>
          <a:xfrm>
            <a:off x="594360" y="1892808"/>
            <a:ext cx="146304" cy="146304"/>
          </a:xfrm>
          <a:prstGeom prst="ellipse">
            <a:avLst/>
          </a:prstGeom>
          <a:solidFill>
            <a:srgbClr val="C6551A"/>
          </a:solidFill>
          <a:ln/>
        </p:spPr>
      </p:sp>
      <p:sp>
        <p:nvSpPr>
          <p:cNvPr id="7" name="Text 5"/>
          <p:cNvSpPr/>
          <p:nvPr/>
        </p:nvSpPr>
        <p:spPr>
          <a:xfrm>
            <a:off x="914400" y="1755648"/>
            <a:ext cx="6766560" cy="658368"/>
          </a:xfrm>
          <a:prstGeom prst="rect">
            <a:avLst/>
          </a:prstGeom>
          <a:noFill/>
          <a:ln/>
        </p:spPr>
        <p:txBody>
          <a:bodyPr wrap="square" lIns="0" tIns="0" rIns="0" bIns="0" rtlCol="0" anchor="t"/>
          <a:lstStyle/>
          <a:p>
            <a:pPr indent="0" marL="0">
              <a:lnSpc>
                <a:spcPct val="103000"/>
              </a:lnSpc>
              <a:buNone/>
            </a:pPr>
            <a:r>
              <a:rPr lang="en-US" sz="1500" b="1" dirty="0">
                <a:solidFill>
                  <a:srgbClr val="16233B"/>
                </a:solidFill>
                <a:latin typeface="Calibri" pitchFamily="34" charset="0"/>
                <a:ea typeface="Calibri" pitchFamily="34" charset="-122"/>
                <a:cs typeface="Calibri" pitchFamily="34" charset="-120"/>
              </a:rPr>
              <a:t>Unit  </a:t>
            </a:r>
            <a:pPr indent="0" marL="0">
              <a:lnSpc>
                <a:spcPct val="103000"/>
              </a:lnSpc>
              <a:buNone/>
            </a:pPr>
            <a:r>
              <a:rPr lang="en-US" sz="1500" dirty="0">
                <a:solidFill>
                  <a:srgbClr val="2A3547"/>
                </a:solidFill>
                <a:latin typeface="Calibri" pitchFamily="34" charset="0"/>
                <a:ea typeface="Calibri" pitchFamily="34" charset="-122"/>
                <a:cs typeface="Calibri" pitchFamily="34" charset="-120"/>
              </a:rPr>
              <a:t>982 London MSOAs (Camden 024/025 merged in 2021).</a:t>
            </a:r>
            <a:endParaRPr lang="en-US" sz="1500" dirty="0"/>
          </a:p>
        </p:txBody>
      </p:sp>
      <p:sp>
        <p:nvSpPr>
          <p:cNvPr id="8" name="Shape 6"/>
          <p:cNvSpPr/>
          <p:nvPr/>
        </p:nvSpPr>
        <p:spPr>
          <a:xfrm>
            <a:off x="594360" y="2606040"/>
            <a:ext cx="146304" cy="146304"/>
          </a:xfrm>
          <a:prstGeom prst="ellipse">
            <a:avLst/>
          </a:prstGeom>
          <a:solidFill>
            <a:srgbClr val="C6551A"/>
          </a:solidFill>
          <a:ln/>
        </p:spPr>
      </p:sp>
      <p:sp>
        <p:nvSpPr>
          <p:cNvPr id="9" name="Text 7"/>
          <p:cNvSpPr/>
          <p:nvPr/>
        </p:nvSpPr>
        <p:spPr>
          <a:xfrm>
            <a:off x="914400" y="2468880"/>
            <a:ext cx="6766560" cy="658368"/>
          </a:xfrm>
          <a:prstGeom prst="rect">
            <a:avLst/>
          </a:prstGeom>
          <a:noFill/>
          <a:ln/>
        </p:spPr>
        <p:txBody>
          <a:bodyPr wrap="square" lIns="0" tIns="0" rIns="0" bIns="0" rtlCol="0" anchor="t"/>
          <a:lstStyle/>
          <a:p>
            <a:pPr indent="0" marL="0">
              <a:lnSpc>
                <a:spcPct val="103000"/>
              </a:lnSpc>
              <a:buNone/>
            </a:pPr>
            <a:r>
              <a:rPr lang="en-US" sz="1500" b="1" dirty="0">
                <a:solidFill>
                  <a:srgbClr val="16233B"/>
                </a:solidFill>
                <a:latin typeface="Calibri" pitchFamily="34" charset="0"/>
                <a:ea typeface="Calibri" pitchFamily="34" charset="-122"/>
                <a:cs typeface="Calibri" pitchFamily="34" charset="-120"/>
              </a:rPr>
              <a:t>Flows  </a:t>
            </a:r>
            <a:pPr indent="0" marL="0">
              <a:lnSpc>
                <a:spcPct val="103000"/>
              </a:lnSpc>
              <a:buNone/>
            </a:pPr>
            <a:r>
              <a:rPr lang="en-US" sz="1500" dirty="0">
                <a:solidFill>
                  <a:srgbClr val="2A3547"/>
                </a:solidFill>
                <a:latin typeface="Calibri" pitchFamily="34" charset="0"/>
                <a:ea typeface="Calibri" pitchFamily="34" charset="-122"/>
                <a:cs typeface="Calibri" pitchFamily="34" charset="-120"/>
              </a:rPr>
              <a:t>Census Origin–Destination migration, 2011 &amp; 2021 (Nomis, Open Geography).</a:t>
            </a:r>
            <a:endParaRPr lang="en-US" sz="1500" dirty="0"/>
          </a:p>
        </p:txBody>
      </p:sp>
      <p:sp>
        <p:nvSpPr>
          <p:cNvPr id="10" name="Shape 8"/>
          <p:cNvSpPr/>
          <p:nvPr/>
        </p:nvSpPr>
        <p:spPr>
          <a:xfrm>
            <a:off x="594360" y="3319272"/>
            <a:ext cx="146304" cy="146304"/>
          </a:xfrm>
          <a:prstGeom prst="ellipse">
            <a:avLst/>
          </a:prstGeom>
          <a:solidFill>
            <a:srgbClr val="C6551A"/>
          </a:solidFill>
          <a:ln/>
        </p:spPr>
      </p:sp>
      <p:sp>
        <p:nvSpPr>
          <p:cNvPr id="11" name="Text 9"/>
          <p:cNvSpPr/>
          <p:nvPr/>
        </p:nvSpPr>
        <p:spPr>
          <a:xfrm>
            <a:off x="914400" y="3182112"/>
            <a:ext cx="6766560" cy="658368"/>
          </a:xfrm>
          <a:prstGeom prst="rect">
            <a:avLst/>
          </a:prstGeom>
          <a:noFill/>
          <a:ln/>
        </p:spPr>
        <p:txBody>
          <a:bodyPr wrap="square" lIns="0" tIns="0" rIns="0" bIns="0" rtlCol="0" anchor="t"/>
          <a:lstStyle/>
          <a:p>
            <a:pPr indent="0" marL="0">
              <a:lnSpc>
                <a:spcPct val="103000"/>
              </a:lnSpc>
              <a:buNone/>
            </a:pPr>
            <a:r>
              <a:rPr lang="en-US" sz="1500" b="1" dirty="0">
                <a:solidFill>
                  <a:srgbClr val="16233B"/>
                </a:solidFill>
                <a:latin typeface="Calibri" pitchFamily="34" charset="0"/>
                <a:ea typeface="Calibri" pitchFamily="34" charset="-122"/>
                <a:cs typeface="Calibri" pitchFamily="34" charset="-120"/>
              </a:rPr>
              <a:t>Ladder  </a:t>
            </a:r>
            <a:pPr indent="0" marL="0">
              <a:lnSpc>
                <a:spcPct val="103000"/>
              </a:lnSpc>
              <a:buNone/>
            </a:pPr>
            <a:r>
              <a:rPr lang="en-US" sz="1500" dirty="0">
                <a:solidFill>
                  <a:srgbClr val="2A3547"/>
                </a:solidFill>
                <a:latin typeface="Calibri" pitchFamily="34" charset="0"/>
                <a:ea typeface="Calibri" pitchFamily="34" charset="-122"/>
                <a:cs typeface="Calibri" pitchFamily="34" charset="-120"/>
              </a:rPr>
              <a:t>IMD 2010 aggregated to MSOA, ranked into wealth deciles — 10 = least deprived, 1 = most deprived.</a:t>
            </a:r>
            <a:endParaRPr lang="en-US" sz="1500" dirty="0"/>
          </a:p>
        </p:txBody>
      </p:sp>
      <p:sp>
        <p:nvSpPr>
          <p:cNvPr id="12" name="Shape 10"/>
          <p:cNvSpPr/>
          <p:nvPr/>
        </p:nvSpPr>
        <p:spPr>
          <a:xfrm>
            <a:off x="594360" y="4032504"/>
            <a:ext cx="146304" cy="146304"/>
          </a:xfrm>
          <a:prstGeom prst="ellipse">
            <a:avLst/>
          </a:prstGeom>
          <a:solidFill>
            <a:srgbClr val="C6551A"/>
          </a:solidFill>
          <a:ln/>
        </p:spPr>
      </p:sp>
      <p:sp>
        <p:nvSpPr>
          <p:cNvPr id="13" name="Text 11"/>
          <p:cNvSpPr/>
          <p:nvPr/>
        </p:nvSpPr>
        <p:spPr>
          <a:xfrm>
            <a:off x="914400" y="3895344"/>
            <a:ext cx="6766560" cy="658368"/>
          </a:xfrm>
          <a:prstGeom prst="rect">
            <a:avLst/>
          </a:prstGeom>
          <a:noFill/>
          <a:ln/>
        </p:spPr>
        <p:txBody>
          <a:bodyPr wrap="square" lIns="0" tIns="0" rIns="0" bIns="0" rtlCol="0" anchor="t"/>
          <a:lstStyle/>
          <a:p>
            <a:pPr indent="0" marL="0">
              <a:lnSpc>
                <a:spcPct val="103000"/>
              </a:lnSpc>
              <a:buNone/>
            </a:pPr>
            <a:r>
              <a:rPr lang="en-US" sz="1500" b="1" dirty="0">
                <a:solidFill>
                  <a:srgbClr val="16233B"/>
                </a:solidFill>
                <a:latin typeface="Calibri" pitchFamily="34" charset="0"/>
                <a:ea typeface="Calibri" pitchFamily="34" charset="-122"/>
                <a:cs typeface="Calibri" pitchFamily="34" charset="-120"/>
              </a:rPr>
              <a:t>Access  </a:t>
            </a:r>
            <a:pPr indent="0" marL="0">
              <a:lnSpc>
                <a:spcPct val="103000"/>
              </a:lnSpc>
              <a:buNone/>
            </a:pPr>
            <a:r>
              <a:rPr lang="en-US" sz="1500" dirty="0">
                <a:solidFill>
                  <a:srgbClr val="2A3547"/>
                </a:solidFill>
                <a:latin typeface="Calibri" pitchFamily="34" charset="0"/>
                <a:ea typeface="Calibri" pitchFamily="34" charset="-122"/>
                <a:cs typeface="Calibri" pitchFamily="34" charset="-120"/>
              </a:rPr>
              <a:t>Entirely secondary, anonymised, open data.</a:t>
            </a:r>
            <a:endParaRPr lang="en-US" sz="1500" dirty="0"/>
          </a:p>
        </p:txBody>
      </p:sp>
      <p:sp>
        <p:nvSpPr>
          <p:cNvPr id="14" name="Shape 12"/>
          <p:cNvSpPr/>
          <p:nvPr/>
        </p:nvSpPr>
        <p:spPr>
          <a:xfrm>
            <a:off x="8686800" y="1828800"/>
            <a:ext cx="566928" cy="246888"/>
          </a:xfrm>
          <a:prstGeom prst="roundRect">
            <a:avLst>
              <a:gd name="adj" fmla="val 11111"/>
            </a:avLst>
          </a:prstGeom>
          <a:solidFill>
            <a:srgbClr val="3E5578"/>
          </a:solidFill>
          <a:ln/>
        </p:spPr>
      </p:sp>
      <p:sp>
        <p:nvSpPr>
          <p:cNvPr id="15" name="Shape 13"/>
          <p:cNvSpPr/>
          <p:nvPr/>
        </p:nvSpPr>
        <p:spPr>
          <a:xfrm>
            <a:off x="8686800" y="2121408"/>
            <a:ext cx="566928" cy="246888"/>
          </a:xfrm>
          <a:prstGeom prst="roundRect">
            <a:avLst>
              <a:gd name="adj" fmla="val 11111"/>
            </a:avLst>
          </a:prstGeom>
          <a:solidFill>
            <a:srgbClr val="3E5578"/>
          </a:solidFill>
          <a:ln/>
        </p:spPr>
      </p:sp>
      <p:sp>
        <p:nvSpPr>
          <p:cNvPr id="16" name="Shape 14"/>
          <p:cNvSpPr/>
          <p:nvPr/>
        </p:nvSpPr>
        <p:spPr>
          <a:xfrm>
            <a:off x="8686800" y="2414016"/>
            <a:ext cx="566928" cy="246888"/>
          </a:xfrm>
          <a:prstGeom prst="roundRect">
            <a:avLst>
              <a:gd name="adj" fmla="val 11111"/>
            </a:avLst>
          </a:prstGeom>
          <a:solidFill>
            <a:srgbClr val="3E5578"/>
          </a:solidFill>
          <a:ln/>
        </p:spPr>
      </p:sp>
      <p:sp>
        <p:nvSpPr>
          <p:cNvPr id="17" name="Shape 15"/>
          <p:cNvSpPr/>
          <p:nvPr/>
        </p:nvSpPr>
        <p:spPr>
          <a:xfrm>
            <a:off x="8686800" y="2706624"/>
            <a:ext cx="566928" cy="246888"/>
          </a:xfrm>
          <a:prstGeom prst="roundRect">
            <a:avLst>
              <a:gd name="adj" fmla="val 11111"/>
            </a:avLst>
          </a:prstGeom>
          <a:solidFill>
            <a:srgbClr val="3E5578"/>
          </a:solidFill>
          <a:ln/>
        </p:spPr>
      </p:sp>
      <p:sp>
        <p:nvSpPr>
          <p:cNvPr id="18" name="Shape 16"/>
          <p:cNvSpPr/>
          <p:nvPr/>
        </p:nvSpPr>
        <p:spPr>
          <a:xfrm>
            <a:off x="8686800" y="2999232"/>
            <a:ext cx="566928" cy="246888"/>
          </a:xfrm>
          <a:prstGeom prst="roundRect">
            <a:avLst>
              <a:gd name="adj" fmla="val 11111"/>
            </a:avLst>
          </a:prstGeom>
          <a:solidFill>
            <a:srgbClr val="3E5578"/>
          </a:solidFill>
          <a:ln/>
        </p:spPr>
      </p:sp>
      <p:sp>
        <p:nvSpPr>
          <p:cNvPr id="19" name="Shape 17"/>
          <p:cNvSpPr/>
          <p:nvPr/>
        </p:nvSpPr>
        <p:spPr>
          <a:xfrm>
            <a:off x="8686800" y="3291840"/>
            <a:ext cx="566928" cy="246888"/>
          </a:xfrm>
          <a:prstGeom prst="roundRect">
            <a:avLst>
              <a:gd name="adj" fmla="val 11111"/>
            </a:avLst>
          </a:prstGeom>
          <a:solidFill>
            <a:srgbClr val="263A5C"/>
          </a:solidFill>
          <a:ln/>
        </p:spPr>
      </p:sp>
      <p:sp>
        <p:nvSpPr>
          <p:cNvPr id="20" name="Shape 18"/>
          <p:cNvSpPr/>
          <p:nvPr/>
        </p:nvSpPr>
        <p:spPr>
          <a:xfrm>
            <a:off x="8686800" y="3584448"/>
            <a:ext cx="566928" cy="246888"/>
          </a:xfrm>
          <a:prstGeom prst="roundRect">
            <a:avLst>
              <a:gd name="adj" fmla="val 11111"/>
            </a:avLst>
          </a:prstGeom>
          <a:solidFill>
            <a:srgbClr val="263A5C"/>
          </a:solidFill>
          <a:ln/>
        </p:spPr>
      </p:sp>
      <p:sp>
        <p:nvSpPr>
          <p:cNvPr id="21" name="Shape 19"/>
          <p:cNvSpPr/>
          <p:nvPr/>
        </p:nvSpPr>
        <p:spPr>
          <a:xfrm>
            <a:off x="8686800" y="3877056"/>
            <a:ext cx="566928" cy="246888"/>
          </a:xfrm>
          <a:prstGeom prst="roundRect">
            <a:avLst>
              <a:gd name="adj" fmla="val 11111"/>
            </a:avLst>
          </a:prstGeom>
          <a:solidFill>
            <a:srgbClr val="263A5C"/>
          </a:solidFill>
          <a:ln/>
        </p:spPr>
      </p:sp>
      <p:sp>
        <p:nvSpPr>
          <p:cNvPr id="22" name="Shape 20"/>
          <p:cNvSpPr/>
          <p:nvPr/>
        </p:nvSpPr>
        <p:spPr>
          <a:xfrm>
            <a:off x="8686800" y="4169664"/>
            <a:ext cx="566928" cy="246888"/>
          </a:xfrm>
          <a:prstGeom prst="roundRect">
            <a:avLst>
              <a:gd name="adj" fmla="val 11111"/>
            </a:avLst>
          </a:prstGeom>
          <a:solidFill>
            <a:srgbClr val="263A5C"/>
          </a:solidFill>
          <a:ln/>
        </p:spPr>
      </p:sp>
      <p:sp>
        <p:nvSpPr>
          <p:cNvPr id="23" name="Shape 21"/>
          <p:cNvSpPr/>
          <p:nvPr/>
        </p:nvSpPr>
        <p:spPr>
          <a:xfrm>
            <a:off x="8686800" y="4462272"/>
            <a:ext cx="566928" cy="246888"/>
          </a:xfrm>
          <a:prstGeom prst="roundRect">
            <a:avLst>
              <a:gd name="adj" fmla="val 11111"/>
            </a:avLst>
          </a:prstGeom>
          <a:solidFill>
            <a:srgbClr val="263A5C"/>
          </a:solidFill>
          <a:ln/>
        </p:spPr>
      </p:sp>
      <p:sp>
        <p:nvSpPr>
          <p:cNvPr id="24" name="Text 22"/>
          <p:cNvSpPr/>
          <p:nvPr/>
        </p:nvSpPr>
        <p:spPr>
          <a:xfrm>
            <a:off x="9363456" y="1783080"/>
            <a:ext cx="2194560" cy="274320"/>
          </a:xfrm>
          <a:prstGeom prst="rect">
            <a:avLst/>
          </a:prstGeom>
          <a:noFill/>
          <a:ln/>
        </p:spPr>
        <p:txBody>
          <a:bodyPr wrap="square" lIns="0" tIns="0" rIns="0" bIns="0" rtlCol="0" anchor="t"/>
          <a:lstStyle/>
          <a:p>
            <a:pPr indent="0" marL="0">
              <a:buNone/>
            </a:pPr>
            <a:r>
              <a:rPr lang="en-US" sz="1100" dirty="0">
                <a:solidFill>
                  <a:srgbClr val="6E7C90"/>
                </a:solidFill>
                <a:latin typeface="Calibri" pitchFamily="34" charset="0"/>
                <a:ea typeface="Calibri" pitchFamily="34" charset="-122"/>
                <a:cs typeface="Calibri" pitchFamily="34" charset="-120"/>
              </a:rPr>
              <a:t>D10 · least deprived</a:t>
            </a:r>
            <a:endParaRPr lang="en-US" sz="1100" dirty="0"/>
          </a:p>
        </p:txBody>
      </p:sp>
      <p:sp>
        <p:nvSpPr>
          <p:cNvPr id="25" name="Text 23"/>
          <p:cNvSpPr/>
          <p:nvPr/>
        </p:nvSpPr>
        <p:spPr>
          <a:xfrm>
            <a:off x="9363456" y="4480560"/>
            <a:ext cx="2194560" cy="274320"/>
          </a:xfrm>
          <a:prstGeom prst="rect">
            <a:avLst/>
          </a:prstGeom>
          <a:noFill/>
          <a:ln/>
        </p:spPr>
        <p:txBody>
          <a:bodyPr wrap="square" lIns="0" tIns="0" rIns="0" bIns="0" rtlCol="0" anchor="b"/>
          <a:lstStyle/>
          <a:p>
            <a:pPr indent="0" marL="0">
              <a:buNone/>
            </a:pPr>
            <a:r>
              <a:rPr lang="en-US" sz="1100" dirty="0">
                <a:solidFill>
                  <a:srgbClr val="6E7C90"/>
                </a:solidFill>
                <a:latin typeface="Calibri" pitchFamily="34" charset="0"/>
                <a:ea typeface="Calibri" pitchFamily="34" charset="-122"/>
                <a:cs typeface="Calibri" pitchFamily="34" charset="-120"/>
              </a:rPr>
              <a:t>D1 · most deprived</a:t>
            </a:r>
            <a:endParaRPr lang="en-US" sz="1100" dirty="0"/>
          </a:p>
        </p:txBody>
      </p:sp>
      <p:sp>
        <p:nvSpPr>
          <p:cNvPr id="26" name="Shape 24"/>
          <p:cNvSpPr/>
          <p:nvPr/>
        </p:nvSpPr>
        <p:spPr>
          <a:xfrm>
            <a:off x="10104120" y="2971800"/>
            <a:ext cx="1554480" cy="548640"/>
          </a:xfrm>
          <a:prstGeom prst="roundRect">
            <a:avLst>
              <a:gd name="adj" fmla="val 13333"/>
            </a:avLst>
          </a:prstGeom>
          <a:solidFill>
            <a:srgbClr val="F9E6D6"/>
          </a:solidFill>
          <a:ln/>
        </p:spPr>
      </p:sp>
      <p:sp>
        <p:nvSpPr>
          <p:cNvPr id="27" name="Text 25"/>
          <p:cNvSpPr/>
          <p:nvPr/>
        </p:nvSpPr>
        <p:spPr>
          <a:xfrm>
            <a:off x="10104120" y="2971800"/>
            <a:ext cx="1554480" cy="548640"/>
          </a:xfrm>
          <a:prstGeom prst="rect">
            <a:avLst/>
          </a:prstGeom>
          <a:noFill/>
          <a:ln/>
        </p:spPr>
        <p:txBody>
          <a:bodyPr wrap="square" lIns="0" tIns="0" rIns="0" bIns="0" rtlCol="0" anchor="ctr"/>
          <a:lstStyle/>
          <a:p>
            <a:pPr algn="ctr" indent="0" marL="0">
              <a:buNone/>
            </a:pPr>
            <a:r>
              <a:rPr lang="en-US" sz="1300" b="1" dirty="0">
                <a:solidFill>
                  <a:srgbClr val="C6551A"/>
                </a:solidFill>
                <a:latin typeface="Calibri" pitchFamily="34" charset="0"/>
                <a:ea typeface="Calibri" pitchFamily="34" charset="-122"/>
                <a:cs typeface="Calibri" pitchFamily="34" charset="-120"/>
              </a:rPr>
              <a:t>FIXED · 2010</a:t>
            </a:r>
            <a:endParaRPr lang="en-US" sz="1300" dirty="0"/>
          </a:p>
        </p:txBody>
      </p:sp>
      <p:sp>
        <p:nvSpPr>
          <p:cNvPr id="28" name="Shape 26"/>
          <p:cNvSpPr/>
          <p:nvPr/>
        </p:nvSpPr>
        <p:spPr>
          <a:xfrm>
            <a:off x="594360" y="5074920"/>
            <a:ext cx="11000232" cy="1143000"/>
          </a:xfrm>
          <a:prstGeom prst="roundRect">
            <a:avLst>
              <a:gd name="adj" fmla="val 7200"/>
            </a:avLst>
          </a:prstGeom>
          <a:solidFill>
            <a:srgbClr val="F3F6FB"/>
          </a:solidFill>
          <a:ln/>
          <a:effectLst>
            <a:outerShdw sx="100000" sy="100000" kx="0" ky="0" algn="bl" rotWithShape="0" blurRad="101600" dist="38100" dir="5400000">
              <a:srgbClr val="9AA6B8">
                <a:alpha val="28000"/>
              </a:srgbClr>
            </a:outerShdw>
          </a:effectLst>
        </p:spPr>
      </p:sp>
      <p:sp>
        <p:nvSpPr>
          <p:cNvPr id="29" name="Text 27"/>
          <p:cNvSpPr/>
          <p:nvPr/>
        </p:nvSpPr>
        <p:spPr>
          <a:xfrm>
            <a:off x="850392" y="5193792"/>
            <a:ext cx="10488168" cy="914400"/>
          </a:xfrm>
          <a:prstGeom prst="rect">
            <a:avLst/>
          </a:prstGeom>
          <a:noFill/>
          <a:ln/>
        </p:spPr>
        <p:txBody>
          <a:bodyPr wrap="square" lIns="0" tIns="0" rIns="0" bIns="0" rtlCol="0" anchor="ctr"/>
          <a:lstStyle/>
          <a:p>
            <a:pPr indent="0" marL="0">
              <a:lnSpc>
                <a:spcPct val="108000"/>
              </a:lnSpc>
              <a:buNone/>
            </a:pPr>
            <a:r>
              <a:rPr lang="en-US" sz="1500" b="1" dirty="0">
                <a:solidFill>
                  <a:srgbClr val="16233B"/>
                </a:solidFill>
                <a:latin typeface="Calibri" pitchFamily="34" charset="0"/>
                <a:ea typeface="Calibri" pitchFamily="34" charset="-122"/>
                <a:cs typeface="Calibri" pitchFamily="34" charset="-120"/>
              </a:rPr>
              <a:t>Why fix the ladder?  </a:t>
            </a:r>
            <a:pPr indent="0" marL="0">
              <a:lnSpc>
                <a:spcPct val="108000"/>
              </a:lnSpc>
              <a:buNone/>
            </a:pPr>
            <a:r>
              <a:rPr lang="en-US" sz="1500" dirty="0">
                <a:solidFill>
                  <a:srgbClr val="2A3547"/>
                </a:solidFill>
                <a:latin typeface="Calibri" pitchFamily="34" charset="0"/>
                <a:ea typeface="Calibri" pitchFamily="34" charset="-122"/>
                <a:cs typeface="Calibri" pitchFamily="34" charset="-120"/>
              </a:rPr>
              <a:t>So change between censuses reflects </a:t>
            </a:r>
            <a:pPr indent="0" marL="0">
              <a:lnSpc>
                <a:spcPct val="108000"/>
              </a:lnSpc>
              <a:buNone/>
            </a:pPr>
            <a:r>
              <a:rPr lang="en-US" sz="1500" b="1" dirty="0">
                <a:solidFill>
                  <a:srgbClr val="2A3547"/>
                </a:solidFill>
                <a:latin typeface="Calibri" pitchFamily="34" charset="0"/>
                <a:ea typeface="Calibri" pitchFamily="34" charset="-122"/>
                <a:cs typeface="Calibri" pitchFamily="34" charset="-120"/>
              </a:rPr>
              <a:t>movement, not re-ranking</a:t>
            </a:r>
            <a:pPr indent="0" marL="0">
              <a:lnSpc>
                <a:spcPct val="108000"/>
              </a:lnSpc>
              <a:buNone/>
            </a:pPr>
            <a:r>
              <a:rPr lang="en-US" sz="1500" dirty="0">
                <a:solidFill>
                  <a:srgbClr val="2A3547"/>
                </a:solidFill>
                <a:latin typeface="Calibri" pitchFamily="34" charset="0"/>
                <a:ea typeface="Calibri" pitchFamily="34" charset="-122"/>
                <a:cs typeface="Calibri" pitchFamily="34" charset="-120"/>
              </a:rPr>
              <a:t> — and so IMD 2019 stays reserved as an </a:t>
            </a:r>
            <a:pPr indent="0" marL="0">
              <a:lnSpc>
                <a:spcPct val="108000"/>
              </a:lnSpc>
              <a:buNone/>
            </a:pPr>
            <a:r>
              <a:rPr lang="en-US" sz="1500" b="1" dirty="0">
                <a:solidFill>
                  <a:srgbClr val="2A3547"/>
                </a:solidFill>
                <a:latin typeface="Calibri" pitchFamily="34" charset="0"/>
                <a:ea typeface="Calibri" pitchFamily="34" charset="-122"/>
                <a:cs typeface="Calibri" pitchFamily="34" charset="-120"/>
              </a:rPr>
              <a:t>independent outcome</a:t>
            </a:r>
            <a:pPr indent="0" marL="0">
              <a:lnSpc>
                <a:spcPct val="108000"/>
              </a:lnSpc>
              <a:buNone/>
            </a:pPr>
            <a:r>
              <a:rPr lang="en-US" sz="1500" dirty="0">
                <a:solidFill>
                  <a:srgbClr val="2A3547"/>
                </a:solidFill>
                <a:latin typeface="Calibri" pitchFamily="34" charset="0"/>
                <a:ea typeface="Calibri" pitchFamily="34" charset="-122"/>
                <a:cs typeface="Calibri" pitchFamily="34" charset="-120"/>
              </a:rPr>
              <a:t> the typology never sees. The validation is non-circular by construction.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1000232" cy="292608"/>
          </a:xfrm>
          <a:prstGeom prst="rect">
            <a:avLst/>
          </a:prstGeom>
          <a:noFill/>
          <a:ln/>
        </p:spPr>
        <p:txBody>
          <a:bodyPr wrap="square" lIns="0" tIns="0" rIns="0" bIns="0" rtlCol="0" anchor="ctr"/>
          <a:lstStyle/>
          <a:p>
            <a:pPr indent="0" marL="0">
              <a:buNone/>
            </a:pPr>
            <a:r>
              <a:rPr lang="en-US" sz="1200" b="1" spc="200" kern="0" dirty="0">
                <a:solidFill>
                  <a:srgbClr val="6E7C90"/>
                </a:solidFill>
                <a:latin typeface="Calibri" pitchFamily="34" charset="0"/>
                <a:ea typeface="Calibri" pitchFamily="34" charset="-122"/>
                <a:cs typeface="Calibri" pitchFamily="34" charset="-120"/>
              </a:rPr>
              <a:t>METHODOLOGY · 2 OF 5</a:t>
            </a:r>
            <a:endParaRPr lang="en-US" sz="1200" dirty="0"/>
          </a:p>
        </p:txBody>
      </p:sp>
      <p:sp>
        <p:nvSpPr>
          <p:cNvPr id="3" name="Shape 1"/>
          <p:cNvSpPr/>
          <p:nvPr/>
        </p:nvSpPr>
        <p:spPr>
          <a:xfrm>
            <a:off x="11210544" y="365760"/>
            <a:ext cx="384048" cy="384048"/>
          </a:xfrm>
          <a:prstGeom prst="ellipse">
            <a:avLst/>
          </a:prstGeom>
          <a:solidFill>
            <a:srgbClr val="16233B"/>
          </a:solidFill>
          <a:ln/>
        </p:spPr>
      </p:sp>
      <p:sp>
        <p:nvSpPr>
          <p:cNvPr id="4" name="Text 2"/>
          <p:cNvSpPr/>
          <p:nvPr/>
        </p:nvSpPr>
        <p:spPr>
          <a:xfrm>
            <a:off x="11210544" y="365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5" name="Text 3"/>
          <p:cNvSpPr/>
          <p:nvPr/>
        </p:nvSpPr>
        <p:spPr>
          <a:xfrm>
            <a:off x="594360" y="749808"/>
            <a:ext cx="11000232" cy="822960"/>
          </a:xfrm>
          <a:prstGeom prst="rect">
            <a:avLst/>
          </a:prstGeom>
          <a:noFill/>
          <a:ln/>
        </p:spPr>
        <p:txBody>
          <a:bodyPr wrap="square" lIns="0" tIns="0" rIns="0" bIns="0" rtlCol="0" anchor="t"/>
          <a:lstStyle/>
          <a:p>
            <a:pPr algn="l" indent="0" marL="0">
              <a:lnSpc>
                <a:spcPct val="98000"/>
              </a:lnSpc>
              <a:buNone/>
            </a:pPr>
            <a:r>
              <a:rPr lang="en-US" sz="3200" b="1" dirty="0">
                <a:solidFill>
                  <a:srgbClr val="16233B"/>
                </a:solidFill>
                <a:latin typeface="Cambria" pitchFamily="34" charset="0"/>
                <a:ea typeface="Cambria" pitchFamily="34" charset="-122"/>
                <a:cs typeface="Cambria" pitchFamily="34" charset="-120"/>
              </a:rPr>
              <a:t>Every cross-decile move becomes one of four flows</a:t>
            </a:r>
            <a:endParaRPr lang="en-US" sz="3200" dirty="0"/>
          </a:p>
        </p:txBody>
      </p:sp>
      <p:sp>
        <p:nvSpPr>
          <p:cNvPr id="6" name="Shape 4"/>
          <p:cNvSpPr/>
          <p:nvPr/>
        </p:nvSpPr>
        <p:spPr>
          <a:xfrm>
            <a:off x="5943600" y="1920240"/>
            <a:ext cx="301752" cy="278892"/>
          </a:xfrm>
          <a:prstGeom prst="roundRect">
            <a:avLst>
              <a:gd name="adj" fmla="val 9836"/>
            </a:avLst>
          </a:prstGeom>
          <a:solidFill>
            <a:srgbClr val="3E5578"/>
          </a:solidFill>
          <a:ln/>
        </p:spPr>
      </p:sp>
      <p:sp>
        <p:nvSpPr>
          <p:cNvPr id="7" name="Shape 5"/>
          <p:cNvSpPr/>
          <p:nvPr/>
        </p:nvSpPr>
        <p:spPr>
          <a:xfrm>
            <a:off x="5943600" y="2244852"/>
            <a:ext cx="301752" cy="278892"/>
          </a:xfrm>
          <a:prstGeom prst="roundRect">
            <a:avLst>
              <a:gd name="adj" fmla="val 9836"/>
            </a:avLst>
          </a:prstGeom>
          <a:solidFill>
            <a:srgbClr val="3E5578"/>
          </a:solidFill>
          <a:ln/>
        </p:spPr>
      </p:sp>
      <p:sp>
        <p:nvSpPr>
          <p:cNvPr id="8" name="Shape 6"/>
          <p:cNvSpPr/>
          <p:nvPr/>
        </p:nvSpPr>
        <p:spPr>
          <a:xfrm>
            <a:off x="5943600" y="2569464"/>
            <a:ext cx="301752" cy="278892"/>
          </a:xfrm>
          <a:prstGeom prst="roundRect">
            <a:avLst>
              <a:gd name="adj" fmla="val 9836"/>
            </a:avLst>
          </a:prstGeom>
          <a:solidFill>
            <a:srgbClr val="3E5578"/>
          </a:solidFill>
          <a:ln/>
        </p:spPr>
      </p:sp>
      <p:sp>
        <p:nvSpPr>
          <p:cNvPr id="9" name="Shape 7"/>
          <p:cNvSpPr/>
          <p:nvPr/>
        </p:nvSpPr>
        <p:spPr>
          <a:xfrm>
            <a:off x="5943600" y="2894076"/>
            <a:ext cx="301752" cy="278892"/>
          </a:xfrm>
          <a:prstGeom prst="roundRect">
            <a:avLst>
              <a:gd name="adj" fmla="val 9836"/>
            </a:avLst>
          </a:prstGeom>
          <a:solidFill>
            <a:srgbClr val="3E5578"/>
          </a:solidFill>
          <a:ln/>
        </p:spPr>
      </p:sp>
      <p:sp>
        <p:nvSpPr>
          <p:cNvPr id="10" name="Shape 8"/>
          <p:cNvSpPr/>
          <p:nvPr/>
        </p:nvSpPr>
        <p:spPr>
          <a:xfrm>
            <a:off x="5943600" y="3218688"/>
            <a:ext cx="301752" cy="278892"/>
          </a:xfrm>
          <a:prstGeom prst="roundRect">
            <a:avLst>
              <a:gd name="adj" fmla="val 9836"/>
            </a:avLst>
          </a:prstGeom>
          <a:solidFill>
            <a:srgbClr val="3E5578"/>
          </a:solidFill>
          <a:ln/>
        </p:spPr>
      </p:sp>
      <p:sp>
        <p:nvSpPr>
          <p:cNvPr id="11" name="Shape 9"/>
          <p:cNvSpPr/>
          <p:nvPr/>
        </p:nvSpPr>
        <p:spPr>
          <a:xfrm>
            <a:off x="5943600" y="3543300"/>
            <a:ext cx="301752" cy="278892"/>
          </a:xfrm>
          <a:prstGeom prst="roundRect">
            <a:avLst>
              <a:gd name="adj" fmla="val 9836"/>
            </a:avLst>
          </a:prstGeom>
          <a:solidFill>
            <a:srgbClr val="263A5C"/>
          </a:solidFill>
          <a:ln/>
        </p:spPr>
      </p:sp>
      <p:sp>
        <p:nvSpPr>
          <p:cNvPr id="12" name="Shape 10"/>
          <p:cNvSpPr/>
          <p:nvPr/>
        </p:nvSpPr>
        <p:spPr>
          <a:xfrm>
            <a:off x="5943600" y="3867912"/>
            <a:ext cx="301752" cy="278892"/>
          </a:xfrm>
          <a:prstGeom prst="roundRect">
            <a:avLst>
              <a:gd name="adj" fmla="val 9836"/>
            </a:avLst>
          </a:prstGeom>
          <a:solidFill>
            <a:srgbClr val="263A5C"/>
          </a:solidFill>
          <a:ln/>
        </p:spPr>
      </p:sp>
      <p:sp>
        <p:nvSpPr>
          <p:cNvPr id="13" name="Shape 11"/>
          <p:cNvSpPr/>
          <p:nvPr/>
        </p:nvSpPr>
        <p:spPr>
          <a:xfrm>
            <a:off x="5943600" y="4192524"/>
            <a:ext cx="301752" cy="278892"/>
          </a:xfrm>
          <a:prstGeom prst="roundRect">
            <a:avLst>
              <a:gd name="adj" fmla="val 9836"/>
            </a:avLst>
          </a:prstGeom>
          <a:solidFill>
            <a:srgbClr val="263A5C"/>
          </a:solidFill>
          <a:ln/>
        </p:spPr>
      </p:sp>
      <p:sp>
        <p:nvSpPr>
          <p:cNvPr id="14" name="Shape 12"/>
          <p:cNvSpPr/>
          <p:nvPr/>
        </p:nvSpPr>
        <p:spPr>
          <a:xfrm>
            <a:off x="5943600" y="4517136"/>
            <a:ext cx="301752" cy="278892"/>
          </a:xfrm>
          <a:prstGeom prst="roundRect">
            <a:avLst>
              <a:gd name="adj" fmla="val 9836"/>
            </a:avLst>
          </a:prstGeom>
          <a:solidFill>
            <a:srgbClr val="263A5C"/>
          </a:solidFill>
          <a:ln/>
        </p:spPr>
      </p:sp>
      <p:sp>
        <p:nvSpPr>
          <p:cNvPr id="15" name="Shape 13"/>
          <p:cNvSpPr/>
          <p:nvPr/>
        </p:nvSpPr>
        <p:spPr>
          <a:xfrm>
            <a:off x="5943600" y="4841748"/>
            <a:ext cx="301752" cy="278892"/>
          </a:xfrm>
          <a:prstGeom prst="roundRect">
            <a:avLst>
              <a:gd name="adj" fmla="val 9836"/>
            </a:avLst>
          </a:prstGeom>
          <a:solidFill>
            <a:srgbClr val="263A5C"/>
          </a:solidFill>
          <a:ln/>
        </p:spPr>
      </p:sp>
      <p:sp>
        <p:nvSpPr>
          <p:cNvPr id="16" name="Shape 14"/>
          <p:cNvSpPr/>
          <p:nvPr/>
        </p:nvSpPr>
        <p:spPr>
          <a:xfrm>
            <a:off x="5532120" y="3246120"/>
            <a:ext cx="1143000" cy="566928"/>
          </a:xfrm>
          <a:prstGeom prst="ellipse">
            <a:avLst/>
          </a:prstGeom>
          <a:solidFill>
            <a:srgbClr val="16233B"/>
          </a:solidFill>
          <a:ln/>
        </p:spPr>
      </p:sp>
      <p:sp>
        <p:nvSpPr>
          <p:cNvPr id="17" name="Text 15"/>
          <p:cNvSpPr/>
          <p:nvPr/>
        </p:nvSpPr>
        <p:spPr>
          <a:xfrm>
            <a:off x="5532120" y="3246120"/>
            <a:ext cx="114300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MSOA</a:t>
            </a:r>
            <a:endParaRPr lang="en-US" sz="1200" dirty="0"/>
          </a:p>
        </p:txBody>
      </p:sp>
      <p:sp>
        <p:nvSpPr>
          <p:cNvPr id="18" name="Shape 16"/>
          <p:cNvSpPr/>
          <p:nvPr/>
        </p:nvSpPr>
        <p:spPr>
          <a:xfrm>
            <a:off x="594360" y="2057400"/>
            <a:ext cx="3108960" cy="841248"/>
          </a:xfrm>
          <a:prstGeom prst="roundRect">
            <a:avLst>
              <a:gd name="adj" fmla="val 8696"/>
            </a:avLst>
          </a:prstGeom>
          <a:solidFill>
            <a:srgbClr val="F9E6D6"/>
          </a:solidFill>
          <a:ln/>
          <a:effectLst>
            <a:outerShdw sx="100000" sy="100000" kx="0" ky="0" algn="bl" rotWithShape="0" blurRad="101600" dist="38100" dir="5400000">
              <a:srgbClr val="9AA6B8">
                <a:alpha val="28000"/>
              </a:srgbClr>
            </a:outerShdw>
          </a:effectLst>
        </p:spPr>
      </p:sp>
      <p:sp>
        <p:nvSpPr>
          <p:cNvPr id="19" name="Text 17"/>
          <p:cNvSpPr/>
          <p:nvPr/>
        </p:nvSpPr>
        <p:spPr>
          <a:xfrm>
            <a:off x="704088" y="2057400"/>
            <a:ext cx="457200" cy="841248"/>
          </a:xfrm>
          <a:prstGeom prst="rect">
            <a:avLst/>
          </a:prstGeom>
          <a:noFill/>
          <a:ln/>
        </p:spPr>
        <p:txBody>
          <a:bodyPr wrap="square" lIns="0" tIns="0" rIns="0" bIns="0" rtlCol="0" anchor="ctr"/>
          <a:lstStyle/>
          <a:p>
            <a:pPr algn="ctr" indent="0" marL="0">
              <a:buNone/>
            </a:pPr>
            <a:r>
              <a:rPr lang="en-US" sz="2400" b="1" dirty="0">
                <a:solidFill>
                  <a:srgbClr val="C6551A"/>
                </a:solidFill>
                <a:latin typeface="Calibri" pitchFamily="34" charset="0"/>
                <a:ea typeface="Calibri" pitchFamily="34" charset="-122"/>
                <a:cs typeface="Calibri" pitchFamily="34" charset="-120"/>
              </a:rPr>
              <a:t>↘</a:t>
            </a:r>
            <a:endParaRPr lang="en-US" sz="2400" dirty="0"/>
          </a:p>
        </p:txBody>
      </p:sp>
      <p:sp>
        <p:nvSpPr>
          <p:cNvPr id="20" name="Text 18"/>
          <p:cNvSpPr/>
          <p:nvPr/>
        </p:nvSpPr>
        <p:spPr>
          <a:xfrm>
            <a:off x="1161288" y="2130552"/>
            <a:ext cx="2423160" cy="713232"/>
          </a:xfrm>
          <a:prstGeom prst="rect">
            <a:avLst/>
          </a:prstGeom>
          <a:noFill/>
          <a:ln/>
        </p:spPr>
        <p:txBody>
          <a:bodyPr wrap="square" lIns="0" tIns="0" rIns="0" bIns="0" rtlCol="0" anchor="ctr"/>
          <a:lstStyle/>
          <a:p>
            <a:pPr indent="0" marL="0">
              <a:lnSpc>
                <a:spcPct val="100000"/>
              </a:lnSpc>
              <a:buNone/>
            </a:pPr>
            <a:r>
              <a:rPr lang="en-US" sz="1350" b="1" dirty="0">
                <a:solidFill>
                  <a:srgbClr val="C6551A"/>
                </a:solidFill>
                <a:latin typeface="Calibri" pitchFamily="34" charset="0"/>
                <a:ea typeface="Calibri" pitchFamily="34" charset="-122"/>
                <a:cs typeface="Calibri" pitchFamily="34" charset="-120"/>
              </a:rPr>
              <a:t>IW — Inflow from Wealthier</a:t>
            </a:r>
            <a:endParaRPr lang="en-US" sz="1350" dirty="0"/>
          </a:p>
          <a:p>
            <a:pPr indent="0" marL="0">
              <a:lnSpc>
                <a:spcPct val="100000"/>
              </a:lnSpc>
              <a:buNone/>
            </a:pPr>
            <a:r>
              <a:rPr lang="en-US" sz="1200" dirty="0">
                <a:solidFill>
                  <a:srgbClr val="2A3547"/>
                </a:solidFill>
                <a:latin typeface="Calibri" pitchFamily="34" charset="0"/>
                <a:ea typeface="Calibri" pitchFamily="34" charset="-122"/>
                <a:cs typeface="Calibri" pitchFamily="34" charset="-120"/>
              </a:rPr>
              <a:t>arriving from a less-deprived decile</a:t>
            </a:r>
            <a:endParaRPr lang="en-US" sz="1350" dirty="0"/>
          </a:p>
        </p:txBody>
      </p:sp>
      <p:sp>
        <p:nvSpPr>
          <p:cNvPr id="21" name="Shape 19"/>
          <p:cNvSpPr/>
          <p:nvPr/>
        </p:nvSpPr>
        <p:spPr>
          <a:xfrm>
            <a:off x="594360" y="3063240"/>
            <a:ext cx="3108960" cy="841248"/>
          </a:xfrm>
          <a:prstGeom prst="roundRect">
            <a:avLst>
              <a:gd name="adj" fmla="val 8696"/>
            </a:avLst>
          </a:prstGeom>
          <a:solidFill>
            <a:srgbClr val="F9E6D6"/>
          </a:solidFill>
          <a:ln/>
          <a:effectLst>
            <a:outerShdw sx="100000" sy="100000" kx="0" ky="0" algn="bl" rotWithShape="0" blurRad="101600" dist="38100" dir="5400000">
              <a:srgbClr val="9AA6B8">
                <a:alpha val="28000"/>
              </a:srgbClr>
            </a:outerShdw>
          </a:effectLst>
        </p:spPr>
      </p:sp>
      <p:sp>
        <p:nvSpPr>
          <p:cNvPr id="22" name="Text 20"/>
          <p:cNvSpPr/>
          <p:nvPr/>
        </p:nvSpPr>
        <p:spPr>
          <a:xfrm>
            <a:off x="704088" y="3063240"/>
            <a:ext cx="457200" cy="841248"/>
          </a:xfrm>
          <a:prstGeom prst="rect">
            <a:avLst/>
          </a:prstGeom>
          <a:noFill/>
          <a:ln/>
        </p:spPr>
        <p:txBody>
          <a:bodyPr wrap="square" lIns="0" tIns="0" rIns="0" bIns="0" rtlCol="0" anchor="ctr"/>
          <a:lstStyle/>
          <a:p>
            <a:pPr algn="ctr" indent="0" marL="0">
              <a:buNone/>
            </a:pPr>
            <a:r>
              <a:rPr lang="en-US" sz="2400" b="1" dirty="0">
                <a:solidFill>
                  <a:srgbClr val="C6551A"/>
                </a:solidFill>
                <a:latin typeface="Calibri" pitchFamily="34" charset="0"/>
                <a:ea typeface="Calibri" pitchFamily="34" charset="-122"/>
                <a:cs typeface="Calibri" pitchFamily="34" charset="-120"/>
              </a:rPr>
              <a:t>↓</a:t>
            </a:r>
            <a:endParaRPr lang="en-US" sz="2400" dirty="0"/>
          </a:p>
        </p:txBody>
      </p:sp>
      <p:sp>
        <p:nvSpPr>
          <p:cNvPr id="23" name="Text 21"/>
          <p:cNvSpPr/>
          <p:nvPr/>
        </p:nvSpPr>
        <p:spPr>
          <a:xfrm>
            <a:off x="1161288" y="3136392"/>
            <a:ext cx="2423160" cy="713232"/>
          </a:xfrm>
          <a:prstGeom prst="rect">
            <a:avLst/>
          </a:prstGeom>
          <a:noFill/>
          <a:ln/>
        </p:spPr>
        <p:txBody>
          <a:bodyPr wrap="square" lIns="0" tIns="0" rIns="0" bIns="0" rtlCol="0" anchor="ctr"/>
          <a:lstStyle/>
          <a:p>
            <a:pPr indent="0" marL="0">
              <a:lnSpc>
                <a:spcPct val="100000"/>
              </a:lnSpc>
              <a:buNone/>
            </a:pPr>
            <a:r>
              <a:rPr lang="en-US" sz="1350" b="1" dirty="0">
                <a:solidFill>
                  <a:srgbClr val="C6551A"/>
                </a:solidFill>
                <a:latin typeface="Calibri" pitchFamily="34" charset="0"/>
                <a:ea typeface="Calibri" pitchFamily="34" charset="-122"/>
                <a:cs typeface="Calibri" pitchFamily="34" charset="-120"/>
              </a:rPr>
              <a:t>OP — Outflow to Poorer</a:t>
            </a:r>
            <a:endParaRPr lang="en-US" sz="1350" dirty="0"/>
          </a:p>
          <a:p>
            <a:pPr indent="0" marL="0">
              <a:lnSpc>
                <a:spcPct val="100000"/>
              </a:lnSpc>
              <a:buNone/>
            </a:pPr>
            <a:r>
              <a:rPr lang="en-US" sz="1200" dirty="0">
                <a:solidFill>
                  <a:srgbClr val="2A3547"/>
                </a:solidFill>
                <a:latin typeface="Calibri" pitchFamily="34" charset="0"/>
                <a:ea typeface="Calibri" pitchFamily="34" charset="-122"/>
                <a:cs typeface="Calibri" pitchFamily="34" charset="-120"/>
              </a:rPr>
              <a:t>leaving to a more-deprived decile</a:t>
            </a:r>
            <a:endParaRPr lang="en-US" sz="1350" dirty="0"/>
          </a:p>
        </p:txBody>
      </p:sp>
      <p:sp>
        <p:nvSpPr>
          <p:cNvPr id="24" name="Shape 22"/>
          <p:cNvSpPr/>
          <p:nvPr/>
        </p:nvSpPr>
        <p:spPr>
          <a:xfrm>
            <a:off x="8549640" y="2057400"/>
            <a:ext cx="3108960" cy="841248"/>
          </a:xfrm>
          <a:prstGeom prst="roundRect">
            <a:avLst>
              <a:gd name="adj" fmla="val 8696"/>
            </a:avLst>
          </a:prstGeom>
          <a:solidFill>
            <a:srgbClr val="DCE8F4"/>
          </a:solidFill>
          <a:ln/>
          <a:effectLst>
            <a:outerShdw sx="100000" sy="100000" kx="0" ky="0" algn="bl" rotWithShape="0" blurRad="101600" dist="38100" dir="5400000">
              <a:srgbClr val="9AA6B8">
                <a:alpha val="28000"/>
              </a:srgbClr>
            </a:outerShdw>
          </a:effectLst>
        </p:spPr>
      </p:sp>
      <p:sp>
        <p:nvSpPr>
          <p:cNvPr id="25" name="Text 23"/>
          <p:cNvSpPr/>
          <p:nvPr/>
        </p:nvSpPr>
        <p:spPr>
          <a:xfrm>
            <a:off x="8659368" y="2057400"/>
            <a:ext cx="457200" cy="841248"/>
          </a:xfrm>
          <a:prstGeom prst="rect">
            <a:avLst/>
          </a:prstGeom>
          <a:noFill/>
          <a:ln/>
        </p:spPr>
        <p:txBody>
          <a:bodyPr wrap="square" lIns="0" tIns="0" rIns="0" bIns="0" rtlCol="0" anchor="ctr"/>
          <a:lstStyle/>
          <a:p>
            <a:pPr algn="ctr" indent="0" marL="0">
              <a:buNone/>
            </a:pPr>
            <a:r>
              <a:rPr lang="en-US" sz="2400" b="1" dirty="0">
                <a:solidFill>
                  <a:srgbClr val="245C99"/>
                </a:solidFill>
                <a:latin typeface="Calibri" pitchFamily="34" charset="0"/>
                <a:ea typeface="Calibri" pitchFamily="34" charset="-122"/>
                <a:cs typeface="Calibri" pitchFamily="34" charset="-120"/>
              </a:rPr>
              <a:t>↗</a:t>
            </a:r>
            <a:endParaRPr lang="en-US" sz="2400" dirty="0"/>
          </a:p>
        </p:txBody>
      </p:sp>
      <p:sp>
        <p:nvSpPr>
          <p:cNvPr id="26" name="Text 24"/>
          <p:cNvSpPr/>
          <p:nvPr/>
        </p:nvSpPr>
        <p:spPr>
          <a:xfrm>
            <a:off x="9116568" y="2130552"/>
            <a:ext cx="2423160" cy="713232"/>
          </a:xfrm>
          <a:prstGeom prst="rect">
            <a:avLst/>
          </a:prstGeom>
          <a:noFill/>
          <a:ln/>
        </p:spPr>
        <p:txBody>
          <a:bodyPr wrap="square" lIns="0" tIns="0" rIns="0" bIns="0" rtlCol="0" anchor="ctr"/>
          <a:lstStyle/>
          <a:p>
            <a:pPr indent="0" marL="0">
              <a:lnSpc>
                <a:spcPct val="100000"/>
              </a:lnSpc>
              <a:buNone/>
            </a:pPr>
            <a:r>
              <a:rPr lang="en-US" sz="1350" b="1" dirty="0">
                <a:solidFill>
                  <a:srgbClr val="245C99"/>
                </a:solidFill>
                <a:latin typeface="Calibri" pitchFamily="34" charset="0"/>
                <a:ea typeface="Calibri" pitchFamily="34" charset="-122"/>
                <a:cs typeface="Calibri" pitchFamily="34" charset="-120"/>
              </a:rPr>
              <a:t>OW — Outflow to Wealthier</a:t>
            </a:r>
            <a:endParaRPr lang="en-US" sz="1350" dirty="0"/>
          </a:p>
          <a:p>
            <a:pPr indent="0" marL="0">
              <a:lnSpc>
                <a:spcPct val="100000"/>
              </a:lnSpc>
              <a:buNone/>
            </a:pPr>
            <a:r>
              <a:rPr lang="en-US" sz="1200" dirty="0">
                <a:solidFill>
                  <a:srgbClr val="2A3547"/>
                </a:solidFill>
                <a:latin typeface="Calibri" pitchFamily="34" charset="0"/>
                <a:ea typeface="Calibri" pitchFamily="34" charset="-122"/>
                <a:cs typeface="Calibri" pitchFamily="34" charset="-120"/>
              </a:rPr>
              <a:t>leaving to a less-deprived decile</a:t>
            </a:r>
            <a:endParaRPr lang="en-US" sz="1350" dirty="0"/>
          </a:p>
        </p:txBody>
      </p:sp>
      <p:sp>
        <p:nvSpPr>
          <p:cNvPr id="27" name="Shape 25"/>
          <p:cNvSpPr/>
          <p:nvPr/>
        </p:nvSpPr>
        <p:spPr>
          <a:xfrm>
            <a:off x="8549640" y="3063240"/>
            <a:ext cx="3108960" cy="841248"/>
          </a:xfrm>
          <a:prstGeom prst="roundRect">
            <a:avLst>
              <a:gd name="adj" fmla="val 8696"/>
            </a:avLst>
          </a:prstGeom>
          <a:solidFill>
            <a:srgbClr val="DCE8F4"/>
          </a:solidFill>
          <a:ln/>
          <a:effectLst>
            <a:outerShdw sx="100000" sy="100000" kx="0" ky="0" algn="bl" rotWithShape="0" blurRad="101600" dist="38100" dir="5400000">
              <a:srgbClr val="9AA6B8">
                <a:alpha val="28000"/>
              </a:srgbClr>
            </a:outerShdw>
          </a:effectLst>
        </p:spPr>
      </p:sp>
      <p:sp>
        <p:nvSpPr>
          <p:cNvPr id="28" name="Text 26"/>
          <p:cNvSpPr/>
          <p:nvPr/>
        </p:nvSpPr>
        <p:spPr>
          <a:xfrm>
            <a:off x="8659368" y="3063240"/>
            <a:ext cx="457200" cy="841248"/>
          </a:xfrm>
          <a:prstGeom prst="rect">
            <a:avLst/>
          </a:prstGeom>
          <a:noFill/>
          <a:ln/>
        </p:spPr>
        <p:txBody>
          <a:bodyPr wrap="square" lIns="0" tIns="0" rIns="0" bIns="0" rtlCol="0" anchor="ctr"/>
          <a:lstStyle/>
          <a:p>
            <a:pPr algn="ctr" indent="0" marL="0">
              <a:buNone/>
            </a:pPr>
            <a:r>
              <a:rPr lang="en-US" sz="2400" b="1" dirty="0">
                <a:solidFill>
                  <a:srgbClr val="245C99"/>
                </a:solidFill>
                <a:latin typeface="Calibri" pitchFamily="34" charset="0"/>
                <a:ea typeface="Calibri" pitchFamily="34" charset="-122"/>
                <a:cs typeface="Calibri" pitchFamily="34" charset="-120"/>
              </a:rPr>
              <a:t>↑</a:t>
            </a:r>
            <a:endParaRPr lang="en-US" sz="2400" dirty="0"/>
          </a:p>
        </p:txBody>
      </p:sp>
      <p:sp>
        <p:nvSpPr>
          <p:cNvPr id="29" name="Text 27"/>
          <p:cNvSpPr/>
          <p:nvPr/>
        </p:nvSpPr>
        <p:spPr>
          <a:xfrm>
            <a:off x="9116568" y="3136392"/>
            <a:ext cx="2423160" cy="713232"/>
          </a:xfrm>
          <a:prstGeom prst="rect">
            <a:avLst/>
          </a:prstGeom>
          <a:noFill/>
          <a:ln/>
        </p:spPr>
        <p:txBody>
          <a:bodyPr wrap="square" lIns="0" tIns="0" rIns="0" bIns="0" rtlCol="0" anchor="ctr"/>
          <a:lstStyle/>
          <a:p>
            <a:pPr indent="0" marL="0">
              <a:lnSpc>
                <a:spcPct val="100000"/>
              </a:lnSpc>
              <a:buNone/>
            </a:pPr>
            <a:r>
              <a:rPr lang="en-US" sz="1350" b="1" dirty="0">
                <a:solidFill>
                  <a:srgbClr val="245C99"/>
                </a:solidFill>
                <a:latin typeface="Calibri" pitchFamily="34" charset="0"/>
                <a:ea typeface="Calibri" pitchFamily="34" charset="-122"/>
                <a:cs typeface="Calibri" pitchFamily="34" charset="-120"/>
              </a:rPr>
              <a:t>IP — Inflow from Poorer</a:t>
            </a:r>
            <a:endParaRPr lang="en-US" sz="1350" dirty="0"/>
          </a:p>
          <a:p>
            <a:pPr indent="0" marL="0">
              <a:lnSpc>
                <a:spcPct val="100000"/>
              </a:lnSpc>
              <a:buNone/>
            </a:pPr>
            <a:r>
              <a:rPr lang="en-US" sz="1200" dirty="0">
                <a:solidFill>
                  <a:srgbClr val="2A3547"/>
                </a:solidFill>
                <a:latin typeface="Calibri" pitchFamily="34" charset="0"/>
                <a:ea typeface="Calibri" pitchFamily="34" charset="-122"/>
                <a:cs typeface="Calibri" pitchFamily="34" charset="-120"/>
              </a:rPr>
              <a:t>arriving from a more-deprived decile</a:t>
            </a:r>
            <a:endParaRPr lang="en-US" sz="1350" dirty="0"/>
          </a:p>
        </p:txBody>
      </p:sp>
      <p:sp>
        <p:nvSpPr>
          <p:cNvPr id="30" name="Shape 28"/>
          <p:cNvSpPr/>
          <p:nvPr/>
        </p:nvSpPr>
        <p:spPr>
          <a:xfrm>
            <a:off x="594360" y="4160520"/>
            <a:ext cx="3108960" cy="868680"/>
          </a:xfrm>
          <a:prstGeom prst="roundRect">
            <a:avLst>
              <a:gd name="adj" fmla="val 8421"/>
            </a:avLst>
          </a:prstGeom>
          <a:solidFill>
            <a:srgbClr val="C6551A"/>
          </a:solidFill>
          <a:ln/>
        </p:spPr>
      </p:sp>
      <p:sp>
        <p:nvSpPr>
          <p:cNvPr id="31" name="Text 29"/>
          <p:cNvSpPr/>
          <p:nvPr/>
        </p:nvSpPr>
        <p:spPr>
          <a:xfrm>
            <a:off x="777240" y="4160520"/>
            <a:ext cx="2743200" cy="868680"/>
          </a:xfrm>
          <a:prstGeom prst="rect">
            <a:avLst/>
          </a:prstGeom>
          <a:noFill/>
          <a:ln/>
        </p:spPr>
        <p:txBody>
          <a:bodyPr wrap="square" lIns="0" tIns="0" rIns="0" bIns="0" rtlCol="0" anchor="ctr"/>
          <a:lstStyle/>
          <a:p>
            <a:pPr algn="l" indent="0" marL="0">
              <a:lnSpc>
                <a:spcPct val="102000"/>
              </a:lnSpc>
              <a:buNone/>
            </a:pPr>
            <a:r>
              <a:rPr lang="en-US" sz="1500" b="1" dirty="0">
                <a:solidFill>
                  <a:srgbClr val="FFFFFF"/>
                </a:solidFill>
                <a:latin typeface="Calibri" pitchFamily="34" charset="0"/>
                <a:ea typeface="Calibri" pitchFamily="34" charset="-122"/>
                <a:cs typeface="Calibri" pitchFamily="34" charset="-120"/>
              </a:rPr>
              <a:t>CASCADE  =  IW + OP</a:t>
            </a:r>
            <a:endParaRPr lang="en-US" sz="1500" dirty="0"/>
          </a:p>
          <a:p>
            <a:pPr algn="l" indent="0" marL="0">
              <a:lnSpc>
                <a:spcPct val="102000"/>
              </a:lnSpc>
              <a:buNone/>
            </a:pPr>
            <a:r>
              <a:rPr lang="en-US" sz="1200" dirty="0">
                <a:solidFill>
                  <a:srgbClr val="FFFFFF"/>
                </a:solidFill>
                <a:latin typeface="Calibri" pitchFamily="34" charset="0"/>
                <a:ea typeface="Calibri" pitchFamily="34" charset="-122"/>
                <a:cs typeface="Calibri" pitchFamily="34" charset="-120"/>
              </a:rPr>
              <a:t>wealthier in, poorer out-and-down</a:t>
            </a:r>
            <a:endParaRPr lang="en-US" sz="1500" dirty="0"/>
          </a:p>
        </p:txBody>
      </p:sp>
      <p:sp>
        <p:nvSpPr>
          <p:cNvPr id="32" name="Shape 30"/>
          <p:cNvSpPr/>
          <p:nvPr/>
        </p:nvSpPr>
        <p:spPr>
          <a:xfrm>
            <a:off x="8549640" y="4160520"/>
            <a:ext cx="3108960" cy="868680"/>
          </a:xfrm>
          <a:prstGeom prst="roundRect">
            <a:avLst>
              <a:gd name="adj" fmla="val 8421"/>
            </a:avLst>
          </a:prstGeom>
          <a:solidFill>
            <a:srgbClr val="245C99"/>
          </a:solidFill>
          <a:ln/>
        </p:spPr>
      </p:sp>
      <p:sp>
        <p:nvSpPr>
          <p:cNvPr id="33" name="Text 31"/>
          <p:cNvSpPr/>
          <p:nvPr/>
        </p:nvSpPr>
        <p:spPr>
          <a:xfrm>
            <a:off x="8732520" y="4160520"/>
            <a:ext cx="2743200" cy="868680"/>
          </a:xfrm>
          <a:prstGeom prst="rect">
            <a:avLst/>
          </a:prstGeom>
          <a:noFill/>
          <a:ln/>
        </p:spPr>
        <p:txBody>
          <a:bodyPr wrap="square" lIns="0" tIns="0" rIns="0" bIns="0" rtlCol="0" anchor="ctr"/>
          <a:lstStyle/>
          <a:p>
            <a:pPr algn="l" indent="0" marL="0">
              <a:lnSpc>
                <a:spcPct val="102000"/>
              </a:lnSpc>
              <a:buNone/>
            </a:pPr>
            <a:r>
              <a:rPr lang="en-US" sz="1500" b="1" dirty="0">
                <a:solidFill>
                  <a:srgbClr val="FFFFFF"/>
                </a:solidFill>
                <a:latin typeface="Calibri" pitchFamily="34" charset="0"/>
                <a:ea typeface="Calibri" pitchFamily="34" charset="-122"/>
                <a:cs typeface="Calibri" pitchFamily="34" charset="-120"/>
              </a:rPr>
              <a:t>COUNTER-CASCADE  =  OW + IP</a:t>
            </a:r>
            <a:endParaRPr lang="en-US" sz="1500" dirty="0"/>
          </a:p>
          <a:p>
            <a:pPr algn="l" indent="0" marL="0">
              <a:lnSpc>
                <a:spcPct val="102000"/>
              </a:lnSpc>
              <a:buNone/>
            </a:pPr>
            <a:r>
              <a:rPr lang="en-US" sz="1200" dirty="0">
                <a:solidFill>
                  <a:srgbClr val="FFFFFF"/>
                </a:solidFill>
                <a:latin typeface="Calibri" pitchFamily="34" charset="0"/>
                <a:ea typeface="Calibri" pitchFamily="34" charset="-122"/>
                <a:cs typeface="Calibri" pitchFamily="34" charset="-120"/>
              </a:rPr>
              <a:t>the reverse direction</a:t>
            </a:r>
            <a:endParaRPr lang="en-US" sz="1500" dirty="0"/>
          </a:p>
        </p:txBody>
      </p:sp>
      <p:sp>
        <p:nvSpPr>
          <p:cNvPr id="34" name="Text 32"/>
          <p:cNvSpPr/>
          <p:nvPr/>
        </p:nvSpPr>
        <p:spPr>
          <a:xfrm>
            <a:off x="594360" y="5806440"/>
            <a:ext cx="11000232" cy="457200"/>
          </a:xfrm>
          <a:prstGeom prst="rect">
            <a:avLst/>
          </a:prstGeom>
          <a:noFill/>
          <a:ln/>
        </p:spPr>
        <p:txBody>
          <a:bodyPr wrap="square" lIns="0" tIns="0" rIns="0" bIns="0" rtlCol="0" anchor="ctr"/>
          <a:lstStyle/>
          <a:p>
            <a:pPr algn="ctr" indent="0" marL="0">
              <a:buNone/>
            </a:pPr>
            <a:r>
              <a:rPr lang="en-US" sz="1350" i="1" dirty="0">
                <a:solidFill>
                  <a:srgbClr val="6E7C90"/>
                </a:solidFill>
                <a:latin typeface="Calibri" pitchFamily="34" charset="0"/>
                <a:ea typeface="Calibri" pitchFamily="34" charset="-122"/>
                <a:cs typeface="Calibri" pitchFamily="34" charset="-120"/>
              </a:rPr>
              <a:t>These are area-to-area flows across the ladder — not statements about individual movers.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1000232" cy="292608"/>
          </a:xfrm>
          <a:prstGeom prst="rect">
            <a:avLst/>
          </a:prstGeom>
          <a:noFill/>
          <a:ln/>
        </p:spPr>
        <p:txBody>
          <a:bodyPr wrap="square" lIns="0" tIns="0" rIns="0" bIns="0" rtlCol="0" anchor="ctr"/>
          <a:lstStyle/>
          <a:p>
            <a:pPr indent="0" marL="0">
              <a:buNone/>
            </a:pPr>
            <a:r>
              <a:rPr lang="en-US" sz="1200" b="1" spc="200" kern="0" dirty="0">
                <a:solidFill>
                  <a:srgbClr val="6E7C90"/>
                </a:solidFill>
                <a:latin typeface="Calibri" pitchFamily="34" charset="0"/>
                <a:ea typeface="Calibri" pitchFamily="34" charset="-122"/>
                <a:cs typeface="Calibri" pitchFamily="34" charset="-120"/>
              </a:rPr>
              <a:t>METHODOLOGY · 3 OF 5</a:t>
            </a:r>
            <a:endParaRPr lang="en-US" sz="1200" dirty="0"/>
          </a:p>
        </p:txBody>
      </p:sp>
      <p:sp>
        <p:nvSpPr>
          <p:cNvPr id="3" name="Shape 1"/>
          <p:cNvSpPr/>
          <p:nvPr/>
        </p:nvSpPr>
        <p:spPr>
          <a:xfrm>
            <a:off x="11210544" y="365760"/>
            <a:ext cx="384048" cy="384048"/>
          </a:xfrm>
          <a:prstGeom prst="ellipse">
            <a:avLst/>
          </a:prstGeom>
          <a:solidFill>
            <a:srgbClr val="16233B"/>
          </a:solidFill>
          <a:ln/>
        </p:spPr>
      </p:sp>
      <p:sp>
        <p:nvSpPr>
          <p:cNvPr id="4" name="Text 2"/>
          <p:cNvSpPr/>
          <p:nvPr/>
        </p:nvSpPr>
        <p:spPr>
          <a:xfrm>
            <a:off x="11210544" y="365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5" name="Text 3"/>
          <p:cNvSpPr/>
          <p:nvPr/>
        </p:nvSpPr>
        <p:spPr>
          <a:xfrm>
            <a:off x="594360" y="749808"/>
            <a:ext cx="11000232" cy="822960"/>
          </a:xfrm>
          <a:prstGeom prst="rect">
            <a:avLst/>
          </a:prstGeom>
          <a:noFill/>
          <a:ln/>
        </p:spPr>
        <p:txBody>
          <a:bodyPr wrap="square" lIns="0" tIns="0" rIns="0" bIns="0" rtlCol="0" anchor="t"/>
          <a:lstStyle/>
          <a:p>
            <a:pPr algn="l" indent="0" marL="0">
              <a:lnSpc>
                <a:spcPct val="98000"/>
              </a:lnSpc>
              <a:buNone/>
            </a:pPr>
            <a:r>
              <a:rPr lang="en-US" sz="3200" b="1" dirty="0">
                <a:solidFill>
                  <a:srgbClr val="16233B"/>
                </a:solidFill>
                <a:latin typeface="Cambria" pitchFamily="34" charset="0"/>
                <a:ea typeface="Cambria" pitchFamily="34" charset="-122"/>
                <a:cs typeface="Cambria" pitchFamily="34" charset="-120"/>
              </a:rPr>
              <a:t>From flows to a typology: balance × intensity</a:t>
            </a:r>
            <a:endParaRPr lang="en-US" sz="3200" dirty="0"/>
          </a:p>
        </p:txBody>
      </p:sp>
      <p:sp>
        <p:nvSpPr>
          <p:cNvPr id="6" name="Shape 4"/>
          <p:cNvSpPr/>
          <p:nvPr/>
        </p:nvSpPr>
        <p:spPr>
          <a:xfrm>
            <a:off x="594360" y="1783080"/>
            <a:ext cx="5074920" cy="1234440"/>
          </a:xfrm>
          <a:prstGeom prst="roundRect">
            <a:avLst>
              <a:gd name="adj" fmla="val 6667"/>
            </a:avLst>
          </a:prstGeom>
          <a:solidFill>
            <a:srgbClr val="F3F6FB"/>
          </a:solidFill>
          <a:ln/>
          <a:effectLst>
            <a:outerShdw sx="100000" sy="100000" kx="0" ky="0" algn="bl" rotWithShape="0" blurRad="101600" dist="38100" dir="5400000">
              <a:srgbClr val="9AA6B8">
                <a:alpha val="28000"/>
              </a:srgbClr>
            </a:outerShdw>
          </a:effectLst>
        </p:spPr>
      </p:sp>
      <p:sp>
        <p:nvSpPr>
          <p:cNvPr id="7" name="Text 5"/>
          <p:cNvSpPr/>
          <p:nvPr/>
        </p:nvSpPr>
        <p:spPr>
          <a:xfrm>
            <a:off x="822960" y="1901952"/>
            <a:ext cx="4617720" cy="1005840"/>
          </a:xfrm>
          <a:prstGeom prst="rect">
            <a:avLst/>
          </a:prstGeom>
          <a:noFill/>
          <a:ln/>
        </p:spPr>
        <p:txBody>
          <a:bodyPr wrap="square" lIns="0" tIns="0" rIns="0" bIns="0" rtlCol="0" anchor="ctr"/>
          <a:lstStyle/>
          <a:p>
            <a:pPr indent="0" marL="0">
              <a:lnSpc>
                <a:spcPct val="105000"/>
              </a:lnSpc>
              <a:spcAft>
                <a:spcPts val="300"/>
              </a:spcAft>
              <a:buNone/>
            </a:pPr>
            <a:r>
              <a:rPr lang="en-US" sz="1450" b="1" dirty="0">
                <a:solidFill>
                  <a:srgbClr val="16233B"/>
                </a:solidFill>
                <a:latin typeface="Calibri" pitchFamily="34" charset="0"/>
                <a:ea typeface="Calibri" pitchFamily="34" charset="-122"/>
                <a:cs typeface="Calibri" pitchFamily="34" charset="-120"/>
              </a:rPr>
              <a:t>NET  (subtraction) → balance</a:t>
            </a:r>
            <a:endParaRPr lang="en-US" sz="1450" dirty="0"/>
          </a:p>
          <a:p>
            <a:pPr indent="0" marL="0">
              <a:lnSpc>
                <a:spcPct val="105000"/>
              </a:lnSpc>
              <a:spcAft>
                <a:spcPts val="300"/>
              </a:spcAft>
              <a:buNone/>
            </a:pPr>
            <a:r>
              <a:rPr lang="en-US" sz="1400" b="1" dirty="0">
                <a:solidFill>
                  <a:srgbClr val="C6551A"/>
                </a:solidFill>
                <a:latin typeface="Calibri" pitchFamily="34" charset="0"/>
                <a:ea typeface="Calibri" pitchFamily="34" charset="-122"/>
                <a:cs typeface="Calibri" pitchFamily="34" charset="-120"/>
              </a:rPr>
              <a:t>Net_Cascade = IW − OP</a:t>
            </a:r>
            <a:endParaRPr lang="en-US" sz="1450" dirty="0"/>
          </a:p>
          <a:p>
            <a:pPr indent="0" marL="0">
              <a:lnSpc>
                <a:spcPct val="105000"/>
              </a:lnSpc>
              <a:spcAft>
                <a:spcPts val="300"/>
              </a:spcAft>
              <a:buNone/>
            </a:pPr>
            <a:r>
              <a:rPr lang="en-US" sz="1200" dirty="0">
                <a:solidFill>
                  <a:srgbClr val="6E7C90"/>
                </a:solidFill>
                <a:latin typeface="Calibri" pitchFamily="34" charset="0"/>
                <a:ea typeface="Calibri" pitchFamily="34" charset="-122"/>
                <a:cs typeface="Calibri" pitchFamily="34" charset="-120"/>
              </a:rPr>
              <a:t>which direction wins</a:t>
            </a:r>
            <a:endParaRPr lang="en-US" sz="1450" dirty="0"/>
          </a:p>
        </p:txBody>
      </p:sp>
      <p:sp>
        <p:nvSpPr>
          <p:cNvPr id="8" name="Shape 6"/>
          <p:cNvSpPr/>
          <p:nvPr/>
        </p:nvSpPr>
        <p:spPr>
          <a:xfrm>
            <a:off x="6492240" y="1783080"/>
            <a:ext cx="5074920" cy="1234440"/>
          </a:xfrm>
          <a:prstGeom prst="roundRect">
            <a:avLst>
              <a:gd name="adj" fmla="val 6667"/>
            </a:avLst>
          </a:prstGeom>
          <a:solidFill>
            <a:srgbClr val="F3F6FB"/>
          </a:solidFill>
          <a:ln/>
          <a:effectLst>
            <a:outerShdw sx="100000" sy="100000" kx="0" ky="0" algn="bl" rotWithShape="0" blurRad="101600" dist="38100" dir="5400000">
              <a:srgbClr val="9AA6B8">
                <a:alpha val="28000"/>
              </a:srgbClr>
            </a:outerShdw>
          </a:effectLst>
        </p:spPr>
      </p:sp>
      <p:sp>
        <p:nvSpPr>
          <p:cNvPr id="9" name="Text 7"/>
          <p:cNvSpPr/>
          <p:nvPr/>
        </p:nvSpPr>
        <p:spPr>
          <a:xfrm>
            <a:off x="6720840" y="1901952"/>
            <a:ext cx="4617720" cy="1005840"/>
          </a:xfrm>
          <a:prstGeom prst="rect">
            <a:avLst/>
          </a:prstGeom>
          <a:noFill/>
          <a:ln/>
        </p:spPr>
        <p:txBody>
          <a:bodyPr wrap="square" lIns="0" tIns="0" rIns="0" bIns="0" rtlCol="0" anchor="ctr"/>
          <a:lstStyle/>
          <a:p>
            <a:pPr indent="0" marL="0">
              <a:lnSpc>
                <a:spcPct val="105000"/>
              </a:lnSpc>
              <a:spcAft>
                <a:spcPts val="300"/>
              </a:spcAft>
              <a:buNone/>
            </a:pPr>
            <a:r>
              <a:rPr lang="en-US" sz="1450" b="1" dirty="0">
                <a:solidFill>
                  <a:srgbClr val="16233B"/>
                </a:solidFill>
                <a:latin typeface="Calibri" pitchFamily="34" charset="0"/>
                <a:ea typeface="Calibri" pitchFamily="34" charset="-122"/>
                <a:cs typeface="Calibri" pitchFamily="34" charset="-120"/>
              </a:rPr>
              <a:t>CHURN  (addition) → intensity</a:t>
            </a:r>
            <a:endParaRPr lang="en-US" sz="1450" dirty="0"/>
          </a:p>
          <a:p>
            <a:pPr indent="0" marL="0">
              <a:lnSpc>
                <a:spcPct val="105000"/>
              </a:lnSpc>
              <a:spcAft>
                <a:spcPts val="300"/>
              </a:spcAft>
              <a:buNone/>
            </a:pPr>
            <a:r>
              <a:rPr lang="en-US" sz="1400" b="1" dirty="0">
                <a:solidFill>
                  <a:srgbClr val="C6551A"/>
                </a:solidFill>
                <a:latin typeface="Calibri" pitchFamily="34" charset="0"/>
                <a:ea typeface="Calibri" pitchFamily="34" charset="-122"/>
                <a:cs typeface="Calibri" pitchFamily="34" charset="-120"/>
              </a:rPr>
              <a:t>CFI_Churn = IW + OP</a:t>
            </a:r>
            <a:endParaRPr lang="en-US" sz="1450" dirty="0"/>
          </a:p>
          <a:p>
            <a:pPr indent="0" marL="0">
              <a:lnSpc>
                <a:spcPct val="105000"/>
              </a:lnSpc>
              <a:spcAft>
                <a:spcPts val="300"/>
              </a:spcAft>
              <a:buNone/>
            </a:pPr>
            <a:r>
              <a:rPr lang="en-US" sz="1200" dirty="0">
                <a:solidFill>
                  <a:srgbClr val="6E7C90"/>
                </a:solidFill>
                <a:latin typeface="Calibri" pitchFamily="34" charset="0"/>
                <a:ea typeface="Calibri" pitchFamily="34" charset="-122"/>
                <a:cs typeface="Calibri" pitchFamily="34" charset="-120"/>
              </a:rPr>
              <a:t>volume of reshuffling — after Dennett &amp; Stillwell (2008)</a:t>
            </a:r>
            <a:endParaRPr lang="en-US" sz="1450" dirty="0"/>
          </a:p>
        </p:txBody>
      </p:sp>
      <p:sp>
        <p:nvSpPr>
          <p:cNvPr id="10" name="Text 8"/>
          <p:cNvSpPr/>
          <p:nvPr/>
        </p:nvSpPr>
        <p:spPr>
          <a:xfrm>
            <a:off x="594360" y="3200400"/>
            <a:ext cx="11000232" cy="502920"/>
          </a:xfrm>
          <a:prstGeom prst="rect">
            <a:avLst/>
          </a:prstGeom>
          <a:noFill/>
          <a:ln/>
        </p:spPr>
        <p:txBody>
          <a:bodyPr wrap="square" lIns="0" tIns="0" rIns="0" bIns="0" rtlCol="0" anchor="ctr"/>
          <a:lstStyle/>
          <a:p>
            <a:pPr indent="0" marL="0">
              <a:lnSpc>
                <a:spcPct val="105000"/>
              </a:lnSpc>
              <a:buNone/>
            </a:pPr>
            <a:r>
              <a:rPr lang="en-US" sz="1350" dirty="0">
                <a:solidFill>
                  <a:srgbClr val="2A3547"/>
                </a:solidFill>
                <a:latin typeface="Calibri" pitchFamily="34" charset="0"/>
                <a:ea typeface="Calibri" pitchFamily="34" charset="-122"/>
                <a:cs typeface="Calibri" pitchFamily="34" charset="-120"/>
              </a:rPr>
              <a:t>Two axes build the typology:   </a:t>
            </a:r>
            <a:pPr indent="0" marL="0">
              <a:lnSpc>
                <a:spcPct val="105000"/>
              </a:lnSpc>
              <a:buNone/>
            </a:pPr>
            <a:r>
              <a:rPr lang="en-US" sz="1350" b="1" dirty="0">
                <a:solidFill>
                  <a:srgbClr val="16233B"/>
                </a:solidFill>
                <a:latin typeface="Calibri" pitchFamily="34" charset="0"/>
                <a:ea typeface="Calibri" pitchFamily="34" charset="-122"/>
                <a:cs typeface="Calibri" pitchFamily="34" charset="-120"/>
              </a:rPr>
              <a:t>Cascade Dominance</a:t>
            </a:r>
            <a:pPr indent="0" marL="0">
              <a:lnSpc>
                <a:spcPct val="105000"/>
              </a:lnSpc>
              <a:buNone/>
            </a:pPr>
            <a:r>
              <a:rPr lang="en-US" sz="1350" dirty="0">
                <a:solidFill>
                  <a:srgbClr val="2A3547"/>
                </a:solidFill>
                <a:latin typeface="Calibri" pitchFamily="34" charset="0"/>
                <a:ea typeface="Calibri" pitchFamily="34" charset="-122"/>
                <a:cs typeface="Calibri" pitchFamily="34" charset="-120"/>
              </a:rPr>
              <a:t> = churn_cascade ⁄ (churn_cascade + churn_counter)  ·  </a:t>
            </a:r>
            <a:pPr indent="0" marL="0">
              <a:lnSpc>
                <a:spcPct val="105000"/>
              </a:lnSpc>
              <a:buNone/>
            </a:pPr>
            <a:r>
              <a:rPr lang="en-US" sz="1350" b="1" dirty="0">
                <a:solidFill>
                  <a:srgbClr val="16233B"/>
                </a:solidFill>
                <a:latin typeface="Calibri" pitchFamily="34" charset="0"/>
                <a:ea typeface="Calibri" pitchFamily="34" charset="-122"/>
                <a:cs typeface="Calibri" pitchFamily="34" charset="-120"/>
              </a:rPr>
              <a:t>Cross-Decile Share</a:t>
            </a:r>
            <a:pPr indent="0" marL="0">
              <a:lnSpc>
                <a:spcPct val="105000"/>
              </a:lnSpc>
              <a:buNone/>
            </a:pPr>
            <a:r>
              <a:rPr lang="en-US" sz="1350" dirty="0">
                <a:solidFill>
                  <a:srgbClr val="2A3547"/>
                </a:solidFill>
                <a:latin typeface="Calibri" pitchFamily="34" charset="0"/>
                <a:ea typeface="Calibri" pitchFamily="34" charset="-122"/>
                <a:cs typeface="Calibri" pitchFamily="34" charset="-120"/>
              </a:rPr>
              <a:t> = how much churn crosses the hierarchy at all.</a:t>
            </a:r>
            <a:endParaRPr lang="en-US" sz="1350" dirty="0"/>
          </a:p>
        </p:txBody>
      </p:sp>
      <p:sp>
        <p:nvSpPr>
          <p:cNvPr id="11" name="Shape 9"/>
          <p:cNvSpPr/>
          <p:nvPr/>
        </p:nvSpPr>
        <p:spPr>
          <a:xfrm>
            <a:off x="594360" y="3886200"/>
            <a:ext cx="3544824" cy="1417320"/>
          </a:xfrm>
          <a:prstGeom prst="roundRect">
            <a:avLst>
              <a:gd name="adj" fmla="val 5161"/>
            </a:avLst>
          </a:prstGeom>
          <a:solidFill>
            <a:srgbClr val="245C99"/>
          </a:solidFill>
          <a:ln/>
          <a:effectLst>
            <a:outerShdw sx="100000" sy="100000" kx="0" ky="0" algn="bl" rotWithShape="0" blurRad="101600" dist="38100" dir="5400000">
              <a:srgbClr val="9AA6B8">
                <a:alpha val="28000"/>
              </a:srgbClr>
            </a:outerShdw>
          </a:effectLst>
        </p:spPr>
      </p:sp>
      <p:sp>
        <p:nvSpPr>
          <p:cNvPr id="12" name="Text 10"/>
          <p:cNvSpPr/>
          <p:nvPr/>
        </p:nvSpPr>
        <p:spPr>
          <a:xfrm>
            <a:off x="594360" y="3886200"/>
            <a:ext cx="3544824" cy="1417320"/>
          </a:xfrm>
          <a:prstGeom prst="rect">
            <a:avLst/>
          </a:prstGeom>
          <a:noFill/>
          <a:ln/>
        </p:spPr>
        <p:txBody>
          <a:bodyPr wrap="square" lIns="0" tIns="0" rIns="0" bIns="0" rtlCol="0" anchor="ctr"/>
          <a:lstStyle/>
          <a:p>
            <a:pPr algn="ctr" indent="0" marL="0">
              <a:lnSpc>
                <a:spcPct val="110000"/>
              </a:lnSpc>
              <a:buNone/>
            </a:pPr>
            <a:r>
              <a:rPr lang="en-US" sz="1700" b="1" dirty="0">
                <a:solidFill>
                  <a:srgbClr val="FFFFFF"/>
                </a:solidFill>
                <a:latin typeface="Calibri" pitchFamily="34" charset="0"/>
                <a:ea typeface="Calibri" pitchFamily="34" charset="-122"/>
                <a:cs typeface="Calibri" pitchFamily="34" charset="-120"/>
              </a:rPr>
              <a:t>Counter-led</a:t>
            </a:r>
            <a:endParaRPr lang="en-US" sz="1700" dirty="0"/>
          </a:p>
          <a:p>
            <a:pPr algn="ctr" indent="0" marL="0">
              <a:lnSpc>
                <a:spcPct val="110000"/>
              </a:lnSpc>
              <a:buNone/>
            </a:pPr>
            <a:r>
              <a:rPr lang="en-US" sz="1250" dirty="0">
                <a:solidFill>
                  <a:srgbClr val="F0F4FA"/>
                </a:solidFill>
                <a:latin typeface="Calibri" pitchFamily="34" charset="0"/>
                <a:ea typeface="Calibri" pitchFamily="34" charset="-122"/>
                <a:cs typeface="Calibri" pitchFamily="34" charset="-120"/>
              </a:rPr>
              <a:t>Dominance &lt; 0.48</a:t>
            </a:r>
            <a:endParaRPr lang="en-US" sz="1700" dirty="0"/>
          </a:p>
        </p:txBody>
      </p:sp>
      <p:sp>
        <p:nvSpPr>
          <p:cNvPr id="13" name="Shape 11"/>
          <p:cNvSpPr/>
          <p:nvPr/>
        </p:nvSpPr>
        <p:spPr>
          <a:xfrm>
            <a:off x="4322064" y="3886200"/>
            <a:ext cx="3544824" cy="1417320"/>
          </a:xfrm>
          <a:prstGeom prst="roundRect">
            <a:avLst>
              <a:gd name="adj" fmla="val 5161"/>
            </a:avLst>
          </a:prstGeom>
          <a:solidFill>
            <a:srgbClr val="C3CAD5"/>
          </a:solidFill>
          <a:ln/>
          <a:effectLst>
            <a:outerShdw sx="100000" sy="100000" kx="0" ky="0" algn="bl" rotWithShape="0" blurRad="101600" dist="38100" dir="5400000">
              <a:srgbClr val="9AA6B8">
                <a:alpha val="28000"/>
              </a:srgbClr>
            </a:outerShdw>
          </a:effectLst>
        </p:spPr>
      </p:sp>
      <p:sp>
        <p:nvSpPr>
          <p:cNvPr id="14" name="Text 12"/>
          <p:cNvSpPr/>
          <p:nvPr/>
        </p:nvSpPr>
        <p:spPr>
          <a:xfrm>
            <a:off x="4322064" y="3886200"/>
            <a:ext cx="3544824" cy="1417320"/>
          </a:xfrm>
          <a:prstGeom prst="rect">
            <a:avLst/>
          </a:prstGeom>
          <a:noFill/>
          <a:ln/>
        </p:spPr>
        <p:txBody>
          <a:bodyPr wrap="square" lIns="0" tIns="0" rIns="0" bIns="0" rtlCol="0" anchor="ctr"/>
          <a:lstStyle/>
          <a:p>
            <a:pPr algn="ctr" indent="0" marL="0">
              <a:lnSpc>
                <a:spcPct val="110000"/>
              </a:lnSpc>
              <a:buNone/>
            </a:pPr>
            <a:r>
              <a:rPr lang="en-US" sz="1700" b="1" dirty="0">
                <a:solidFill>
                  <a:srgbClr val="16233B"/>
                </a:solidFill>
                <a:latin typeface="Calibri" pitchFamily="34" charset="0"/>
                <a:ea typeface="Calibri" pitchFamily="34" charset="-122"/>
                <a:cs typeface="Calibri" pitchFamily="34" charset="-120"/>
              </a:rPr>
              <a:t>Symmetric</a:t>
            </a:r>
            <a:endParaRPr lang="en-US" sz="1700" dirty="0"/>
          </a:p>
          <a:p>
            <a:pPr algn="ctr" indent="0" marL="0">
              <a:lnSpc>
                <a:spcPct val="110000"/>
              </a:lnSpc>
              <a:buNone/>
            </a:pPr>
            <a:r>
              <a:rPr lang="en-US" sz="1250" dirty="0">
                <a:solidFill>
                  <a:srgbClr val="55606F"/>
                </a:solidFill>
                <a:latin typeface="Calibri" pitchFamily="34" charset="0"/>
                <a:ea typeface="Calibri" pitchFamily="34" charset="-122"/>
                <a:cs typeface="Calibri" pitchFamily="34" charset="-120"/>
              </a:rPr>
              <a:t>0.48 – 0.52</a:t>
            </a:r>
            <a:endParaRPr lang="en-US" sz="1700" dirty="0"/>
          </a:p>
        </p:txBody>
      </p:sp>
      <p:sp>
        <p:nvSpPr>
          <p:cNvPr id="15" name="Shape 13"/>
          <p:cNvSpPr/>
          <p:nvPr/>
        </p:nvSpPr>
        <p:spPr>
          <a:xfrm>
            <a:off x="8049768" y="3886200"/>
            <a:ext cx="3544824" cy="1417320"/>
          </a:xfrm>
          <a:prstGeom prst="roundRect">
            <a:avLst>
              <a:gd name="adj" fmla="val 5161"/>
            </a:avLst>
          </a:prstGeom>
          <a:solidFill>
            <a:srgbClr val="C6551A"/>
          </a:solidFill>
          <a:ln/>
          <a:effectLst>
            <a:outerShdw sx="100000" sy="100000" kx="0" ky="0" algn="bl" rotWithShape="0" blurRad="101600" dist="38100" dir="5400000">
              <a:srgbClr val="9AA6B8">
                <a:alpha val="28000"/>
              </a:srgbClr>
            </a:outerShdw>
          </a:effectLst>
        </p:spPr>
      </p:sp>
      <p:sp>
        <p:nvSpPr>
          <p:cNvPr id="16" name="Text 14"/>
          <p:cNvSpPr/>
          <p:nvPr/>
        </p:nvSpPr>
        <p:spPr>
          <a:xfrm>
            <a:off x="8049768" y="3886200"/>
            <a:ext cx="3544824" cy="1417320"/>
          </a:xfrm>
          <a:prstGeom prst="rect">
            <a:avLst/>
          </a:prstGeom>
          <a:noFill/>
          <a:ln/>
        </p:spPr>
        <p:txBody>
          <a:bodyPr wrap="square" lIns="0" tIns="0" rIns="0" bIns="0" rtlCol="0" anchor="ctr"/>
          <a:lstStyle/>
          <a:p>
            <a:pPr algn="ctr" indent="0" marL="0">
              <a:lnSpc>
                <a:spcPct val="110000"/>
              </a:lnSpc>
              <a:buNone/>
            </a:pPr>
            <a:r>
              <a:rPr lang="en-US" sz="1700" b="1" dirty="0">
                <a:solidFill>
                  <a:srgbClr val="FFFFFF"/>
                </a:solidFill>
                <a:latin typeface="Calibri" pitchFamily="34" charset="0"/>
                <a:ea typeface="Calibri" pitchFamily="34" charset="-122"/>
                <a:cs typeface="Calibri" pitchFamily="34" charset="-120"/>
              </a:rPr>
              <a:t>Cascade-led</a:t>
            </a:r>
            <a:endParaRPr lang="en-US" sz="1700" dirty="0"/>
          </a:p>
          <a:p>
            <a:pPr algn="ctr" indent="0" marL="0">
              <a:lnSpc>
                <a:spcPct val="110000"/>
              </a:lnSpc>
              <a:buNone/>
            </a:pPr>
            <a:r>
              <a:rPr lang="en-US" sz="1250" dirty="0">
                <a:solidFill>
                  <a:srgbClr val="F0F4FA"/>
                </a:solidFill>
                <a:latin typeface="Calibri" pitchFamily="34" charset="0"/>
                <a:ea typeface="Calibri" pitchFamily="34" charset="-122"/>
                <a:cs typeface="Calibri" pitchFamily="34" charset="-120"/>
              </a:rPr>
              <a:t>Dominance &gt; 0.52</a:t>
            </a:r>
            <a:endParaRPr lang="en-US" sz="1700" dirty="0"/>
          </a:p>
        </p:txBody>
      </p:sp>
      <p:sp>
        <p:nvSpPr>
          <p:cNvPr id="17" name="Shape 15"/>
          <p:cNvSpPr/>
          <p:nvPr/>
        </p:nvSpPr>
        <p:spPr>
          <a:xfrm>
            <a:off x="594360" y="5468112"/>
            <a:ext cx="11000232" cy="658368"/>
          </a:xfrm>
          <a:prstGeom prst="roundRect">
            <a:avLst>
              <a:gd name="adj" fmla="val 11111"/>
            </a:avLst>
          </a:prstGeom>
          <a:solidFill>
            <a:srgbClr val="E7EDF6"/>
          </a:solidFill>
          <a:ln/>
        </p:spPr>
      </p:sp>
      <p:sp>
        <p:nvSpPr>
          <p:cNvPr id="18" name="Text 16"/>
          <p:cNvSpPr/>
          <p:nvPr/>
        </p:nvSpPr>
        <p:spPr>
          <a:xfrm>
            <a:off x="822960" y="5468112"/>
            <a:ext cx="10543032" cy="658368"/>
          </a:xfrm>
          <a:prstGeom prst="rect">
            <a:avLst/>
          </a:prstGeom>
          <a:noFill/>
          <a:ln/>
        </p:spPr>
        <p:txBody>
          <a:bodyPr wrap="square" lIns="0" tIns="0" rIns="0" bIns="0" rtlCol="0" anchor="ctr"/>
          <a:lstStyle/>
          <a:p>
            <a:pPr indent="0" marL="0">
              <a:buNone/>
            </a:pPr>
            <a:r>
              <a:rPr lang="en-US" sz="1400" b="1" dirty="0">
                <a:solidFill>
                  <a:srgbClr val="16233B"/>
                </a:solidFill>
                <a:latin typeface="Calibri" pitchFamily="34" charset="0"/>
                <a:ea typeface="Calibri" pitchFamily="34" charset="-122"/>
                <a:cs typeface="Calibri" pitchFamily="34" charset="-120"/>
              </a:rPr>
              <a:t>Lateral</a:t>
            </a:r>
            <a:pPr indent="0" marL="0">
              <a:buNone/>
            </a:pPr>
            <a:r>
              <a:rPr lang="en-US" sz="1400" dirty="0">
                <a:solidFill>
                  <a:srgbClr val="2A3547"/>
                </a:solidFill>
                <a:latin typeface="Calibri" pitchFamily="34" charset="0"/>
                <a:ea typeface="Calibri" pitchFamily="34" charset="-122"/>
                <a:cs typeface="Calibri" pitchFamily="34" charset="-120"/>
              </a:rPr>
              <a:t>  —  Cross-Decile Share below the 25th percentile: the neighbourhood barely engages the hierarchy at all.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1000232" cy="292608"/>
          </a:xfrm>
          <a:prstGeom prst="rect">
            <a:avLst/>
          </a:prstGeom>
          <a:noFill/>
          <a:ln/>
        </p:spPr>
        <p:txBody>
          <a:bodyPr wrap="square" lIns="0" tIns="0" rIns="0" bIns="0" rtlCol="0" anchor="ctr"/>
          <a:lstStyle/>
          <a:p>
            <a:pPr indent="0" marL="0">
              <a:buNone/>
            </a:pPr>
            <a:r>
              <a:rPr lang="en-US" sz="1200" b="1" spc="200" kern="0" dirty="0">
                <a:solidFill>
                  <a:srgbClr val="6E7C90"/>
                </a:solidFill>
                <a:latin typeface="Calibri" pitchFamily="34" charset="0"/>
                <a:ea typeface="Calibri" pitchFamily="34" charset="-122"/>
                <a:cs typeface="Calibri" pitchFamily="34" charset="-120"/>
              </a:rPr>
              <a:t>METHODOLOGY · 4 OF 5</a:t>
            </a:r>
            <a:endParaRPr lang="en-US" sz="1200" dirty="0"/>
          </a:p>
        </p:txBody>
      </p:sp>
      <p:sp>
        <p:nvSpPr>
          <p:cNvPr id="3" name="Shape 1"/>
          <p:cNvSpPr/>
          <p:nvPr/>
        </p:nvSpPr>
        <p:spPr>
          <a:xfrm>
            <a:off x="11210544" y="365760"/>
            <a:ext cx="384048" cy="384048"/>
          </a:xfrm>
          <a:prstGeom prst="ellipse">
            <a:avLst/>
          </a:prstGeom>
          <a:solidFill>
            <a:srgbClr val="16233B"/>
          </a:solidFill>
          <a:ln/>
        </p:spPr>
      </p:sp>
      <p:sp>
        <p:nvSpPr>
          <p:cNvPr id="4" name="Text 2"/>
          <p:cNvSpPr/>
          <p:nvPr/>
        </p:nvSpPr>
        <p:spPr>
          <a:xfrm>
            <a:off x="11210544" y="365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5" name="Text 3"/>
          <p:cNvSpPr/>
          <p:nvPr/>
        </p:nvSpPr>
        <p:spPr>
          <a:xfrm>
            <a:off x="594360" y="749808"/>
            <a:ext cx="11000232" cy="822960"/>
          </a:xfrm>
          <a:prstGeom prst="rect">
            <a:avLst/>
          </a:prstGeom>
          <a:noFill/>
          <a:ln/>
        </p:spPr>
        <p:txBody>
          <a:bodyPr wrap="square" lIns="0" tIns="0" rIns="0" bIns="0" rtlCol="0" anchor="t"/>
          <a:lstStyle/>
          <a:p>
            <a:pPr algn="l" indent="0" marL="0">
              <a:lnSpc>
                <a:spcPct val="98000"/>
              </a:lnSpc>
              <a:buNone/>
            </a:pPr>
            <a:r>
              <a:rPr lang="en-US" sz="3200" b="1" dirty="0">
                <a:solidFill>
                  <a:srgbClr val="16233B"/>
                </a:solidFill>
                <a:latin typeface="Cambria" pitchFamily="34" charset="0"/>
                <a:ea typeface="Cambria" pitchFamily="34" charset="-122"/>
                <a:cs typeface="Cambria" pitchFamily="34" charset="-120"/>
              </a:rPr>
              <a:t>Three frames — and why London-only is the core</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5852160" cy="914400"/>
        </p:xfrm>
        <a:graphic>
          <a:graphicData uri="http://schemas.openxmlformats.org/drawingml/2006/table">
            <a:tbl>
              <a:tblPr/>
              <a:tblGrid>
                <a:gridCol w="640080"/>
                <a:gridCol w="1965960"/>
                <a:gridCol w="1600200"/>
                <a:gridCol w="1645920"/>
              </a:tblGrid>
              <a:tr h="36576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Frame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6233B"/>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Flows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6233B"/>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Ladder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6233B"/>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6233B"/>
                    </a:solidFill>
                  </a:tcPr>
                </a:tc>
              </a:tr>
              <a:tr h="475488">
                <a:tc>
                  <a:txBody>
                    <a:bodyPr/>
                    <a:lstStyle/>
                    <a:p>
                      <a:pPr algn="l" indent="0" marL="0">
                        <a:buNone/>
                      </a:pPr>
                      <a:r>
                        <a:rPr lang="en-US" sz="1250" b="1" dirty="0">
                          <a:solidFill>
                            <a:srgbClr val="C6551A"/>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A3547"/>
                          </a:solidFill>
                          <a:latin typeface="Calibri" pitchFamily="34" charset="0"/>
                          <a:ea typeface="Calibri" pitchFamily="34" charset="-122"/>
                          <a:cs typeface="Calibri" pitchFamily="34" charset="-120"/>
                        </a:rPr>
                        <a:t>London-internal</a:t>
                      </a:r>
                      <a:endParaRPr lang="en-US" sz="12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A3547"/>
                          </a:solidFill>
                          <a:latin typeface="Calibri" pitchFamily="34" charset="0"/>
                          <a:ea typeface="Calibri" pitchFamily="34" charset="-122"/>
                          <a:cs typeface="Calibri" pitchFamily="34" charset="-120"/>
                        </a:rPr>
                        <a:t>London-relative</a:t>
                      </a:r>
                      <a:endParaRPr lang="en-US" sz="12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C6551A"/>
                          </a:solidFill>
                          <a:latin typeface="Calibri" pitchFamily="34" charset="0"/>
                          <a:ea typeface="Calibri" pitchFamily="34" charset="-122"/>
                          <a:cs typeface="Calibri" pitchFamily="34" charset="-120"/>
                        </a:rPr>
                        <a:t>CORE</a:t>
                      </a:r>
                      <a:endParaRPr lang="en-US" sz="12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FFFFFF"/>
                    </a:solidFill>
                  </a:tcPr>
                </a:tc>
              </a:tr>
              <a:tr h="475488">
                <a:tc>
                  <a:txBody>
                    <a:bodyPr/>
                    <a:lstStyle/>
                    <a:p>
                      <a:pPr algn="l" indent="0" marL="0">
                        <a:buNone/>
                      </a:pPr>
                      <a:r>
                        <a:rPr lang="en-US" sz="1250" b="1" dirty="0">
                          <a:solidFill>
                            <a:srgbClr val="2A3547"/>
                          </a:solidFill>
                          <a:latin typeface="Calibri" pitchFamily="34" charset="0"/>
                          <a:ea typeface="Calibri" pitchFamily="34" charset="-122"/>
                          <a:cs typeface="Calibri" pitchFamily="34" charset="-120"/>
                        </a:rPr>
                        <a:t>B</a:t>
                      </a:r>
                      <a:endParaRPr lang="en-US" sz="12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A3547"/>
                          </a:solidFill>
                          <a:latin typeface="Calibri" pitchFamily="34" charset="0"/>
                          <a:ea typeface="Calibri" pitchFamily="34" charset="-122"/>
                          <a:cs typeface="Calibri" pitchFamily="34" charset="-120"/>
                        </a:rPr>
                        <a:t>London-internal</a:t>
                      </a:r>
                      <a:endParaRPr lang="en-US" sz="12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A3547"/>
                          </a:solidFill>
                          <a:latin typeface="Calibri" pitchFamily="34" charset="0"/>
                          <a:ea typeface="Calibri" pitchFamily="34" charset="-122"/>
                          <a:cs typeface="Calibri" pitchFamily="34" charset="-120"/>
                        </a:rPr>
                        <a:t>National</a:t>
                      </a:r>
                      <a:endParaRPr lang="en-US" sz="12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A3547"/>
                          </a:solidFill>
                          <a:latin typeface="Calibri" pitchFamily="34" charset="0"/>
                          <a:ea typeface="Calibri" pitchFamily="34" charset="-122"/>
                          <a:cs typeface="Calibri" pitchFamily="34" charset="-120"/>
                        </a:rPr>
                        <a:t>isolates re-ranking</a:t>
                      </a:r>
                      <a:endParaRPr lang="en-US" sz="12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FFFFFF"/>
                    </a:solidFill>
                  </a:tcPr>
                </a:tc>
              </a:tr>
              <a:tr h="475488">
                <a:tc>
                  <a:txBody>
                    <a:bodyPr/>
                    <a:lstStyle/>
                    <a:p>
                      <a:pPr algn="l" indent="0" marL="0">
                        <a:buNone/>
                      </a:pPr>
                      <a:r>
                        <a:rPr lang="en-US" sz="1250" b="1" dirty="0">
                          <a:solidFill>
                            <a:srgbClr val="245C99"/>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A3547"/>
                          </a:solidFill>
                          <a:latin typeface="Calibri" pitchFamily="34" charset="0"/>
                          <a:ea typeface="Calibri" pitchFamily="34" charset="-122"/>
                          <a:cs typeface="Calibri" pitchFamily="34" charset="-120"/>
                        </a:rPr>
                        <a:t>London + external</a:t>
                      </a:r>
                      <a:endParaRPr lang="en-US" sz="12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A3547"/>
                          </a:solidFill>
                          <a:latin typeface="Calibri" pitchFamily="34" charset="0"/>
                          <a:ea typeface="Calibri" pitchFamily="34" charset="-122"/>
                          <a:cs typeface="Calibri" pitchFamily="34" charset="-120"/>
                        </a:rPr>
                        <a:t>National</a:t>
                      </a:r>
                      <a:endParaRPr lang="en-US" sz="12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245C99"/>
                          </a:solidFill>
                          <a:latin typeface="Calibri" pitchFamily="34" charset="0"/>
                          <a:ea typeface="Calibri" pitchFamily="34" charset="-122"/>
                          <a:cs typeface="Calibri" pitchFamily="34" charset="-120"/>
                        </a:rPr>
                        <a:t>complementary</a:t>
                      </a:r>
                      <a:endParaRPr lang="en-US" sz="12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FFFFFF"/>
                    </a:solidFill>
                  </a:tcPr>
                </a:tc>
              </a:tr>
            </a:tbl>
          </a:graphicData>
        </a:graphic>
      </p:graphicFrame>
      <p:sp>
        <p:nvSpPr>
          <p:cNvPr id="7" name="Text 4"/>
          <p:cNvSpPr/>
          <p:nvPr/>
        </p:nvSpPr>
        <p:spPr>
          <a:xfrm>
            <a:off x="594360" y="4160520"/>
            <a:ext cx="5852160" cy="822960"/>
          </a:xfrm>
          <a:prstGeom prst="rect">
            <a:avLst/>
          </a:prstGeom>
          <a:noFill/>
          <a:ln/>
        </p:spPr>
        <p:txBody>
          <a:bodyPr wrap="square" lIns="0" tIns="0" rIns="0" bIns="0" rtlCol="0" anchor="ctr"/>
          <a:lstStyle/>
          <a:p>
            <a:pPr indent="0" marL="0">
              <a:lnSpc>
                <a:spcPct val="125000"/>
              </a:lnSpc>
              <a:buNone/>
            </a:pPr>
            <a:r>
              <a:rPr lang="en-US" sz="1350" b="1" dirty="0">
                <a:solidFill>
                  <a:srgbClr val="16233B"/>
                </a:solidFill>
                <a:latin typeface="Calibri" pitchFamily="34" charset="0"/>
                <a:ea typeface="Calibri" pitchFamily="34" charset="-122"/>
                <a:cs typeface="Calibri" pitchFamily="34" charset="-120"/>
              </a:rPr>
              <a:t>Reclassification = B − A</a:t>
            </a:r>
            <a:pPr indent="0" marL="0">
              <a:lnSpc>
                <a:spcPct val="125000"/>
              </a:lnSpc>
              <a:buNone/>
            </a:pPr>
            <a:r>
              <a:rPr lang="en-US" sz="1350" dirty="0">
                <a:solidFill>
                  <a:srgbClr val="6E7C90"/>
                </a:solidFill>
                <a:latin typeface="Calibri" pitchFamily="34" charset="0"/>
                <a:ea typeface="Calibri" pitchFamily="34" charset="-122"/>
                <a:cs typeface="Calibri" pitchFamily="34" charset="-120"/>
              </a:rPr>
              <a:t>   (same flows, new ladder)</a:t>
            </a:r>
            <a:pPr indent="0" marL="0">
              <a:lnSpc>
                <a:spcPct val="125000"/>
              </a:lnSpc>
              <a:buNone/>
            </a:pPr>
            <a:endParaRPr lang="en-US" sz="1350" dirty="0"/>
          </a:p>
          <a:p>
            <a:pPr indent="0" marL="0">
              <a:lnSpc>
                <a:spcPct val="125000"/>
              </a:lnSpc>
              <a:buNone/>
            </a:pPr>
            <a:r>
              <a:rPr lang="en-US" sz="1350" b="1" dirty="0">
                <a:solidFill>
                  <a:srgbClr val="16233B"/>
                </a:solidFill>
                <a:latin typeface="Calibri" pitchFamily="34" charset="0"/>
                <a:ea typeface="Calibri" pitchFamily="34" charset="-122"/>
                <a:cs typeface="Calibri" pitchFamily="34" charset="-120"/>
              </a:rPr>
              <a:t>External flows = C − B</a:t>
            </a:r>
            <a:endParaRPr lang="en-US" sz="1350" dirty="0"/>
          </a:p>
          <a:p>
            <a:pPr indent="0" marL="0">
              <a:lnSpc>
                <a:spcPct val="125000"/>
              </a:lnSpc>
              <a:buNone/>
            </a:pPr>
            <a:r>
              <a:rPr lang="en-US" sz="1350" dirty="0">
                <a:solidFill>
                  <a:srgbClr val="6E7C90"/>
                </a:solidFill>
                <a:latin typeface="Calibri" pitchFamily="34" charset="0"/>
                <a:ea typeface="Calibri" pitchFamily="34" charset="-122"/>
                <a:cs typeface="Calibri" pitchFamily="34" charset="-120"/>
              </a:rPr>
              <a:t>   (same ladder, added flows)</a:t>
            </a:r>
            <a:endParaRPr lang="en-US" sz="1350" dirty="0"/>
          </a:p>
        </p:txBody>
      </p:sp>
      <p:sp>
        <p:nvSpPr>
          <p:cNvPr id="8" name="Text 5"/>
          <p:cNvSpPr/>
          <p:nvPr/>
        </p:nvSpPr>
        <p:spPr>
          <a:xfrm>
            <a:off x="594360" y="5120640"/>
            <a:ext cx="5852160" cy="1005840"/>
          </a:xfrm>
          <a:prstGeom prst="rect">
            <a:avLst/>
          </a:prstGeom>
          <a:noFill/>
          <a:ln/>
        </p:spPr>
        <p:txBody>
          <a:bodyPr wrap="square" lIns="0" tIns="0" rIns="0" bIns="0" rtlCol="0" anchor="ctr"/>
          <a:lstStyle/>
          <a:p>
            <a:pPr indent="0" marL="0">
              <a:lnSpc>
                <a:spcPct val="108000"/>
              </a:lnSpc>
              <a:buNone/>
            </a:pPr>
            <a:r>
              <a:rPr lang="en-US" sz="1350" b="1" dirty="0">
                <a:solidFill>
                  <a:srgbClr val="16233B"/>
                </a:solidFill>
                <a:latin typeface="Calibri" pitchFamily="34" charset="0"/>
                <a:ea typeface="Calibri" pitchFamily="34" charset="-122"/>
                <a:cs typeface="Calibri" pitchFamily="34" charset="-120"/>
              </a:rPr>
              <a:t>~69% of London sits below national D6</a:t>
            </a:r>
            <a:pPr indent="0" marL="0">
              <a:lnSpc>
                <a:spcPct val="108000"/>
              </a:lnSpc>
              <a:buNone/>
            </a:pPr>
            <a:r>
              <a:rPr lang="en-US" sz="1350" dirty="0">
                <a:solidFill>
                  <a:srgbClr val="2A3547"/>
                </a:solidFill>
                <a:latin typeface="Calibri" pitchFamily="34" charset="0"/>
                <a:ea typeface="Calibri" pitchFamily="34" charset="-122"/>
                <a:cs typeface="Calibri" pitchFamily="34" charset="-120"/>
              </a:rPr>
              <a:t> — the national ladder compresses most of London into one band, so A stays the faithful gentrification lens.</a:t>
            </a:r>
            <a:endParaRPr lang="en-US" sz="1350" dirty="0"/>
          </a:p>
        </p:txBody>
      </p:sp>
      <p:pic>
        <p:nvPicPr>
          <p:cNvPr id="9" name="Image 0" descr="img/fig20b.png">    </p:cNvPr>
          <p:cNvPicPr>
            <a:picLocks noChangeAspect="1"/>
          </p:cNvPicPr>
          <p:nvPr/>
        </p:nvPicPr>
        <p:blipFill>
          <a:blip r:embed="rId1"/>
          <a:stretch>
            <a:fillRect/>
          </a:stretch>
        </p:blipFill>
        <p:spPr>
          <a:xfrm>
            <a:off x="6355080" y="1965960"/>
            <a:ext cx="5486400" cy="2108727"/>
          </a:xfrm>
          <a:prstGeom prst="rect">
            <a:avLst/>
          </a:prstGeom>
        </p:spPr>
      </p:pic>
      <p:sp>
        <p:nvSpPr>
          <p:cNvPr id="10" name="Text 6"/>
          <p:cNvSpPr/>
          <p:nvPr/>
        </p:nvSpPr>
        <p:spPr>
          <a:xfrm>
            <a:off x="6355080" y="4184415"/>
            <a:ext cx="5486400" cy="777240"/>
          </a:xfrm>
          <a:prstGeom prst="rect">
            <a:avLst/>
          </a:prstGeom>
          <a:noFill/>
          <a:ln/>
        </p:spPr>
        <p:txBody>
          <a:bodyPr wrap="square" lIns="0" tIns="0" rIns="0" bIns="0" rtlCol="0" anchor="ctr"/>
          <a:lstStyle/>
          <a:p>
            <a:pPr indent="0" marL="0">
              <a:lnSpc>
                <a:spcPct val="105000"/>
              </a:lnSpc>
              <a:buNone/>
            </a:pPr>
            <a:r>
              <a:rPr lang="en-US" sz="1250" i="1" dirty="0">
                <a:solidFill>
                  <a:srgbClr val="6E7C90"/>
                </a:solidFill>
                <a:latin typeface="Calibri" pitchFamily="34" charset="0"/>
                <a:ea typeface="Calibri" pitchFamily="34" charset="-122"/>
                <a:cs typeface="Calibri" pitchFamily="34" charset="-120"/>
              </a:rPr>
              <a:t>Within-London flows dominate both directions; the one big 2021 change is the surge in London→outside moves — the exodus signal.</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1000232" cy="292608"/>
          </a:xfrm>
          <a:prstGeom prst="rect">
            <a:avLst/>
          </a:prstGeom>
          <a:noFill/>
          <a:ln/>
        </p:spPr>
        <p:txBody>
          <a:bodyPr wrap="square" lIns="0" tIns="0" rIns="0" bIns="0" rtlCol="0" anchor="ctr"/>
          <a:lstStyle/>
          <a:p>
            <a:pPr indent="0" marL="0">
              <a:buNone/>
            </a:pPr>
            <a:r>
              <a:rPr lang="en-US" sz="1200" b="1" spc="200" kern="0" dirty="0">
                <a:solidFill>
                  <a:srgbClr val="6E7C90"/>
                </a:solidFill>
                <a:latin typeface="Calibri" pitchFamily="34" charset="0"/>
                <a:ea typeface="Calibri" pitchFamily="34" charset="-122"/>
                <a:cs typeface="Calibri" pitchFamily="34" charset="-120"/>
              </a:rPr>
              <a:t>METHODOLOGY · 5 OF 5</a:t>
            </a:r>
            <a:endParaRPr lang="en-US" sz="1200" dirty="0"/>
          </a:p>
        </p:txBody>
      </p:sp>
      <p:sp>
        <p:nvSpPr>
          <p:cNvPr id="3" name="Shape 1"/>
          <p:cNvSpPr/>
          <p:nvPr/>
        </p:nvSpPr>
        <p:spPr>
          <a:xfrm>
            <a:off x="11210544" y="365760"/>
            <a:ext cx="384048" cy="384048"/>
          </a:xfrm>
          <a:prstGeom prst="ellipse">
            <a:avLst/>
          </a:prstGeom>
          <a:solidFill>
            <a:srgbClr val="16233B"/>
          </a:solidFill>
          <a:ln/>
        </p:spPr>
      </p:sp>
      <p:sp>
        <p:nvSpPr>
          <p:cNvPr id="4" name="Text 2"/>
          <p:cNvSpPr/>
          <p:nvPr/>
        </p:nvSpPr>
        <p:spPr>
          <a:xfrm>
            <a:off x="11210544" y="3657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5" name="Text 3"/>
          <p:cNvSpPr/>
          <p:nvPr/>
        </p:nvSpPr>
        <p:spPr>
          <a:xfrm>
            <a:off x="594360" y="749808"/>
            <a:ext cx="11000232" cy="822960"/>
          </a:xfrm>
          <a:prstGeom prst="rect">
            <a:avLst/>
          </a:prstGeom>
          <a:noFill/>
          <a:ln/>
        </p:spPr>
        <p:txBody>
          <a:bodyPr wrap="square" lIns="0" tIns="0" rIns="0" bIns="0" rtlCol="0" anchor="t"/>
          <a:lstStyle/>
          <a:p>
            <a:pPr algn="l" indent="0" marL="0">
              <a:lnSpc>
                <a:spcPct val="98000"/>
              </a:lnSpc>
              <a:buNone/>
            </a:pPr>
            <a:r>
              <a:rPr lang="en-US" sz="3200" b="1" dirty="0">
                <a:solidFill>
                  <a:srgbClr val="16233B"/>
                </a:solidFill>
                <a:latin typeface="Cambria" pitchFamily="34" charset="0"/>
                <a:ea typeface="Cambria" pitchFamily="34" charset="-122"/>
                <a:cs typeface="Cambria" pitchFamily="34" charset="-120"/>
              </a:rPr>
              <a:t>Testing the assumption against three independent checks</a:t>
            </a:r>
            <a:endParaRPr lang="en-US" sz="3200" dirty="0"/>
          </a:p>
        </p:txBody>
      </p:sp>
      <p:sp>
        <p:nvSpPr>
          <p:cNvPr id="6" name="Shape 4"/>
          <p:cNvSpPr/>
          <p:nvPr/>
        </p:nvSpPr>
        <p:spPr>
          <a:xfrm>
            <a:off x="4937760" y="2103120"/>
            <a:ext cx="2331720" cy="914400"/>
          </a:xfrm>
          <a:prstGeom prst="roundRect">
            <a:avLst>
              <a:gd name="adj" fmla="val 10000"/>
            </a:avLst>
          </a:prstGeom>
          <a:solidFill>
            <a:srgbClr val="16233B"/>
          </a:solidFill>
          <a:ln/>
          <a:effectLst>
            <a:outerShdw sx="100000" sy="100000" kx="0" ky="0" algn="bl" rotWithShape="0" blurRad="101600" dist="38100" dir="5400000">
              <a:srgbClr val="9AA6B8">
                <a:alpha val="28000"/>
              </a:srgbClr>
            </a:outerShdw>
          </a:effectLst>
        </p:spPr>
      </p:sp>
      <p:sp>
        <p:nvSpPr>
          <p:cNvPr id="7" name="Text 5"/>
          <p:cNvSpPr/>
          <p:nvPr/>
        </p:nvSpPr>
        <p:spPr>
          <a:xfrm>
            <a:off x="4937760" y="2103120"/>
            <a:ext cx="2331720"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Flow typology</a:t>
            </a:r>
            <a:endParaRPr lang="en-US" sz="1700" dirty="0"/>
          </a:p>
        </p:txBody>
      </p:sp>
      <p:sp>
        <p:nvSpPr>
          <p:cNvPr id="8" name="Shape 6"/>
          <p:cNvSpPr/>
          <p:nvPr/>
        </p:nvSpPr>
        <p:spPr>
          <a:xfrm>
            <a:off x="6099048" y="3017520"/>
            <a:ext cx="-3753612" cy="960120"/>
          </a:xfrm>
          <a:prstGeom prst="line">
            <a:avLst/>
          </a:prstGeom>
          <a:noFill/>
          <a:ln w="19050">
            <a:solidFill>
              <a:srgbClr val="B9C3D2"/>
            </a:solidFill>
            <a:prstDash val="solid"/>
          </a:ln>
        </p:spPr>
      </p:sp>
      <p:sp>
        <p:nvSpPr>
          <p:cNvPr id="9" name="Shape 7"/>
          <p:cNvSpPr/>
          <p:nvPr/>
        </p:nvSpPr>
        <p:spPr>
          <a:xfrm>
            <a:off x="653796" y="3977640"/>
            <a:ext cx="3383280" cy="1417320"/>
          </a:xfrm>
          <a:prstGeom prst="roundRect">
            <a:avLst>
              <a:gd name="adj" fmla="val 5806"/>
            </a:avLst>
          </a:prstGeom>
          <a:solidFill>
            <a:srgbClr val="FFFFFF"/>
          </a:solidFill>
          <a:ln/>
          <a:effectLst>
            <a:outerShdw sx="100000" sy="100000" kx="0" ky="0" algn="bl" rotWithShape="0" blurRad="101600" dist="38100" dir="5400000">
              <a:srgbClr val="9AA6B8">
                <a:alpha val="28000"/>
              </a:srgbClr>
            </a:outerShdw>
          </a:effectLst>
        </p:spPr>
      </p:sp>
      <p:sp>
        <p:nvSpPr>
          <p:cNvPr id="10" name="Shape 8"/>
          <p:cNvSpPr/>
          <p:nvPr/>
        </p:nvSpPr>
        <p:spPr>
          <a:xfrm>
            <a:off x="909828" y="4233672"/>
            <a:ext cx="274320" cy="274320"/>
          </a:xfrm>
          <a:prstGeom prst="ellipse">
            <a:avLst/>
          </a:prstGeom>
          <a:solidFill>
            <a:srgbClr val="C6551A"/>
          </a:solidFill>
          <a:ln/>
        </p:spPr>
      </p:sp>
      <p:sp>
        <p:nvSpPr>
          <p:cNvPr id="11" name="Text 9"/>
          <p:cNvSpPr/>
          <p:nvPr/>
        </p:nvSpPr>
        <p:spPr>
          <a:xfrm>
            <a:off x="909828" y="423367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312164" y="4178808"/>
            <a:ext cx="2514600" cy="1051560"/>
          </a:xfrm>
          <a:prstGeom prst="rect">
            <a:avLst/>
          </a:prstGeom>
          <a:noFill/>
          <a:ln/>
        </p:spPr>
        <p:txBody>
          <a:bodyPr wrap="square" lIns="0" tIns="0" rIns="0" bIns="0" rtlCol="0" anchor="t"/>
          <a:lstStyle/>
          <a:p>
            <a:pPr indent="0" marL="0">
              <a:lnSpc>
                <a:spcPct val="105000"/>
              </a:lnSpc>
              <a:spcAft>
                <a:spcPts val="400"/>
              </a:spcAft>
              <a:buNone/>
            </a:pPr>
            <a:r>
              <a:rPr lang="en-US" sz="1500" b="1" dirty="0">
                <a:solidFill>
                  <a:srgbClr val="16233B"/>
                </a:solidFill>
                <a:latin typeface="Calibri" pitchFamily="34" charset="0"/>
                <a:ea typeface="Calibri" pitchFamily="34" charset="-122"/>
                <a:cs typeface="Calibri" pitchFamily="34" charset="-120"/>
              </a:rPr>
              <a:t>IMD percentile change</a:t>
            </a:r>
            <a:endParaRPr lang="en-US" sz="1500" dirty="0"/>
          </a:p>
          <a:p>
            <a:pPr indent="0" marL="0">
              <a:lnSpc>
                <a:spcPct val="105000"/>
              </a:lnSpc>
              <a:spcAft>
                <a:spcPts val="400"/>
              </a:spcAft>
              <a:buNone/>
            </a:pPr>
            <a:r>
              <a:rPr lang="en-US" sz="1250" dirty="0">
                <a:solidFill>
                  <a:srgbClr val="2A3547"/>
                </a:solidFill>
                <a:latin typeface="Calibri" pitchFamily="34" charset="0"/>
                <a:ea typeface="Calibri" pitchFamily="34" charset="-122"/>
                <a:cs typeface="Calibri" pitchFamily="34" charset="-120"/>
              </a:rPr>
              <a:t>2010 → 2019 — did the area's deprivation actually improve?</a:t>
            </a:r>
            <a:endParaRPr lang="en-US" sz="1500" dirty="0"/>
          </a:p>
        </p:txBody>
      </p:sp>
      <p:sp>
        <p:nvSpPr>
          <p:cNvPr id="13" name="Shape 11"/>
          <p:cNvSpPr/>
          <p:nvPr/>
        </p:nvSpPr>
        <p:spPr>
          <a:xfrm>
            <a:off x="6099048" y="3017520"/>
            <a:ext cx="-4572" cy="960120"/>
          </a:xfrm>
          <a:prstGeom prst="line">
            <a:avLst/>
          </a:prstGeom>
          <a:noFill/>
          <a:ln w="19050">
            <a:solidFill>
              <a:srgbClr val="B9C3D2"/>
            </a:solidFill>
            <a:prstDash val="solid"/>
          </a:ln>
        </p:spPr>
      </p:sp>
      <p:sp>
        <p:nvSpPr>
          <p:cNvPr id="14" name="Shape 12"/>
          <p:cNvSpPr/>
          <p:nvPr/>
        </p:nvSpPr>
        <p:spPr>
          <a:xfrm>
            <a:off x="4402836" y="3977640"/>
            <a:ext cx="3383280" cy="1417320"/>
          </a:xfrm>
          <a:prstGeom prst="roundRect">
            <a:avLst>
              <a:gd name="adj" fmla="val 5806"/>
            </a:avLst>
          </a:prstGeom>
          <a:solidFill>
            <a:srgbClr val="FFFFFF"/>
          </a:solidFill>
          <a:ln/>
          <a:effectLst>
            <a:outerShdw sx="100000" sy="100000" kx="0" ky="0" algn="bl" rotWithShape="0" blurRad="101600" dist="38100" dir="5400000">
              <a:srgbClr val="9AA6B8">
                <a:alpha val="28000"/>
              </a:srgbClr>
            </a:outerShdw>
          </a:effectLst>
        </p:spPr>
      </p:sp>
      <p:sp>
        <p:nvSpPr>
          <p:cNvPr id="15" name="Shape 13"/>
          <p:cNvSpPr/>
          <p:nvPr/>
        </p:nvSpPr>
        <p:spPr>
          <a:xfrm>
            <a:off x="4658868" y="4233672"/>
            <a:ext cx="274320" cy="274320"/>
          </a:xfrm>
          <a:prstGeom prst="ellipse">
            <a:avLst/>
          </a:prstGeom>
          <a:solidFill>
            <a:srgbClr val="245C99"/>
          </a:solidFill>
          <a:ln/>
        </p:spPr>
      </p:sp>
      <p:sp>
        <p:nvSpPr>
          <p:cNvPr id="16" name="Text 14"/>
          <p:cNvSpPr/>
          <p:nvPr/>
        </p:nvSpPr>
        <p:spPr>
          <a:xfrm>
            <a:off x="4658868" y="423367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061204" y="4178808"/>
            <a:ext cx="2514600" cy="1051560"/>
          </a:xfrm>
          <a:prstGeom prst="rect">
            <a:avLst/>
          </a:prstGeom>
          <a:noFill/>
          <a:ln/>
        </p:spPr>
        <p:txBody>
          <a:bodyPr wrap="square" lIns="0" tIns="0" rIns="0" bIns="0" rtlCol="0" anchor="t"/>
          <a:lstStyle/>
          <a:p>
            <a:pPr indent="0" marL="0">
              <a:lnSpc>
                <a:spcPct val="105000"/>
              </a:lnSpc>
              <a:spcAft>
                <a:spcPts val="400"/>
              </a:spcAft>
              <a:buNone/>
            </a:pPr>
            <a:r>
              <a:rPr lang="en-US" sz="1500" b="1" dirty="0">
                <a:solidFill>
                  <a:srgbClr val="16233B"/>
                </a:solidFill>
                <a:latin typeface="Calibri" pitchFamily="34" charset="0"/>
                <a:ea typeface="Calibri" pitchFamily="34" charset="-122"/>
                <a:cs typeface="Calibri" pitchFamily="34" charset="-120"/>
              </a:rPr>
              <a:t>Yee &amp; Dennett (2022)</a:t>
            </a:r>
            <a:endParaRPr lang="en-US" sz="1500" dirty="0"/>
          </a:p>
          <a:p>
            <a:pPr indent="0" marL="0">
              <a:lnSpc>
                <a:spcPct val="105000"/>
              </a:lnSpc>
              <a:spcAft>
                <a:spcPts val="400"/>
              </a:spcAft>
              <a:buNone/>
            </a:pPr>
            <a:r>
              <a:rPr lang="en-US" sz="1250" dirty="0">
                <a:solidFill>
                  <a:srgbClr val="2A3547"/>
                </a:solidFill>
                <a:latin typeface="Calibri" pitchFamily="34" charset="0"/>
                <a:ea typeface="Calibri" pitchFamily="34" charset="-122"/>
                <a:cs typeface="Calibri" pitchFamily="34" charset="-120"/>
              </a:rPr>
              <a:t>attribute-based gentrification classification</a:t>
            </a:r>
            <a:endParaRPr lang="en-US" sz="1500" dirty="0"/>
          </a:p>
        </p:txBody>
      </p:sp>
      <p:sp>
        <p:nvSpPr>
          <p:cNvPr id="18" name="Shape 16"/>
          <p:cNvSpPr/>
          <p:nvPr/>
        </p:nvSpPr>
        <p:spPr>
          <a:xfrm>
            <a:off x="6099048" y="3017520"/>
            <a:ext cx="3744468" cy="960120"/>
          </a:xfrm>
          <a:prstGeom prst="line">
            <a:avLst/>
          </a:prstGeom>
          <a:noFill/>
          <a:ln w="19050">
            <a:solidFill>
              <a:srgbClr val="B9C3D2"/>
            </a:solidFill>
            <a:prstDash val="solid"/>
          </a:ln>
        </p:spPr>
      </p:sp>
      <p:sp>
        <p:nvSpPr>
          <p:cNvPr id="19" name="Shape 17"/>
          <p:cNvSpPr/>
          <p:nvPr/>
        </p:nvSpPr>
        <p:spPr>
          <a:xfrm>
            <a:off x="8151876" y="3977640"/>
            <a:ext cx="3383280" cy="1417320"/>
          </a:xfrm>
          <a:prstGeom prst="roundRect">
            <a:avLst>
              <a:gd name="adj" fmla="val 5806"/>
            </a:avLst>
          </a:prstGeom>
          <a:solidFill>
            <a:srgbClr val="FFFFFF"/>
          </a:solidFill>
          <a:ln/>
          <a:effectLst>
            <a:outerShdw sx="100000" sy="100000" kx="0" ky="0" algn="bl" rotWithShape="0" blurRad="101600" dist="38100" dir="5400000">
              <a:srgbClr val="9AA6B8">
                <a:alpha val="28000"/>
              </a:srgbClr>
            </a:outerShdw>
          </a:effectLst>
        </p:spPr>
      </p:sp>
      <p:sp>
        <p:nvSpPr>
          <p:cNvPr id="20" name="Shape 18"/>
          <p:cNvSpPr/>
          <p:nvPr/>
        </p:nvSpPr>
        <p:spPr>
          <a:xfrm>
            <a:off x="8407908" y="4233672"/>
            <a:ext cx="274320" cy="274320"/>
          </a:xfrm>
          <a:prstGeom prst="ellipse">
            <a:avLst/>
          </a:prstGeom>
          <a:solidFill>
            <a:srgbClr val="1A7D44"/>
          </a:solidFill>
          <a:ln/>
        </p:spPr>
      </p:sp>
      <p:sp>
        <p:nvSpPr>
          <p:cNvPr id="21" name="Text 19"/>
          <p:cNvSpPr/>
          <p:nvPr/>
        </p:nvSpPr>
        <p:spPr>
          <a:xfrm>
            <a:off x="8407908" y="423367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810244" y="4178808"/>
            <a:ext cx="2514600" cy="1051560"/>
          </a:xfrm>
          <a:prstGeom prst="rect">
            <a:avLst/>
          </a:prstGeom>
          <a:noFill/>
          <a:ln/>
        </p:spPr>
        <p:txBody>
          <a:bodyPr wrap="square" lIns="0" tIns="0" rIns="0" bIns="0" rtlCol="0" anchor="t"/>
          <a:lstStyle/>
          <a:p>
            <a:pPr indent="0" marL="0">
              <a:lnSpc>
                <a:spcPct val="105000"/>
              </a:lnSpc>
              <a:spcAft>
                <a:spcPts val="400"/>
              </a:spcAft>
              <a:buNone/>
            </a:pPr>
            <a:r>
              <a:rPr lang="en-US" sz="1500" b="1" dirty="0">
                <a:solidFill>
                  <a:srgbClr val="16233B"/>
                </a:solidFill>
                <a:latin typeface="Calibri" pitchFamily="34" charset="0"/>
                <a:ea typeface="Calibri" pitchFamily="34" charset="-122"/>
                <a:cs typeface="Calibri" pitchFamily="34" charset="-120"/>
              </a:rPr>
              <a:t>Occupational ascent</a:t>
            </a:r>
            <a:endParaRPr lang="en-US" sz="1500" dirty="0"/>
          </a:p>
          <a:p>
            <a:pPr indent="0" marL="0">
              <a:lnSpc>
                <a:spcPct val="105000"/>
              </a:lnSpc>
              <a:spcAft>
                <a:spcPts val="400"/>
              </a:spcAft>
              <a:buNone/>
            </a:pPr>
            <a:r>
              <a:rPr lang="en-US" sz="1250" dirty="0">
                <a:solidFill>
                  <a:srgbClr val="2A3547"/>
                </a:solidFill>
                <a:latin typeface="Calibri" pitchFamily="34" charset="0"/>
                <a:ea typeface="Calibri" pitchFamily="34" charset="-122"/>
                <a:cs typeface="Calibri" pitchFamily="34" charset="-120"/>
              </a:rPr>
              <a:t>Duncan-style change in SOC major groups 1–3</a:t>
            </a:r>
            <a:endParaRPr lang="en-US" sz="1500" dirty="0"/>
          </a:p>
        </p:txBody>
      </p:sp>
      <p:sp>
        <p:nvSpPr>
          <p:cNvPr id="23" name="Text 21"/>
          <p:cNvSpPr/>
          <p:nvPr/>
        </p:nvSpPr>
        <p:spPr>
          <a:xfrm>
            <a:off x="594360" y="5806440"/>
            <a:ext cx="11000232" cy="457200"/>
          </a:xfrm>
          <a:prstGeom prst="rect">
            <a:avLst/>
          </a:prstGeom>
          <a:noFill/>
          <a:ln/>
        </p:spPr>
        <p:txBody>
          <a:bodyPr wrap="square" lIns="0" tIns="0" rIns="0" bIns="0" rtlCol="0" anchor="ctr"/>
          <a:lstStyle/>
          <a:p>
            <a:pPr algn="ctr" indent="0" marL="0">
              <a:buNone/>
            </a:pPr>
            <a:r>
              <a:rPr lang="en-US" sz="1450" i="1" dirty="0">
                <a:solidFill>
                  <a:srgbClr val="6E7C90"/>
                </a:solidFill>
                <a:latin typeface="Calibri" pitchFamily="34" charset="0"/>
                <a:ea typeface="Calibri" pitchFamily="34" charset="-122"/>
                <a:cs typeface="Calibri" pitchFamily="34" charset="-120"/>
              </a:rPr>
              <a:t>If cascade really equals gentrification, these should line up.</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1000232" cy="292608"/>
          </a:xfrm>
          <a:prstGeom prst="rect">
            <a:avLst/>
          </a:prstGeom>
          <a:noFill/>
          <a:ln/>
        </p:spPr>
        <p:txBody>
          <a:bodyPr wrap="square" lIns="0" tIns="0" rIns="0" bIns="0" rtlCol="0" anchor="ctr"/>
          <a:lstStyle/>
          <a:p>
            <a:pPr indent="0" marL="0">
              <a:buNone/>
            </a:pPr>
            <a:r>
              <a:rPr lang="en-US" sz="1200" b="1" spc="200" kern="0" dirty="0">
                <a:solidFill>
                  <a:srgbClr val="C6551A"/>
                </a:solidFill>
                <a:latin typeface="Calibri" pitchFamily="34" charset="0"/>
                <a:ea typeface="Calibri" pitchFamily="34" charset="-122"/>
                <a:cs typeface="Calibri" pitchFamily="34" charset="-120"/>
              </a:rPr>
              <a:t>FINDINGS · 1</a:t>
            </a:r>
            <a:endParaRPr lang="en-US" sz="1200" dirty="0"/>
          </a:p>
        </p:txBody>
      </p:sp>
      <p:sp>
        <p:nvSpPr>
          <p:cNvPr id="3" name="Text 1"/>
          <p:cNvSpPr/>
          <p:nvPr/>
        </p:nvSpPr>
        <p:spPr>
          <a:xfrm>
            <a:off x="594360" y="749808"/>
            <a:ext cx="11000232" cy="822960"/>
          </a:xfrm>
          <a:prstGeom prst="rect">
            <a:avLst/>
          </a:prstGeom>
          <a:noFill/>
          <a:ln/>
        </p:spPr>
        <p:txBody>
          <a:bodyPr wrap="square" lIns="0" tIns="0" rIns="0" bIns="0" rtlCol="0" anchor="t"/>
          <a:lstStyle/>
          <a:p>
            <a:pPr algn="l" indent="0" marL="0">
              <a:lnSpc>
                <a:spcPct val="98000"/>
              </a:lnSpc>
              <a:buNone/>
            </a:pPr>
            <a:r>
              <a:rPr lang="en-US" sz="3200" b="1" dirty="0">
                <a:solidFill>
                  <a:srgbClr val="16233B"/>
                </a:solidFill>
                <a:latin typeface="Cambria" pitchFamily="34" charset="0"/>
                <a:ea typeface="Cambria" pitchFamily="34" charset="-122"/>
                <a:cs typeface="Cambria" pitchFamily="34" charset="-120"/>
              </a:rPr>
              <a:t>Cascade ≠ gentrification</a:t>
            </a:r>
            <a:endParaRPr lang="en-US" sz="3200" dirty="0"/>
          </a:p>
        </p:txBody>
      </p:sp>
      <p:sp>
        <p:nvSpPr>
          <p:cNvPr id="4" name="Text 2"/>
          <p:cNvSpPr/>
          <p:nvPr/>
        </p:nvSpPr>
        <p:spPr>
          <a:xfrm>
            <a:off x="594360" y="1783080"/>
            <a:ext cx="3383280" cy="868680"/>
          </a:xfrm>
          <a:prstGeom prst="rect">
            <a:avLst/>
          </a:prstGeom>
          <a:noFill/>
          <a:ln/>
        </p:spPr>
        <p:txBody>
          <a:bodyPr wrap="square" lIns="0" tIns="0" rIns="0" bIns="0" rtlCol="0" anchor="ctr"/>
          <a:lstStyle/>
          <a:p>
            <a:pPr algn="ctr" indent="0" marL="0">
              <a:buNone/>
            </a:pPr>
            <a:r>
              <a:rPr lang="en-US" sz="5200" b="1" dirty="0">
                <a:solidFill>
                  <a:srgbClr val="1A7D44"/>
                </a:solidFill>
                <a:latin typeface="Cambria" pitchFamily="34" charset="0"/>
                <a:ea typeface="Cambria" pitchFamily="34" charset="-122"/>
                <a:cs typeface="Cambria" pitchFamily="34" charset="-120"/>
              </a:rPr>
              <a:t>58</a:t>
            </a:r>
            <a:endParaRPr lang="en-US" sz="5200" dirty="0"/>
          </a:p>
        </p:txBody>
      </p:sp>
      <p:sp>
        <p:nvSpPr>
          <p:cNvPr id="5" name="Text 3"/>
          <p:cNvSpPr/>
          <p:nvPr/>
        </p:nvSpPr>
        <p:spPr>
          <a:xfrm>
            <a:off x="594360" y="2670048"/>
            <a:ext cx="3383280" cy="640080"/>
          </a:xfrm>
          <a:prstGeom prst="rect">
            <a:avLst/>
          </a:prstGeom>
          <a:noFill/>
          <a:ln/>
        </p:spPr>
        <p:txBody>
          <a:bodyPr wrap="square" lIns="0" tIns="0" rIns="0" bIns="0" rtlCol="0" anchor="ctr"/>
          <a:lstStyle/>
          <a:p>
            <a:pPr algn="ctr" indent="0" marL="0">
              <a:lnSpc>
                <a:spcPct val="100000"/>
              </a:lnSpc>
              <a:buNone/>
            </a:pPr>
            <a:r>
              <a:rPr lang="en-US" sz="1300" dirty="0">
                <a:solidFill>
                  <a:srgbClr val="2A3547"/>
                </a:solidFill>
                <a:latin typeface="Calibri" pitchFamily="34" charset="0"/>
                <a:ea typeface="Calibri" pitchFamily="34" charset="-122"/>
                <a:cs typeface="Calibri" pitchFamily="34" charset="-120"/>
              </a:rPr>
              <a:t>areas where both agree</a:t>
            </a:r>
            <a:endParaRPr lang="en-US" sz="1300" dirty="0"/>
          </a:p>
          <a:p>
            <a:pPr algn="ctr" indent="0" marL="0">
              <a:lnSpc>
                <a:spcPct val="100000"/>
              </a:lnSpc>
              <a:buNone/>
            </a:pPr>
            <a:r>
              <a:rPr lang="en-US" sz="1300" dirty="0">
                <a:solidFill>
                  <a:srgbClr val="2A3547"/>
                </a:solidFill>
                <a:latin typeface="Calibri" pitchFamily="34" charset="0"/>
                <a:ea typeface="Calibri" pitchFamily="34" charset="-122"/>
                <a:cs typeface="Calibri" pitchFamily="34" charset="-120"/>
              </a:rPr>
              <a:t>(GEN &amp; cascade-led)</a:t>
            </a:r>
            <a:endParaRPr lang="en-US" sz="1300" dirty="0"/>
          </a:p>
        </p:txBody>
      </p:sp>
      <p:sp>
        <p:nvSpPr>
          <p:cNvPr id="6" name="Text 4"/>
          <p:cNvSpPr/>
          <p:nvPr/>
        </p:nvSpPr>
        <p:spPr>
          <a:xfrm>
            <a:off x="4206240" y="1783080"/>
            <a:ext cx="3383280" cy="868680"/>
          </a:xfrm>
          <a:prstGeom prst="rect">
            <a:avLst/>
          </a:prstGeom>
          <a:noFill/>
          <a:ln/>
        </p:spPr>
        <p:txBody>
          <a:bodyPr wrap="square" lIns="0" tIns="0" rIns="0" bIns="0" rtlCol="0" anchor="ctr"/>
          <a:lstStyle/>
          <a:p>
            <a:pPr algn="ctr" indent="0" marL="0">
              <a:buNone/>
            </a:pPr>
            <a:r>
              <a:rPr lang="en-US" sz="5200" b="1" dirty="0">
                <a:solidFill>
                  <a:srgbClr val="245C99"/>
                </a:solidFill>
                <a:latin typeface="Cambria" pitchFamily="34" charset="0"/>
                <a:ea typeface="Cambria" pitchFamily="34" charset="-122"/>
                <a:cs typeface="Cambria" pitchFamily="34" charset="-120"/>
              </a:rPr>
              <a:t>149</a:t>
            </a:r>
            <a:endParaRPr lang="en-US" sz="5200" dirty="0"/>
          </a:p>
        </p:txBody>
      </p:sp>
      <p:sp>
        <p:nvSpPr>
          <p:cNvPr id="7" name="Text 5"/>
          <p:cNvSpPr/>
          <p:nvPr/>
        </p:nvSpPr>
        <p:spPr>
          <a:xfrm>
            <a:off x="4206240" y="2670048"/>
            <a:ext cx="3383280" cy="640080"/>
          </a:xfrm>
          <a:prstGeom prst="rect">
            <a:avLst/>
          </a:prstGeom>
          <a:noFill/>
          <a:ln/>
        </p:spPr>
        <p:txBody>
          <a:bodyPr wrap="square" lIns="0" tIns="0" rIns="0" bIns="0" rtlCol="0" anchor="ctr"/>
          <a:lstStyle/>
          <a:p>
            <a:pPr algn="ctr" indent="0" marL="0">
              <a:lnSpc>
                <a:spcPct val="100000"/>
              </a:lnSpc>
              <a:buNone/>
            </a:pPr>
            <a:r>
              <a:rPr lang="en-US" sz="1300" dirty="0">
                <a:solidFill>
                  <a:srgbClr val="2A3547"/>
                </a:solidFill>
                <a:latin typeface="Calibri" pitchFamily="34" charset="0"/>
                <a:ea typeface="Calibri" pitchFamily="34" charset="-122"/>
                <a:cs typeface="Calibri" pitchFamily="34" charset="-120"/>
              </a:rPr>
              <a:t>attribute-only</a:t>
            </a:r>
            <a:endParaRPr lang="en-US" sz="1300" dirty="0"/>
          </a:p>
          <a:p>
            <a:pPr algn="ctr" indent="0" marL="0">
              <a:lnSpc>
                <a:spcPct val="100000"/>
              </a:lnSpc>
              <a:buNone/>
            </a:pPr>
            <a:r>
              <a:rPr lang="en-US" sz="1300" dirty="0">
                <a:solidFill>
                  <a:srgbClr val="2A3547"/>
                </a:solidFill>
                <a:latin typeface="Calibri" pitchFamily="34" charset="0"/>
                <a:ea typeface="Calibri" pitchFamily="34" charset="-122"/>
                <a:cs typeface="Calibri" pitchFamily="34" charset="-120"/>
              </a:rPr>
              <a:t>(Yee-GEN, no cascade)</a:t>
            </a:r>
            <a:endParaRPr lang="en-US" sz="1300" dirty="0"/>
          </a:p>
        </p:txBody>
      </p:sp>
      <p:sp>
        <p:nvSpPr>
          <p:cNvPr id="8" name="Text 6"/>
          <p:cNvSpPr/>
          <p:nvPr/>
        </p:nvSpPr>
        <p:spPr>
          <a:xfrm>
            <a:off x="7818120" y="1783080"/>
            <a:ext cx="3383280" cy="868680"/>
          </a:xfrm>
          <a:prstGeom prst="rect">
            <a:avLst/>
          </a:prstGeom>
          <a:noFill/>
          <a:ln/>
        </p:spPr>
        <p:txBody>
          <a:bodyPr wrap="square" lIns="0" tIns="0" rIns="0" bIns="0" rtlCol="0" anchor="ctr"/>
          <a:lstStyle/>
          <a:p>
            <a:pPr algn="ctr" indent="0" marL="0">
              <a:buNone/>
            </a:pPr>
            <a:r>
              <a:rPr lang="en-US" sz="5200" b="1" dirty="0">
                <a:solidFill>
                  <a:srgbClr val="C6551A"/>
                </a:solidFill>
                <a:latin typeface="Cambria" pitchFamily="34" charset="0"/>
                <a:ea typeface="Cambria" pitchFamily="34" charset="-122"/>
                <a:cs typeface="Cambria" pitchFamily="34" charset="-120"/>
              </a:rPr>
              <a:t>155</a:t>
            </a:r>
            <a:endParaRPr lang="en-US" sz="5200" dirty="0"/>
          </a:p>
        </p:txBody>
      </p:sp>
      <p:sp>
        <p:nvSpPr>
          <p:cNvPr id="9" name="Text 7"/>
          <p:cNvSpPr/>
          <p:nvPr/>
        </p:nvSpPr>
        <p:spPr>
          <a:xfrm>
            <a:off x="7818120" y="2670048"/>
            <a:ext cx="3383280" cy="640080"/>
          </a:xfrm>
          <a:prstGeom prst="rect">
            <a:avLst/>
          </a:prstGeom>
          <a:noFill/>
          <a:ln/>
        </p:spPr>
        <p:txBody>
          <a:bodyPr wrap="square" lIns="0" tIns="0" rIns="0" bIns="0" rtlCol="0" anchor="ctr"/>
          <a:lstStyle/>
          <a:p>
            <a:pPr algn="ctr" indent="0" marL="0">
              <a:lnSpc>
                <a:spcPct val="100000"/>
              </a:lnSpc>
              <a:buNone/>
            </a:pPr>
            <a:r>
              <a:rPr lang="en-US" sz="1300" dirty="0">
                <a:solidFill>
                  <a:srgbClr val="2A3547"/>
                </a:solidFill>
                <a:latin typeface="Calibri" pitchFamily="34" charset="0"/>
                <a:ea typeface="Calibri" pitchFamily="34" charset="-122"/>
                <a:cs typeface="Calibri" pitchFamily="34" charset="-120"/>
              </a:rPr>
              <a:t>flow-only</a:t>
            </a:r>
            <a:endParaRPr lang="en-US" sz="1300" dirty="0"/>
          </a:p>
          <a:p>
            <a:pPr algn="ctr" indent="0" marL="0">
              <a:lnSpc>
                <a:spcPct val="100000"/>
              </a:lnSpc>
              <a:buNone/>
            </a:pPr>
            <a:r>
              <a:rPr lang="en-US" sz="1300" dirty="0">
                <a:solidFill>
                  <a:srgbClr val="2A3547"/>
                </a:solidFill>
                <a:latin typeface="Calibri" pitchFamily="34" charset="0"/>
                <a:ea typeface="Calibri" pitchFamily="34" charset="-122"/>
                <a:cs typeface="Calibri" pitchFamily="34" charset="-120"/>
              </a:rPr>
              <a:t>(cascade, no Yee-GEN)</a:t>
            </a:r>
            <a:endParaRPr lang="en-US" sz="1300" dirty="0"/>
          </a:p>
        </p:txBody>
      </p:sp>
      <p:sp>
        <p:nvSpPr>
          <p:cNvPr id="10" name="Shape 8"/>
          <p:cNvSpPr/>
          <p:nvPr/>
        </p:nvSpPr>
        <p:spPr>
          <a:xfrm>
            <a:off x="594360" y="3520440"/>
            <a:ext cx="11000232" cy="822960"/>
          </a:xfrm>
          <a:prstGeom prst="roundRect">
            <a:avLst>
              <a:gd name="adj" fmla="val 10000"/>
            </a:avLst>
          </a:prstGeom>
          <a:solidFill>
            <a:srgbClr val="F3F6FB"/>
          </a:solidFill>
          <a:ln/>
          <a:effectLst>
            <a:outerShdw sx="100000" sy="100000" kx="0" ky="0" algn="bl" rotWithShape="0" blurRad="101600" dist="38100" dir="5400000">
              <a:srgbClr val="9AA6B8">
                <a:alpha val="28000"/>
              </a:srgbClr>
            </a:outerShdw>
          </a:effectLst>
        </p:spPr>
      </p:sp>
      <p:sp>
        <p:nvSpPr>
          <p:cNvPr id="11" name="Text 9"/>
          <p:cNvSpPr/>
          <p:nvPr/>
        </p:nvSpPr>
        <p:spPr>
          <a:xfrm>
            <a:off x="822960" y="3520440"/>
            <a:ext cx="10543032" cy="822960"/>
          </a:xfrm>
          <a:prstGeom prst="rect">
            <a:avLst/>
          </a:prstGeom>
          <a:noFill/>
          <a:ln/>
        </p:spPr>
        <p:txBody>
          <a:bodyPr wrap="square" lIns="0" tIns="0" rIns="0" bIns="0" rtlCol="0" anchor="ctr"/>
          <a:lstStyle/>
          <a:p>
            <a:pPr indent="0" marL="0">
              <a:buNone/>
            </a:pPr>
            <a:r>
              <a:rPr lang="en-US" sz="1500" b="1" dirty="0">
                <a:solidFill>
                  <a:srgbClr val="16233B"/>
                </a:solidFill>
                <a:latin typeface="Calibri" pitchFamily="34" charset="0"/>
                <a:ea typeface="Calibri" pitchFamily="34" charset="-122"/>
                <a:cs typeface="Calibri" pitchFamily="34" charset="-120"/>
              </a:rPr>
              <a:t>Cramér's V = 0.10</a:t>
            </a:r>
            <a:pPr indent="0" marL="0">
              <a:buNone/>
            </a:pPr>
            <a:r>
              <a:rPr lang="en-US" sz="1500" dirty="0">
                <a:solidFill>
                  <a:srgbClr val="6E7C90"/>
                </a:solidFill>
                <a:latin typeface="Calibri" pitchFamily="34" charset="0"/>
                <a:ea typeface="Calibri" pitchFamily="34" charset="-122"/>
                <a:cs typeface="Calibri" pitchFamily="34" charset="-120"/>
              </a:rPr>
              <a:t>   ·   </a:t>
            </a:r>
            <a:pPr indent="0" marL="0">
              <a:buNone/>
            </a:pPr>
            <a:r>
              <a:rPr lang="en-US" sz="1500" b="1" dirty="0">
                <a:solidFill>
                  <a:srgbClr val="16233B"/>
                </a:solidFill>
                <a:latin typeface="Calibri" pitchFamily="34" charset="0"/>
                <a:ea typeface="Calibri" pitchFamily="34" charset="-122"/>
                <a:cs typeface="Calibri" pitchFamily="34" charset="-120"/>
              </a:rPr>
              <a:t>Adjusted Rand Index = 0.005</a:t>
            </a:r>
            <a:pPr indent="0" marL="0">
              <a:buNone/>
            </a:pPr>
            <a:r>
              <a:rPr lang="en-US" sz="1500" dirty="0">
                <a:solidFill>
                  <a:srgbClr val="2A3547"/>
                </a:solidFill>
                <a:latin typeface="Calibri" pitchFamily="34" charset="0"/>
                <a:ea typeface="Calibri" pitchFamily="34" charset="-122"/>
                <a:cs typeface="Calibri" pitchFamily="34" charset="-120"/>
              </a:rPr>
              <a:t>  —  the two schemes agree no better than random labels.</a:t>
            </a:r>
            <a:endParaRPr lang="en-US" sz="1500" dirty="0"/>
          </a:p>
        </p:txBody>
      </p:sp>
      <p:sp>
        <p:nvSpPr>
          <p:cNvPr id="12" name="Shape 10"/>
          <p:cNvSpPr/>
          <p:nvPr/>
        </p:nvSpPr>
        <p:spPr>
          <a:xfrm>
            <a:off x="594360" y="4526280"/>
            <a:ext cx="5486400" cy="1645920"/>
          </a:xfrm>
          <a:prstGeom prst="roundRect">
            <a:avLst>
              <a:gd name="adj" fmla="val 5000"/>
            </a:avLst>
          </a:prstGeom>
          <a:solidFill>
            <a:srgbClr val="FFFFFF"/>
          </a:solidFill>
          <a:ln/>
          <a:effectLst>
            <a:outerShdw sx="100000" sy="100000" kx="0" ky="0" algn="bl" rotWithShape="0" blurRad="101600" dist="38100" dir="5400000">
              <a:srgbClr val="9AA6B8">
                <a:alpha val="28000"/>
              </a:srgbClr>
            </a:outerShdw>
          </a:effectLst>
        </p:spPr>
      </p:sp>
      <p:sp>
        <p:nvSpPr>
          <p:cNvPr id="13" name="Text 11"/>
          <p:cNvSpPr/>
          <p:nvPr/>
        </p:nvSpPr>
        <p:spPr>
          <a:xfrm>
            <a:off x="850392" y="4645152"/>
            <a:ext cx="4937760" cy="320040"/>
          </a:xfrm>
          <a:prstGeom prst="rect">
            <a:avLst/>
          </a:prstGeom>
          <a:noFill/>
          <a:ln/>
        </p:spPr>
        <p:txBody>
          <a:bodyPr wrap="square" lIns="0" tIns="0" rIns="0" bIns="0" rtlCol="0" anchor="ctr"/>
          <a:lstStyle/>
          <a:p>
            <a:pPr indent="0" marL="0">
              <a:buNone/>
            </a:pPr>
            <a:r>
              <a:rPr lang="en-US" sz="1450" b="1" dirty="0">
                <a:solidFill>
                  <a:srgbClr val="16233B"/>
                </a:solidFill>
                <a:latin typeface="Calibri" pitchFamily="34" charset="0"/>
                <a:ea typeface="Calibri" pitchFamily="34" charset="-122"/>
                <a:cs typeface="Calibri" pitchFamily="34" charset="-120"/>
              </a:rPr>
              <a:t>The IMD kicker</a:t>
            </a:r>
            <a:endParaRPr lang="en-US" sz="1450" dirty="0"/>
          </a:p>
        </p:txBody>
      </p:sp>
      <p:sp>
        <p:nvSpPr>
          <p:cNvPr id="14" name="Text 12"/>
          <p:cNvSpPr/>
          <p:nvPr/>
        </p:nvSpPr>
        <p:spPr>
          <a:xfrm>
            <a:off x="850392" y="4983480"/>
            <a:ext cx="4983480" cy="1097280"/>
          </a:xfrm>
          <a:prstGeom prst="rect">
            <a:avLst/>
          </a:prstGeom>
          <a:noFill/>
          <a:ln/>
        </p:spPr>
        <p:txBody>
          <a:bodyPr wrap="square" lIns="0" tIns="0" rIns="0" bIns="0" rtlCol="0" anchor="ctr"/>
          <a:lstStyle/>
          <a:p>
            <a:pPr indent="0" marL="0">
              <a:lnSpc>
                <a:spcPct val="115000"/>
              </a:lnSpc>
              <a:buNone/>
            </a:pPr>
            <a:r>
              <a:rPr lang="en-US" sz="1400" dirty="0">
                <a:solidFill>
                  <a:srgbClr val="2A3547"/>
                </a:solidFill>
                <a:latin typeface="Calibri" pitchFamily="34" charset="0"/>
                <a:ea typeface="Calibri" pitchFamily="34" charset="-122"/>
                <a:cs typeface="Calibri" pitchFamily="34" charset="-120"/>
              </a:rPr>
              <a:t>Yee-GEN alone → </a:t>
            </a:r>
            <a:pPr indent="0" marL="0">
              <a:lnSpc>
                <a:spcPct val="115000"/>
              </a:lnSpc>
              <a:buNone/>
            </a:pPr>
            <a:r>
              <a:rPr lang="en-US" sz="1400" b="1" dirty="0">
                <a:solidFill>
                  <a:srgbClr val="1A7D44"/>
                </a:solidFill>
                <a:latin typeface="Calibri" pitchFamily="34" charset="0"/>
                <a:ea typeface="Calibri" pitchFamily="34" charset="-122"/>
                <a:cs typeface="Calibri" pitchFamily="34" charset="-120"/>
              </a:rPr>
              <a:t>+0.043</a:t>
            </a:r>
            <a:pPr indent="0" marL="0">
              <a:lnSpc>
                <a:spcPct val="115000"/>
              </a:lnSpc>
              <a:buNone/>
            </a:pPr>
            <a:r>
              <a:rPr lang="en-US" sz="1400" dirty="0">
                <a:solidFill>
                  <a:srgbClr val="2A3547"/>
                </a:solidFill>
                <a:latin typeface="Calibri" pitchFamily="34" charset="0"/>
                <a:ea typeface="Calibri" pitchFamily="34" charset="-122"/>
                <a:cs typeface="Calibri" pitchFamily="34" charset="-120"/>
              </a:rPr>
              <a:t> IMD gain.  Yee-GEN + cascade → only </a:t>
            </a:r>
            <a:pPr indent="0" marL="0">
              <a:lnSpc>
                <a:spcPct val="115000"/>
              </a:lnSpc>
              <a:buNone/>
            </a:pPr>
            <a:r>
              <a:rPr lang="en-US" sz="1400" b="1" dirty="0">
                <a:solidFill>
                  <a:srgbClr val="C6551A"/>
                </a:solidFill>
                <a:latin typeface="Calibri" pitchFamily="34" charset="0"/>
                <a:ea typeface="Calibri" pitchFamily="34" charset="-122"/>
                <a:cs typeface="Calibri" pitchFamily="34" charset="-120"/>
              </a:rPr>
              <a:t>+0.017</a:t>
            </a:r>
            <a:pPr indent="0" marL="0">
              <a:lnSpc>
                <a:spcPct val="115000"/>
              </a:lnSpc>
              <a:buNone/>
            </a:pPr>
            <a:r>
              <a:rPr lang="en-US" sz="1400" dirty="0">
                <a:solidFill>
                  <a:srgbClr val="2A3547"/>
                </a:solidFill>
                <a:latin typeface="Calibri" pitchFamily="34" charset="0"/>
                <a:ea typeface="Calibri" pitchFamily="34" charset="-122"/>
                <a:cs typeface="Calibri" pitchFamily="34" charset="-120"/>
              </a:rPr>
              <a:t>.</a:t>
            </a:r>
            <a:pPr indent="0" marL="0">
              <a:lnSpc>
                <a:spcPct val="115000"/>
              </a:lnSpc>
              <a:buNone/>
            </a:pPr>
            <a:endParaRPr lang="en-US" sz="1400" dirty="0"/>
          </a:p>
          <a:p>
            <a:pPr indent="0" marL="0">
              <a:lnSpc>
                <a:spcPct val="115000"/>
              </a:lnSpc>
              <a:buNone/>
            </a:pPr>
            <a:r>
              <a:rPr lang="en-US" sz="1400" b="1" dirty="0">
                <a:solidFill>
                  <a:srgbClr val="16233B"/>
                </a:solidFill>
                <a:latin typeface="Calibri" pitchFamily="34" charset="0"/>
                <a:ea typeface="Calibri" pitchFamily="34" charset="-122"/>
                <a:cs typeface="Calibri" pitchFamily="34" charset="-120"/>
              </a:rPr>
              <a:t>Adding cascade doesn't reinforce gentrification.</a:t>
            </a:r>
            <a:endParaRPr lang="en-US" sz="1400" dirty="0"/>
          </a:p>
        </p:txBody>
      </p:sp>
      <p:sp>
        <p:nvSpPr>
          <p:cNvPr id="15" name="Shape 13"/>
          <p:cNvSpPr/>
          <p:nvPr/>
        </p:nvSpPr>
        <p:spPr>
          <a:xfrm>
            <a:off x="6309360" y="4526280"/>
            <a:ext cx="5285232" cy="1645920"/>
          </a:xfrm>
          <a:prstGeom prst="roundRect">
            <a:avLst>
              <a:gd name="adj" fmla="val 5000"/>
            </a:avLst>
          </a:prstGeom>
          <a:solidFill>
            <a:srgbClr val="16233B"/>
          </a:solidFill>
          <a:ln/>
          <a:effectLst>
            <a:outerShdw sx="100000" sy="100000" kx="0" ky="0" algn="bl" rotWithShape="0" blurRad="101600" dist="38100" dir="5400000">
              <a:srgbClr val="9AA6B8">
                <a:alpha val="28000"/>
              </a:srgbClr>
            </a:outerShdw>
          </a:effectLst>
        </p:spPr>
      </p:sp>
      <p:sp>
        <p:nvSpPr>
          <p:cNvPr id="16" name="Text 14"/>
          <p:cNvSpPr/>
          <p:nvPr/>
        </p:nvSpPr>
        <p:spPr>
          <a:xfrm>
            <a:off x="6565392" y="4645152"/>
            <a:ext cx="4572000" cy="320040"/>
          </a:xfrm>
          <a:prstGeom prst="rect">
            <a:avLst/>
          </a:prstGeom>
          <a:noFill/>
          <a:ln/>
        </p:spPr>
        <p:txBody>
          <a:bodyPr wrap="square" lIns="0" tIns="0" rIns="0" bIns="0" rtlCol="0" anchor="ctr"/>
          <a:lstStyle/>
          <a:p>
            <a:pPr indent="0" marL="0">
              <a:buNone/>
            </a:pPr>
            <a:r>
              <a:rPr lang="en-US" sz="1450" b="1" dirty="0">
                <a:solidFill>
                  <a:srgbClr val="8FA3C4"/>
                </a:solidFill>
                <a:latin typeface="Calibri" pitchFamily="34" charset="0"/>
                <a:ea typeface="Calibri" pitchFamily="34" charset="-122"/>
                <a:cs typeface="Calibri" pitchFamily="34" charset="-120"/>
              </a:rPr>
              <a:t>The twist</a:t>
            </a:r>
            <a:endParaRPr lang="en-US" sz="1450" dirty="0"/>
          </a:p>
        </p:txBody>
      </p:sp>
      <p:sp>
        <p:nvSpPr>
          <p:cNvPr id="17" name="Text 15"/>
          <p:cNvSpPr/>
          <p:nvPr/>
        </p:nvSpPr>
        <p:spPr>
          <a:xfrm>
            <a:off x="6565392" y="4983480"/>
            <a:ext cx="4773168" cy="1097280"/>
          </a:xfrm>
          <a:prstGeom prst="rect">
            <a:avLst/>
          </a:prstGeom>
          <a:noFill/>
          <a:ln/>
        </p:spPr>
        <p:txBody>
          <a:bodyPr wrap="square" lIns="0" tIns="0" rIns="0" bIns="0" rtlCol="0" anchor="ctr"/>
          <a:lstStyle/>
          <a:p>
            <a:pPr indent="0" marL="0">
              <a:lnSpc>
                <a:spcPct val="112000"/>
              </a:lnSpc>
              <a:buNone/>
            </a:pPr>
            <a:r>
              <a:rPr lang="en-US" sz="1400" dirty="0">
                <a:solidFill>
                  <a:srgbClr val="E4ECF7"/>
                </a:solidFill>
                <a:latin typeface="Calibri" pitchFamily="34" charset="0"/>
                <a:ea typeface="Calibri" pitchFamily="34" charset="-122"/>
                <a:cs typeface="Calibri" pitchFamily="34" charset="-120"/>
              </a:rPr>
              <a:t>The flow method's IMD signal lives in the </a:t>
            </a:r>
            <a:pPr indent="0" marL="0">
              <a:lnSpc>
                <a:spcPct val="112000"/>
              </a:lnSpc>
              <a:buNone/>
            </a:pPr>
            <a:r>
              <a:rPr lang="en-US" sz="1400" b="1" dirty="0">
                <a:solidFill>
                  <a:srgbClr val="9FC0E6"/>
                </a:solidFill>
                <a:latin typeface="Calibri" pitchFamily="34" charset="0"/>
                <a:ea typeface="Calibri" pitchFamily="34" charset="-122"/>
                <a:cs typeface="Calibri" pitchFamily="34" charset="-120"/>
              </a:rPr>
              <a:t>counter</a:t>
            </a:r>
            <a:pPr indent="0" marL="0">
              <a:lnSpc>
                <a:spcPct val="112000"/>
              </a:lnSpc>
              <a:buNone/>
            </a:pPr>
            <a:r>
              <a:rPr lang="en-US" sz="1400" dirty="0">
                <a:solidFill>
                  <a:srgbClr val="E4ECF7"/>
                </a:solidFill>
                <a:latin typeface="Calibri" pitchFamily="34" charset="0"/>
                <a:ea typeface="Calibri" pitchFamily="34" charset="-122"/>
                <a:cs typeface="Calibri" pitchFamily="34" charset="-120"/>
              </a:rPr>
              <a:t> direction — not the cascade one. The rare agreement is confined to </a:t>
            </a:r>
            <a:pPr indent="0" marL="0">
              <a:lnSpc>
                <a:spcPct val="112000"/>
              </a:lnSpc>
              <a:buNone/>
            </a:pPr>
            <a:r>
              <a:rPr lang="en-US" sz="1400" b="1" dirty="0">
                <a:solidFill>
                  <a:srgbClr val="FFFFFF"/>
                </a:solidFill>
                <a:latin typeface="Calibri" pitchFamily="34" charset="0"/>
                <a:ea typeface="Calibri" pitchFamily="34" charset="-122"/>
                <a:cs typeface="Calibri" pitchFamily="34" charset="-120"/>
              </a:rPr>
              <a:t>2011 inner London</a:t>
            </a:r>
            <a:pPr indent="0" marL="0">
              <a:lnSpc>
                <a:spcPct val="112000"/>
              </a:lnSpc>
              <a:buNone/>
            </a:pPr>
            <a:r>
              <a:rPr lang="en-US" sz="1400" dirty="0">
                <a:solidFill>
                  <a:srgbClr val="E4ECF7"/>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1000232" cy="292608"/>
          </a:xfrm>
          <a:prstGeom prst="rect">
            <a:avLst/>
          </a:prstGeom>
          <a:noFill/>
          <a:ln/>
        </p:spPr>
        <p:txBody>
          <a:bodyPr wrap="square" lIns="0" tIns="0" rIns="0" bIns="0" rtlCol="0" anchor="ctr"/>
          <a:lstStyle/>
          <a:p>
            <a:pPr indent="0" marL="0">
              <a:buNone/>
            </a:pPr>
            <a:r>
              <a:rPr lang="en-US" sz="1200" b="1" spc="200" kern="0" dirty="0">
                <a:solidFill>
                  <a:srgbClr val="C6551A"/>
                </a:solidFill>
                <a:latin typeface="Calibri" pitchFamily="34" charset="0"/>
                <a:ea typeface="Calibri" pitchFamily="34" charset="-122"/>
                <a:cs typeface="Calibri" pitchFamily="34" charset="-120"/>
              </a:rPr>
              <a:t>FINDINGS · 2</a:t>
            </a:r>
            <a:endParaRPr lang="en-US" sz="1200" dirty="0"/>
          </a:p>
        </p:txBody>
      </p:sp>
      <p:sp>
        <p:nvSpPr>
          <p:cNvPr id="3" name="Text 1"/>
          <p:cNvSpPr/>
          <p:nvPr/>
        </p:nvSpPr>
        <p:spPr>
          <a:xfrm>
            <a:off x="594360" y="749808"/>
            <a:ext cx="11000232" cy="822960"/>
          </a:xfrm>
          <a:prstGeom prst="rect">
            <a:avLst/>
          </a:prstGeom>
          <a:noFill/>
          <a:ln/>
        </p:spPr>
        <p:txBody>
          <a:bodyPr wrap="square" lIns="0" tIns="0" rIns="0" bIns="0" rtlCol="0" anchor="t"/>
          <a:lstStyle/>
          <a:p>
            <a:pPr algn="l" indent="0" marL="0">
              <a:lnSpc>
                <a:spcPct val="98000"/>
              </a:lnSpc>
              <a:buNone/>
            </a:pPr>
            <a:r>
              <a:rPr lang="en-US" sz="3200" b="1" dirty="0">
                <a:solidFill>
                  <a:srgbClr val="16233B"/>
                </a:solidFill>
                <a:latin typeface="Cambria" pitchFamily="34" charset="0"/>
                <a:ea typeface="Cambria" pitchFamily="34" charset="-122"/>
                <a:cs typeface="Cambria" pitchFamily="34" charset="-120"/>
              </a:rPr>
              <a:t>2021's cascade signal is an exodus, not relocation</a:t>
            </a:r>
            <a:endParaRPr lang="en-US" sz="3200" dirty="0"/>
          </a:p>
        </p:txBody>
      </p:sp>
      <p:sp>
        <p:nvSpPr>
          <p:cNvPr id="4" name="Text 2"/>
          <p:cNvSpPr/>
          <p:nvPr/>
        </p:nvSpPr>
        <p:spPr>
          <a:xfrm>
            <a:off x="594360" y="1783080"/>
            <a:ext cx="3383280" cy="868680"/>
          </a:xfrm>
          <a:prstGeom prst="rect">
            <a:avLst/>
          </a:prstGeom>
          <a:noFill/>
          <a:ln/>
        </p:spPr>
        <p:txBody>
          <a:bodyPr wrap="square" lIns="0" tIns="0" rIns="0" bIns="0" rtlCol="0" anchor="ctr"/>
          <a:lstStyle/>
          <a:p>
            <a:pPr algn="ctr" indent="0" marL="0">
              <a:buNone/>
            </a:pPr>
            <a:r>
              <a:rPr lang="en-US" sz="5200" b="1" dirty="0">
                <a:solidFill>
                  <a:srgbClr val="C6551A"/>
                </a:solidFill>
                <a:latin typeface="Cambria" pitchFamily="34" charset="0"/>
                <a:ea typeface="Cambria" pitchFamily="34" charset="-122"/>
                <a:cs typeface="Cambria" pitchFamily="34" charset="-120"/>
              </a:rPr>
              <a:t>+51%</a:t>
            </a:r>
            <a:endParaRPr lang="en-US" sz="5200" dirty="0"/>
          </a:p>
        </p:txBody>
      </p:sp>
      <p:sp>
        <p:nvSpPr>
          <p:cNvPr id="5" name="Text 3"/>
          <p:cNvSpPr/>
          <p:nvPr/>
        </p:nvSpPr>
        <p:spPr>
          <a:xfrm>
            <a:off x="594360" y="2670048"/>
            <a:ext cx="3383280" cy="640080"/>
          </a:xfrm>
          <a:prstGeom prst="rect">
            <a:avLst/>
          </a:prstGeom>
          <a:noFill/>
          <a:ln/>
        </p:spPr>
        <p:txBody>
          <a:bodyPr wrap="square" lIns="0" tIns="0" rIns="0" bIns="0" rtlCol="0" anchor="ctr"/>
          <a:lstStyle/>
          <a:p>
            <a:pPr algn="ctr" indent="0" marL="0">
              <a:lnSpc>
                <a:spcPct val="100000"/>
              </a:lnSpc>
              <a:buNone/>
            </a:pPr>
            <a:r>
              <a:rPr lang="en-US" sz="1300" dirty="0">
                <a:solidFill>
                  <a:srgbClr val="2A3547"/>
                </a:solidFill>
                <a:latin typeface="Calibri" pitchFamily="34" charset="0"/>
                <a:ea typeface="Calibri" pitchFamily="34" charset="-122"/>
                <a:cs typeface="Calibri" pitchFamily="34" charset="-120"/>
              </a:rPr>
              <a:t>external outflow from</a:t>
            </a:r>
            <a:endParaRPr lang="en-US" sz="1300" dirty="0"/>
          </a:p>
          <a:p>
            <a:pPr algn="ctr" indent="0" marL="0">
              <a:lnSpc>
                <a:spcPct val="100000"/>
              </a:lnSpc>
              <a:buNone/>
            </a:pPr>
            <a:r>
              <a:rPr lang="en-US" sz="1300" dirty="0">
                <a:solidFill>
                  <a:srgbClr val="2A3547"/>
                </a:solidFill>
                <a:latin typeface="Calibri" pitchFamily="34" charset="0"/>
                <a:ea typeface="Calibri" pitchFamily="34" charset="-122"/>
                <a:cs typeface="Calibri" pitchFamily="34" charset="-120"/>
              </a:rPr>
              <a:t>London, 2011 → 2021</a:t>
            </a:r>
            <a:endParaRPr lang="en-US" sz="1300" dirty="0"/>
          </a:p>
        </p:txBody>
      </p:sp>
      <p:sp>
        <p:nvSpPr>
          <p:cNvPr id="6" name="Text 4"/>
          <p:cNvSpPr/>
          <p:nvPr/>
        </p:nvSpPr>
        <p:spPr>
          <a:xfrm>
            <a:off x="4206240" y="1783080"/>
            <a:ext cx="3383280" cy="868680"/>
          </a:xfrm>
          <a:prstGeom prst="rect">
            <a:avLst/>
          </a:prstGeom>
          <a:noFill/>
          <a:ln/>
        </p:spPr>
        <p:txBody>
          <a:bodyPr wrap="square" lIns="0" tIns="0" rIns="0" bIns="0" rtlCol="0" anchor="ctr"/>
          <a:lstStyle/>
          <a:p>
            <a:pPr algn="ctr" indent="0" marL="0">
              <a:buNone/>
            </a:pPr>
            <a:r>
              <a:rPr lang="en-US" sz="5200" b="1" dirty="0">
                <a:solidFill>
                  <a:srgbClr val="245C99"/>
                </a:solidFill>
                <a:latin typeface="Cambria" pitchFamily="34" charset="0"/>
                <a:ea typeface="Cambria" pitchFamily="34" charset="-122"/>
                <a:cs typeface="Cambria" pitchFamily="34" charset="-120"/>
              </a:rPr>
              <a:t>53→116</a:t>
            </a:r>
            <a:endParaRPr lang="en-US" sz="5200" dirty="0"/>
          </a:p>
        </p:txBody>
      </p:sp>
      <p:sp>
        <p:nvSpPr>
          <p:cNvPr id="7" name="Text 5"/>
          <p:cNvSpPr/>
          <p:nvPr/>
        </p:nvSpPr>
        <p:spPr>
          <a:xfrm>
            <a:off x="4206240" y="2670048"/>
            <a:ext cx="3383280" cy="640080"/>
          </a:xfrm>
          <a:prstGeom prst="rect">
            <a:avLst/>
          </a:prstGeom>
          <a:noFill/>
          <a:ln/>
        </p:spPr>
        <p:txBody>
          <a:bodyPr wrap="square" lIns="0" tIns="0" rIns="0" bIns="0" rtlCol="0" anchor="ctr"/>
          <a:lstStyle/>
          <a:p>
            <a:pPr algn="ctr" indent="0" marL="0">
              <a:lnSpc>
                <a:spcPct val="100000"/>
              </a:lnSpc>
              <a:buNone/>
            </a:pPr>
            <a:r>
              <a:rPr lang="en-US" sz="1300" dirty="0">
                <a:solidFill>
                  <a:srgbClr val="2A3547"/>
                </a:solidFill>
                <a:latin typeface="Calibri" pitchFamily="34" charset="0"/>
                <a:ea typeface="Calibri" pitchFamily="34" charset="-122"/>
                <a:cs typeface="Calibri" pitchFamily="34" charset="-120"/>
              </a:rPr>
              <a:t>net-exporter MSOAs</a:t>
            </a:r>
            <a:endParaRPr lang="en-US" sz="1300" dirty="0"/>
          </a:p>
          <a:p>
            <a:pPr algn="ctr" indent="0" marL="0">
              <a:lnSpc>
                <a:spcPct val="100000"/>
              </a:lnSpc>
              <a:buNone/>
            </a:pPr>
            <a:r>
              <a:rPr lang="en-US" sz="1300" dirty="0">
                <a:solidFill>
                  <a:srgbClr val="2A3547"/>
                </a:solidFill>
                <a:latin typeface="Calibri" pitchFamily="34" charset="0"/>
                <a:ea typeface="Calibri" pitchFamily="34" charset="-122"/>
                <a:cs typeface="Calibri" pitchFamily="34" charset="-120"/>
              </a:rPr>
              <a:t>(+119%, national frame)</a:t>
            </a:r>
            <a:endParaRPr lang="en-US" sz="1300" dirty="0"/>
          </a:p>
        </p:txBody>
      </p:sp>
      <p:sp>
        <p:nvSpPr>
          <p:cNvPr id="8" name="Text 6"/>
          <p:cNvSpPr/>
          <p:nvPr/>
        </p:nvSpPr>
        <p:spPr>
          <a:xfrm>
            <a:off x="7818120" y="1783080"/>
            <a:ext cx="3383280" cy="868680"/>
          </a:xfrm>
          <a:prstGeom prst="rect">
            <a:avLst/>
          </a:prstGeom>
          <a:noFill/>
          <a:ln/>
        </p:spPr>
        <p:txBody>
          <a:bodyPr wrap="square" lIns="0" tIns="0" rIns="0" bIns="0" rtlCol="0" anchor="ctr"/>
          <a:lstStyle/>
          <a:p>
            <a:pPr algn="ctr" indent="0" marL="0">
              <a:buNone/>
            </a:pPr>
            <a:r>
              <a:rPr lang="en-US" sz="5200" b="1" dirty="0">
                <a:solidFill>
                  <a:srgbClr val="16233B"/>
                </a:solidFill>
                <a:latin typeface="Cambria" pitchFamily="34" charset="0"/>
                <a:ea typeface="Cambria" pitchFamily="34" charset="-122"/>
                <a:cs typeface="Cambria" pitchFamily="34" charset="-120"/>
              </a:rPr>
              <a:t>85%</a:t>
            </a:r>
            <a:endParaRPr lang="en-US" sz="5200" dirty="0"/>
          </a:p>
        </p:txBody>
      </p:sp>
      <p:sp>
        <p:nvSpPr>
          <p:cNvPr id="9" name="Text 7"/>
          <p:cNvSpPr/>
          <p:nvPr/>
        </p:nvSpPr>
        <p:spPr>
          <a:xfrm>
            <a:off x="7818120" y="2670048"/>
            <a:ext cx="3383280" cy="640080"/>
          </a:xfrm>
          <a:prstGeom prst="rect">
            <a:avLst/>
          </a:prstGeom>
          <a:noFill/>
          <a:ln/>
        </p:spPr>
        <p:txBody>
          <a:bodyPr wrap="square" lIns="0" tIns="0" rIns="0" bIns="0" rtlCol="0" anchor="ctr"/>
          <a:lstStyle/>
          <a:p>
            <a:pPr algn="ctr" indent="0" marL="0">
              <a:lnSpc>
                <a:spcPct val="100000"/>
              </a:lnSpc>
              <a:buNone/>
            </a:pPr>
            <a:r>
              <a:rPr lang="en-US" sz="1300" dirty="0">
                <a:solidFill>
                  <a:srgbClr val="2A3547"/>
                </a:solidFill>
                <a:latin typeface="Calibri" pitchFamily="34" charset="0"/>
                <a:ea typeface="Calibri" pitchFamily="34" charset="-122"/>
                <a:cs typeface="Calibri" pitchFamily="34" charset="-120"/>
              </a:rPr>
              <a:t>of 2021 cascade-led</a:t>
            </a:r>
            <a:endParaRPr lang="en-US" sz="1300" dirty="0"/>
          </a:p>
          <a:p>
            <a:pPr algn="ctr" indent="0" marL="0">
              <a:lnSpc>
                <a:spcPct val="100000"/>
              </a:lnSpc>
              <a:buNone/>
            </a:pPr>
            <a:r>
              <a:rPr lang="en-US" sz="1300" dirty="0">
                <a:solidFill>
                  <a:srgbClr val="2A3547"/>
                </a:solidFill>
                <a:latin typeface="Calibri" pitchFamily="34" charset="0"/>
                <a:ea typeface="Calibri" pitchFamily="34" charset="-122"/>
                <a:cs typeface="Calibri" pitchFamily="34" charset="-120"/>
              </a:rPr>
              <a:t>areas are outer London</a:t>
            </a:r>
            <a:endParaRPr lang="en-US" sz="1300" dirty="0"/>
          </a:p>
        </p:txBody>
      </p:sp>
      <p:sp>
        <p:nvSpPr>
          <p:cNvPr id="10" name="Shape 8"/>
          <p:cNvSpPr/>
          <p:nvPr/>
        </p:nvSpPr>
        <p:spPr>
          <a:xfrm>
            <a:off x="594360" y="3703320"/>
            <a:ext cx="5486400" cy="1600200"/>
          </a:xfrm>
          <a:prstGeom prst="roundRect">
            <a:avLst>
              <a:gd name="adj" fmla="val 5143"/>
            </a:avLst>
          </a:prstGeom>
          <a:solidFill>
            <a:srgbClr val="F9E6D6"/>
          </a:solidFill>
          <a:ln/>
          <a:effectLst>
            <a:outerShdw sx="100000" sy="100000" kx="0" ky="0" algn="bl" rotWithShape="0" blurRad="101600" dist="38100" dir="5400000">
              <a:srgbClr val="9AA6B8">
                <a:alpha val="28000"/>
              </a:srgbClr>
            </a:outerShdw>
          </a:effectLst>
        </p:spPr>
      </p:sp>
      <p:sp>
        <p:nvSpPr>
          <p:cNvPr id="11" name="Text 9"/>
          <p:cNvSpPr/>
          <p:nvPr/>
        </p:nvSpPr>
        <p:spPr>
          <a:xfrm>
            <a:off x="850392" y="3822192"/>
            <a:ext cx="4937760" cy="320040"/>
          </a:xfrm>
          <a:prstGeom prst="rect">
            <a:avLst/>
          </a:prstGeom>
          <a:noFill/>
          <a:ln/>
        </p:spPr>
        <p:txBody>
          <a:bodyPr wrap="square" lIns="0" tIns="0" rIns="0" bIns="0" rtlCol="0" anchor="ctr"/>
          <a:lstStyle/>
          <a:p>
            <a:pPr indent="0" marL="0">
              <a:buNone/>
            </a:pPr>
            <a:r>
              <a:rPr lang="en-US" sz="1450" b="1" dirty="0">
                <a:solidFill>
                  <a:srgbClr val="C6551A"/>
                </a:solidFill>
                <a:latin typeface="Calibri" pitchFamily="34" charset="0"/>
                <a:ea typeface="Calibri" pitchFamily="34" charset="-122"/>
                <a:cs typeface="Calibri" pitchFamily="34" charset="-120"/>
              </a:rPr>
              <a:t>Real gentrification cascade</a:t>
            </a:r>
            <a:endParaRPr lang="en-US" sz="1450" dirty="0"/>
          </a:p>
        </p:txBody>
      </p:sp>
      <p:sp>
        <p:nvSpPr>
          <p:cNvPr id="12" name="Text 10"/>
          <p:cNvSpPr/>
          <p:nvPr/>
        </p:nvSpPr>
        <p:spPr>
          <a:xfrm>
            <a:off x="850392" y="4160520"/>
            <a:ext cx="4983480" cy="1051560"/>
          </a:xfrm>
          <a:prstGeom prst="rect">
            <a:avLst/>
          </a:prstGeom>
          <a:noFill/>
          <a:ln/>
        </p:spPr>
        <p:txBody>
          <a:bodyPr wrap="square" lIns="0" tIns="0" rIns="0" bIns="0" rtlCol="0" anchor="ctr"/>
          <a:lstStyle/>
          <a:p>
            <a:pPr indent="0" marL="0">
              <a:lnSpc>
                <a:spcPct val="110000"/>
              </a:lnSpc>
              <a:buNone/>
            </a:pPr>
            <a:r>
              <a:rPr lang="en-US" sz="1350" b="1" dirty="0">
                <a:solidFill>
                  <a:srgbClr val="2A3547"/>
                </a:solidFill>
                <a:latin typeface="Calibri" pitchFamily="34" charset="0"/>
                <a:ea typeface="Calibri" pitchFamily="34" charset="-122"/>
                <a:cs typeface="Calibri" pitchFamily="34" charset="-120"/>
              </a:rPr>
              <a:t>high inflow share</a:t>
            </a:r>
            <a:pPr indent="0" marL="0">
              <a:lnSpc>
                <a:spcPct val="110000"/>
              </a:lnSpc>
              <a:buNone/>
            </a:pPr>
            <a:r>
              <a:rPr lang="en-US" sz="1350" dirty="0">
                <a:solidFill>
                  <a:srgbClr val="2A3547"/>
                </a:solidFill>
                <a:latin typeface="Calibri" pitchFamily="34" charset="0"/>
                <a:ea typeface="Calibri" pitchFamily="34" charset="-122"/>
                <a:cs typeface="Calibri" pitchFamily="34" charset="-120"/>
              </a:rPr>
              <a:t>  ·  small gap between frames  ·  persistent  ·  inner cores (Camden, Tower Hamlets)</a:t>
            </a:r>
            <a:endParaRPr lang="en-US" sz="1350" dirty="0"/>
          </a:p>
        </p:txBody>
      </p:sp>
      <p:sp>
        <p:nvSpPr>
          <p:cNvPr id="13" name="Shape 11"/>
          <p:cNvSpPr/>
          <p:nvPr/>
        </p:nvSpPr>
        <p:spPr>
          <a:xfrm>
            <a:off x="6309360" y="3703320"/>
            <a:ext cx="5285232" cy="1600200"/>
          </a:xfrm>
          <a:prstGeom prst="roundRect">
            <a:avLst>
              <a:gd name="adj" fmla="val 5143"/>
            </a:avLst>
          </a:prstGeom>
          <a:solidFill>
            <a:srgbClr val="DCE8F4"/>
          </a:solidFill>
          <a:ln/>
          <a:effectLst>
            <a:outerShdw sx="100000" sy="100000" kx="0" ky="0" algn="bl" rotWithShape="0" blurRad="101600" dist="38100" dir="5400000">
              <a:srgbClr val="9AA6B8">
                <a:alpha val="28000"/>
              </a:srgbClr>
            </a:outerShdw>
          </a:effectLst>
        </p:spPr>
      </p:sp>
      <p:sp>
        <p:nvSpPr>
          <p:cNvPr id="14" name="Text 12"/>
          <p:cNvSpPr/>
          <p:nvPr/>
        </p:nvSpPr>
        <p:spPr>
          <a:xfrm>
            <a:off x="6565392" y="3822192"/>
            <a:ext cx="4572000" cy="320040"/>
          </a:xfrm>
          <a:prstGeom prst="rect">
            <a:avLst/>
          </a:prstGeom>
          <a:noFill/>
          <a:ln/>
        </p:spPr>
        <p:txBody>
          <a:bodyPr wrap="square" lIns="0" tIns="0" rIns="0" bIns="0" rtlCol="0" anchor="ctr"/>
          <a:lstStyle/>
          <a:p>
            <a:pPr indent="0" marL="0">
              <a:buNone/>
            </a:pPr>
            <a:r>
              <a:rPr lang="en-US" sz="1450" b="1" dirty="0">
                <a:solidFill>
                  <a:srgbClr val="245C99"/>
                </a:solidFill>
                <a:latin typeface="Calibri" pitchFamily="34" charset="0"/>
                <a:ea typeface="Calibri" pitchFamily="34" charset="-122"/>
                <a:cs typeface="Calibri" pitchFamily="34" charset="-120"/>
              </a:rPr>
              <a:t>Pandemic exodus</a:t>
            </a:r>
            <a:endParaRPr lang="en-US" sz="1450" dirty="0"/>
          </a:p>
        </p:txBody>
      </p:sp>
      <p:sp>
        <p:nvSpPr>
          <p:cNvPr id="15" name="Text 13"/>
          <p:cNvSpPr/>
          <p:nvPr/>
        </p:nvSpPr>
        <p:spPr>
          <a:xfrm>
            <a:off x="6565392" y="4160520"/>
            <a:ext cx="4773168" cy="1051560"/>
          </a:xfrm>
          <a:prstGeom prst="rect">
            <a:avLst/>
          </a:prstGeom>
          <a:noFill/>
          <a:ln/>
        </p:spPr>
        <p:txBody>
          <a:bodyPr wrap="square" lIns="0" tIns="0" rIns="0" bIns="0" rtlCol="0" anchor="ctr"/>
          <a:lstStyle/>
          <a:p>
            <a:pPr indent="0" marL="0">
              <a:lnSpc>
                <a:spcPct val="110000"/>
              </a:lnSpc>
              <a:buNone/>
            </a:pPr>
            <a:r>
              <a:rPr lang="en-US" sz="1350" b="1" dirty="0">
                <a:solidFill>
                  <a:srgbClr val="2A3547"/>
                </a:solidFill>
                <a:latin typeface="Calibri" pitchFamily="34" charset="0"/>
                <a:ea typeface="Calibri" pitchFamily="34" charset="-122"/>
                <a:cs typeface="Calibri" pitchFamily="34" charset="-120"/>
              </a:rPr>
              <a:t>low inflow share</a:t>
            </a:r>
            <a:pPr indent="0" marL="0">
              <a:lnSpc>
                <a:spcPct val="110000"/>
              </a:lnSpc>
              <a:buNone/>
            </a:pPr>
            <a:r>
              <a:rPr lang="en-US" sz="1350" dirty="0">
                <a:solidFill>
                  <a:srgbClr val="2A3547"/>
                </a:solidFill>
                <a:latin typeface="Calibri" pitchFamily="34" charset="0"/>
                <a:ea typeface="Calibri" pitchFamily="34" charset="-122"/>
                <a:cs typeface="Calibri" pitchFamily="34" charset="-120"/>
              </a:rPr>
              <a:t>  ·  large gap between frames  ·  episodic  ·  outer ring (Kingston, Harrow, Richmond, Sutton)</a:t>
            </a:r>
            <a:endParaRPr lang="en-US" sz="1350" dirty="0"/>
          </a:p>
        </p:txBody>
      </p:sp>
      <p:sp>
        <p:nvSpPr>
          <p:cNvPr id="16" name="Text 14"/>
          <p:cNvSpPr/>
          <p:nvPr/>
        </p:nvSpPr>
        <p:spPr>
          <a:xfrm>
            <a:off x="594360" y="5532120"/>
            <a:ext cx="11000232" cy="777240"/>
          </a:xfrm>
          <a:prstGeom prst="rect">
            <a:avLst/>
          </a:prstGeom>
          <a:noFill/>
          <a:ln/>
        </p:spPr>
        <p:txBody>
          <a:bodyPr wrap="square" lIns="0" tIns="0" rIns="0" bIns="0" rtlCol="0" anchor="ctr"/>
          <a:lstStyle/>
          <a:p>
            <a:pPr indent="0" marL="0">
              <a:lnSpc>
                <a:spcPct val="105000"/>
              </a:lnSpc>
              <a:buNone/>
            </a:pPr>
            <a:r>
              <a:rPr lang="en-US" sz="1300" b="1" i="1" dirty="0">
                <a:solidFill>
                  <a:srgbClr val="C6551A"/>
                </a:solidFill>
                <a:latin typeface="Calibri" pitchFamily="34" charset="0"/>
                <a:ea typeface="Calibri" pitchFamily="34" charset="-122"/>
                <a:cs typeface="Calibri" pitchFamily="34" charset="-120"/>
              </a:rPr>
              <a:t>Caveat:  </a:t>
            </a:r>
            <a:pPr indent="0" marL="0">
              <a:lnSpc>
                <a:spcPct val="105000"/>
              </a:lnSpc>
              <a:buNone/>
            </a:pPr>
            <a:r>
              <a:rPr lang="en-US" sz="1300" i="1" dirty="0">
                <a:solidFill>
                  <a:srgbClr val="6E7C90"/>
                </a:solidFill>
                <a:latin typeface="Calibri" pitchFamily="34" charset="0"/>
                <a:ea typeface="Calibri" pitchFamily="34" charset="-122"/>
                <a:cs typeface="Calibri" pitchFamily="34" charset="-120"/>
              </a:rPr>
              <a:t>the March 2021 census was taken under lockdown, which both caused the suburban shift and degraded migration measurement — the within-London decline shouldn't be over-read.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594360" y="640080"/>
            <a:ext cx="8229600" cy="320040"/>
          </a:xfrm>
          <a:prstGeom prst="rect">
            <a:avLst/>
          </a:prstGeom>
          <a:noFill/>
          <a:ln/>
        </p:spPr>
        <p:txBody>
          <a:bodyPr wrap="square" lIns="0" tIns="0" rIns="0" bIns="0" rtlCol="0" anchor="ctr"/>
          <a:lstStyle/>
          <a:p>
            <a:pPr indent="0" marL="0">
              <a:buNone/>
            </a:pPr>
            <a:r>
              <a:rPr lang="en-US" sz="1300" b="1" spc="200" kern="0" dirty="0">
                <a:solidFill>
                  <a:srgbClr val="8FA3C4"/>
                </a:solidFill>
                <a:latin typeface="Calibri" pitchFamily="34" charset="0"/>
                <a:ea typeface="Calibri" pitchFamily="34" charset="-122"/>
                <a:cs typeface="Calibri" pitchFamily="34" charset="-120"/>
              </a:rPr>
              <a:t>CONCLUSION</a:t>
            </a:r>
            <a:endParaRPr lang="en-US" sz="1300" dirty="0"/>
          </a:p>
        </p:txBody>
      </p:sp>
      <p:sp>
        <p:nvSpPr>
          <p:cNvPr id="3" name="Text 1"/>
          <p:cNvSpPr/>
          <p:nvPr/>
        </p:nvSpPr>
        <p:spPr>
          <a:xfrm>
            <a:off x="594360" y="1005840"/>
            <a:ext cx="11000232" cy="914400"/>
          </a:xfrm>
          <a:prstGeom prst="rect">
            <a:avLst/>
          </a:prstGeom>
          <a:noFill/>
          <a:ln/>
        </p:spPr>
        <p:txBody>
          <a:bodyPr wrap="square" lIns="0" tIns="0" rIns="0" bIns="0" rtlCol="0" anchor="ctr"/>
          <a:lstStyle/>
          <a:p>
            <a:pPr indent="0" marL="0">
              <a:lnSpc>
                <a:spcPct val="98000"/>
              </a:lnSpc>
              <a:buNone/>
            </a:pPr>
            <a:r>
              <a:rPr lang="en-US" sz="3200" b="1" dirty="0">
                <a:solidFill>
                  <a:srgbClr val="FFFFFF"/>
                </a:solidFill>
                <a:latin typeface="Cambria" pitchFamily="34" charset="0"/>
                <a:ea typeface="Cambria" pitchFamily="34" charset="-122"/>
                <a:cs typeface="Cambria" pitchFamily="34" charset="-120"/>
              </a:rPr>
              <a:t>Why cascade and gentrification don't imply each other</a:t>
            </a:r>
            <a:endParaRPr lang="en-US" sz="3200" dirty="0"/>
          </a:p>
        </p:txBody>
      </p:sp>
      <p:sp>
        <p:nvSpPr>
          <p:cNvPr id="4" name="Shape 2"/>
          <p:cNvSpPr/>
          <p:nvPr/>
        </p:nvSpPr>
        <p:spPr>
          <a:xfrm>
            <a:off x="594360" y="2286000"/>
            <a:ext cx="5349240" cy="1828800"/>
          </a:xfrm>
          <a:prstGeom prst="roundRect">
            <a:avLst>
              <a:gd name="adj" fmla="val 5000"/>
            </a:avLst>
          </a:prstGeom>
          <a:solidFill>
            <a:srgbClr val="223250"/>
          </a:solidFill>
          <a:ln/>
        </p:spPr>
      </p:sp>
      <p:sp>
        <p:nvSpPr>
          <p:cNvPr id="5" name="Text 3"/>
          <p:cNvSpPr/>
          <p:nvPr/>
        </p:nvSpPr>
        <p:spPr>
          <a:xfrm>
            <a:off x="868680" y="2487168"/>
            <a:ext cx="548640" cy="548640"/>
          </a:xfrm>
          <a:prstGeom prst="rect">
            <a:avLst/>
          </a:prstGeom>
          <a:noFill/>
          <a:ln/>
        </p:spPr>
        <p:txBody>
          <a:bodyPr wrap="square" lIns="0" tIns="0" rIns="0" bIns="0" rtlCol="0" anchor="ctr"/>
          <a:lstStyle/>
          <a:p>
            <a:pPr indent="0" marL="0">
              <a:buNone/>
            </a:pPr>
            <a:r>
              <a:rPr lang="en-US" sz="3000" b="1" dirty="0">
                <a:solidFill>
                  <a:srgbClr val="C6551A"/>
                </a:solidFill>
                <a:latin typeface="Cambria" pitchFamily="34" charset="0"/>
                <a:ea typeface="Cambria" pitchFamily="34" charset="-122"/>
                <a:cs typeface="Cambria" pitchFamily="34" charset="-120"/>
              </a:rPr>
              <a:t>1</a:t>
            </a:r>
            <a:endParaRPr lang="en-US" sz="3000" dirty="0"/>
          </a:p>
        </p:txBody>
      </p:sp>
      <p:sp>
        <p:nvSpPr>
          <p:cNvPr id="6" name="Text 4"/>
          <p:cNvSpPr/>
          <p:nvPr/>
        </p:nvSpPr>
        <p:spPr>
          <a:xfrm>
            <a:off x="868680" y="3063240"/>
            <a:ext cx="4800600" cy="960120"/>
          </a:xfrm>
          <a:prstGeom prst="rect">
            <a:avLst/>
          </a:prstGeom>
          <a:noFill/>
          <a:ln/>
        </p:spPr>
        <p:txBody>
          <a:bodyPr wrap="square" lIns="0" tIns="0" rIns="0" bIns="0" rtlCol="0" anchor="ctr"/>
          <a:lstStyle/>
          <a:p>
            <a:pPr indent="0" marL="0">
              <a:lnSpc>
                <a:spcPct val="108000"/>
              </a:lnSpc>
              <a:spcAft>
                <a:spcPts val="500"/>
              </a:spcAft>
              <a:buNone/>
            </a:pPr>
            <a:r>
              <a:rPr lang="en-US" sz="1700" b="1" dirty="0">
                <a:solidFill>
                  <a:srgbClr val="FFFFFF"/>
                </a:solidFill>
                <a:latin typeface="Calibri" pitchFamily="34" charset="0"/>
                <a:ea typeface="Calibri" pitchFamily="34" charset="-122"/>
                <a:cs typeface="Calibri" pitchFamily="34" charset="-120"/>
              </a:rPr>
              <a:t>Measurement decoupling</a:t>
            </a:r>
            <a:endParaRPr lang="en-US" sz="1700" dirty="0"/>
          </a:p>
          <a:p>
            <a:pPr indent="0" marL="0">
              <a:lnSpc>
                <a:spcPct val="108000"/>
              </a:lnSpc>
              <a:spcAft>
                <a:spcPts val="500"/>
              </a:spcAft>
              <a:buNone/>
            </a:pPr>
            <a:r>
              <a:rPr lang="en-US" sz="1350" dirty="0">
                <a:solidFill>
                  <a:srgbClr val="CAD6EA"/>
                </a:solidFill>
                <a:latin typeface="Calibri" pitchFamily="34" charset="0"/>
                <a:ea typeface="Calibri" pitchFamily="34" charset="-122"/>
                <a:cs typeface="Calibri" pitchFamily="34" charset="-120"/>
              </a:rPr>
              <a:t>Flows and attributes capture different processes — one is who is there, the other is how the hierarchy is being reshuffled.</a:t>
            </a:r>
            <a:endParaRPr lang="en-US" sz="1700" dirty="0"/>
          </a:p>
        </p:txBody>
      </p:sp>
      <p:sp>
        <p:nvSpPr>
          <p:cNvPr id="7" name="Shape 5"/>
          <p:cNvSpPr/>
          <p:nvPr/>
        </p:nvSpPr>
        <p:spPr>
          <a:xfrm>
            <a:off x="6355080" y="2286000"/>
            <a:ext cx="5212080" cy="1828800"/>
          </a:xfrm>
          <a:prstGeom prst="roundRect">
            <a:avLst>
              <a:gd name="adj" fmla="val 5000"/>
            </a:avLst>
          </a:prstGeom>
          <a:solidFill>
            <a:srgbClr val="223250"/>
          </a:solidFill>
          <a:ln/>
        </p:spPr>
      </p:sp>
      <p:sp>
        <p:nvSpPr>
          <p:cNvPr id="8" name="Text 6"/>
          <p:cNvSpPr/>
          <p:nvPr/>
        </p:nvSpPr>
        <p:spPr>
          <a:xfrm>
            <a:off x="6629400" y="2487168"/>
            <a:ext cx="548640" cy="548640"/>
          </a:xfrm>
          <a:prstGeom prst="rect">
            <a:avLst/>
          </a:prstGeom>
          <a:noFill/>
          <a:ln/>
        </p:spPr>
        <p:txBody>
          <a:bodyPr wrap="square" lIns="0" tIns="0" rIns="0" bIns="0" rtlCol="0" anchor="ctr"/>
          <a:lstStyle/>
          <a:p>
            <a:pPr indent="0" marL="0">
              <a:buNone/>
            </a:pPr>
            <a:r>
              <a:rPr lang="en-US" sz="3000" b="1" dirty="0">
                <a:solidFill>
                  <a:srgbClr val="6FA0D6"/>
                </a:solidFill>
                <a:latin typeface="Cambria" pitchFamily="34" charset="0"/>
                <a:ea typeface="Cambria" pitchFamily="34" charset="-122"/>
                <a:cs typeface="Cambria" pitchFamily="34" charset="-120"/>
              </a:rPr>
              <a:t>2</a:t>
            </a:r>
            <a:endParaRPr lang="en-US" sz="3000" dirty="0"/>
          </a:p>
        </p:txBody>
      </p:sp>
      <p:sp>
        <p:nvSpPr>
          <p:cNvPr id="9" name="Text 7"/>
          <p:cNvSpPr/>
          <p:nvPr/>
        </p:nvSpPr>
        <p:spPr>
          <a:xfrm>
            <a:off x="6629400" y="3063240"/>
            <a:ext cx="4663440" cy="960120"/>
          </a:xfrm>
          <a:prstGeom prst="rect">
            <a:avLst/>
          </a:prstGeom>
          <a:noFill/>
          <a:ln/>
        </p:spPr>
        <p:txBody>
          <a:bodyPr wrap="square" lIns="0" tIns="0" rIns="0" bIns="0" rtlCol="0" anchor="ctr"/>
          <a:lstStyle/>
          <a:p>
            <a:pPr indent="0" marL="0">
              <a:lnSpc>
                <a:spcPct val="108000"/>
              </a:lnSpc>
              <a:spcAft>
                <a:spcPts val="500"/>
              </a:spcAft>
              <a:buNone/>
            </a:pPr>
            <a:r>
              <a:rPr lang="en-US" sz="1700" b="1" dirty="0">
                <a:solidFill>
                  <a:srgbClr val="FFFFFF"/>
                </a:solidFill>
                <a:latin typeface="Calibri" pitchFamily="34" charset="0"/>
                <a:ea typeface="Calibri" pitchFamily="34" charset="-122"/>
                <a:cs typeface="Calibri" pitchFamily="34" charset="-120"/>
              </a:rPr>
              <a:t>Temporal shock</a:t>
            </a:r>
            <a:endParaRPr lang="en-US" sz="1700" dirty="0"/>
          </a:p>
          <a:p>
            <a:pPr indent="0" marL="0">
              <a:lnSpc>
                <a:spcPct val="108000"/>
              </a:lnSpc>
              <a:spcAft>
                <a:spcPts val="500"/>
              </a:spcAft>
              <a:buNone/>
            </a:pPr>
            <a:r>
              <a:rPr lang="en-US" sz="1350" dirty="0">
                <a:solidFill>
                  <a:srgbClr val="CAD6EA"/>
                </a:solidFill>
                <a:latin typeface="Calibri" pitchFamily="34" charset="0"/>
                <a:ea typeface="Calibri" pitchFamily="34" charset="-122"/>
                <a:cs typeface="Calibri" pitchFamily="34" charset="-120"/>
              </a:rPr>
              <a:t>2021's flows are dominated by a one-off pandemic exodus, not gentrification relocating outward.</a:t>
            </a:r>
            <a:endParaRPr lang="en-US" sz="1700" dirty="0"/>
          </a:p>
        </p:txBody>
      </p:sp>
      <p:sp>
        <p:nvSpPr>
          <p:cNvPr id="10" name="Shape 8"/>
          <p:cNvSpPr/>
          <p:nvPr/>
        </p:nvSpPr>
        <p:spPr>
          <a:xfrm>
            <a:off x="594360" y="4343400"/>
            <a:ext cx="11000232" cy="1600200"/>
          </a:xfrm>
          <a:prstGeom prst="roundRect">
            <a:avLst>
              <a:gd name="adj" fmla="val 5714"/>
            </a:avLst>
          </a:prstGeom>
          <a:solidFill>
            <a:srgbClr val="1C2E4E"/>
          </a:solidFill>
          <a:ln/>
        </p:spPr>
      </p:sp>
      <p:sp>
        <p:nvSpPr>
          <p:cNvPr id="11" name="Text 9"/>
          <p:cNvSpPr/>
          <p:nvPr/>
        </p:nvSpPr>
        <p:spPr>
          <a:xfrm>
            <a:off x="868680" y="4498848"/>
            <a:ext cx="5486400" cy="274320"/>
          </a:xfrm>
          <a:prstGeom prst="rect">
            <a:avLst/>
          </a:prstGeom>
          <a:noFill/>
          <a:ln/>
        </p:spPr>
        <p:txBody>
          <a:bodyPr wrap="square" lIns="0" tIns="0" rIns="0" bIns="0" rtlCol="0" anchor="ctr"/>
          <a:lstStyle/>
          <a:p>
            <a:pPr indent="0" marL="0">
              <a:buNone/>
            </a:pPr>
            <a:r>
              <a:rPr lang="en-US" sz="1200" b="1" spc="200" kern="0" dirty="0">
                <a:solidFill>
                  <a:srgbClr val="C6551A"/>
                </a:solidFill>
                <a:latin typeface="Calibri" pitchFamily="34" charset="0"/>
                <a:ea typeface="Calibri" pitchFamily="34" charset="-122"/>
                <a:cs typeface="Calibri" pitchFamily="34" charset="-120"/>
              </a:rPr>
              <a:t>CONTRIBUTION</a:t>
            </a:r>
            <a:endParaRPr lang="en-US" sz="1200" dirty="0"/>
          </a:p>
        </p:txBody>
      </p:sp>
      <p:sp>
        <p:nvSpPr>
          <p:cNvPr id="12" name="Text 10"/>
          <p:cNvSpPr/>
          <p:nvPr/>
        </p:nvSpPr>
        <p:spPr>
          <a:xfrm>
            <a:off x="868680" y="4828032"/>
            <a:ext cx="10451592" cy="1005840"/>
          </a:xfrm>
          <a:prstGeom prst="rect">
            <a:avLst/>
          </a:prstGeom>
          <a:noFill/>
          <a:ln/>
        </p:spPr>
        <p:txBody>
          <a:bodyPr wrap="square" lIns="0" tIns="0" rIns="0" bIns="0" rtlCol="0" anchor="ctr"/>
          <a:lstStyle/>
          <a:p>
            <a:pPr indent="0" marL="0">
              <a:lnSpc>
                <a:spcPct val="112000"/>
              </a:lnSpc>
              <a:buNone/>
            </a:pPr>
            <a:r>
              <a:rPr lang="en-US" sz="1500" b="1" dirty="0">
                <a:solidFill>
                  <a:srgbClr val="FFFFFF"/>
                </a:solidFill>
                <a:latin typeface="Calibri" pitchFamily="34" charset="0"/>
                <a:ea typeface="Calibri" pitchFamily="34" charset="-122"/>
                <a:cs typeface="Calibri" pitchFamily="34" charset="-120"/>
              </a:rPr>
              <a:t>An open-data, whole-city flow lens plus a three-frame decomposition. </a:t>
            </a:r>
            <a:pPr indent="0" marL="0">
              <a:lnSpc>
                <a:spcPct val="112000"/>
              </a:lnSpc>
              <a:buNone/>
            </a:pPr>
            <a:r>
              <a:rPr lang="en-US" sz="1500" dirty="0">
                <a:solidFill>
                  <a:srgbClr val="D6E0F0"/>
                </a:solidFill>
                <a:latin typeface="Calibri" pitchFamily="34" charset="0"/>
                <a:ea typeface="Calibri" pitchFamily="34" charset="-122"/>
                <a:cs typeface="Calibri" pitchFamily="34" charset="-120"/>
              </a:rPr>
              <a:t>The divergence cells — where flows and attributes disagree — are exactly what attribute methods miss, and the decoupling converges with recent mover-level findings (Freeman et al. 2024).</a:t>
            </a:r>
            <a:endParaRPr lang="en-US" sz="1500" dirty="0"/>
          </a:p>
        </p:txBody>
      </p:sp>
      <p:sp>
        <p:nvSpPr>
          <p:cNvPr id="13" name="Text 11"/>
          <p:cNvSpPr/>
          <p:nvPr/>
        </p:nvSpPr>
        <p:spPr>
          <a:xfrm>
            <a:off x="594360" y="6172200"/>
            <a:ext cx="11000232" cy="457200"/>
          </a:xfrm>
          <a:prstGeom prst="rect">
            <a:avLst/>
          </a:prstGeom>
          <a:noFill/>
          <a:ln/>
        </p:spPr>
        <p:txBody>
          <a:bodyPr wrap="square" lIns="0" tIns="0" rIns="0" bIns="0" rtlCol="0" anchor="ctr"/>
          <a:lstStyle/>
          <a:p>
            <a:pPr algn="ctr" indent="0" marL="0">
              <a:buNone/>
            </a:pPr>
            <a:r>
              <a:rPr lang="en-US" sz="1500" i="1" dirty="0">
                <a:solidFill>
                  <a:srgbClr val="9FC0E6"/>
                </a:solidFill>
                <a:latin typeface="Cambria" pitchFamily="34" charset="0"/>
                <a:ea typeface="Cambria" pitchFamily="34" charset="-122"/>
                <a:cs typeface="Cambria" pitchFamily="34" charset="-120"/>
              </a:rPr>
              <a:t>Takeaway: a flow lens doesn't detect gentrification worse — it measures a different process, and reveals what attributes overlook.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1000232" cy="292608"/>
          </a:xfrm>
          <a:prstGeom prst="rect">
            <a:avLst/>
          </a:prstGeom>
          <a:noFill/>
          <a:ln/>
        </p:spPr>
        <p:txBody>
          <a:bodyPr wrap="square" lIns="0" tIns="0" rIns="0" bIns="0" rtlCol="0" anchor="ctr"/>
          <a:lstStyle/>
          <a:p>
            <a:pPr indent="0" marL="0">
              <a:buNone/>
            </a:pPr>
            <a:r>
              <a:rPr lang="en-US" sz="1200" b="1" spc="200" kern="0" dirty="0">
                <a:solidFill>
                  <a:srgbClr val="6E7C90"/>
                </a:solidFill>
                <a:latin typeface="Calibri" pitchFamily="34" charset="0"/>
                <a:ea typeface="Calibri" pitchFamily="34" charset="-122"/>
                <a:cs typeface="Calibri" pitchFamily="34" charset="-120"/>
              </a:rPr>
              <a:t>LIMITATIONS &amp; WHAT'S NEXT</a:t>
            </a:r>
            <a:endParaRPr lang="en-US" sz="1200" dirty="0"/>
          </a:p>
        </p:txBody>
      </p:sp>
      <p:sp>
        <p:nvSpPr>
          <p:cNvPr id="3" name="Text 1"/>
          <p:cNvSpPr/>
          <p:nvPr/>
        </p:nvSpPr>
        <p:spPr>
          <a:xfrm>
            <a:off x="594360" y="749808"/>
            <a:ext cx="11000232" cy="822960"/>
          </a:xfrm>
          <a:prstGeom prst="rect">
            <a:avLst/>
          </a:prstGeom>
          <a:noFill/>
          <a:ln/>
        </p:spPr>
        <p:txBody>
          <a:bodyPr wrap="square" lIns="0" tIns="0" rIns="0" bIns="0" rtlCol="0" anchor="t"/>
          <a:lstStyle/>
          <a:p>
            <a:pPr algn="l" indent="0" marL="0">
              <a:lnSpc>
                <a:spcPct val="98000"/>
              </a:lnSpc>
              <a:buNone/>
            </a:pPr>
            <a:r>
              <a:rPr lang="en-US" sz="3200" b="1" dirty="0">
                <a:solidFill>
                  <a:srgbClr val="16233B"/>
                </a:solidFill>
                <a:latin typeface="Cambria" pitchFamily="34" charset="0"/>
                <a:ea typeface="Cambria" pitchFamily="34" charset="-122"/>
                <a:cs typeface="Cambria" pitchFamily="34" charset="-120"/>
              </a:rPr>
              <a:t>What this can't say — and where it goes</a:t>
            </a:r>
            <a:endParaRPr lang="en-US" sz="3200" dirty="0"/>
          </a:p>
        </p:txBody>
      </p:sp>
      <p:sp>
        <p:nvSpPr>
          <p:cNvPr id="4" name="Shape 2"/>
          <p:cNvSpPr/>
          <p:nvPr/>
        </p:nvSpPr>
        <p:spPr>
          <a:xfrm>
            <a:off x="594360" y="1865376"/>
            <a:ext cx="146304" cy="146304"/>
          </a:xfrm>
          <a:prstGeom prst="ellipse">
            <a:avLst/>
          </a:prstGeom>
          <a:solidFill>
            <a:srgbClr val="C6551A"/>
          </a:solidFill>
          <a:ln/>
        </p:spPr>
      </p:sp>
      <p:sp>
        <p:nvSpPr>
          <p:cNvPr id="5" name="Text 3"/>
          <p:cNvSpPr/>
          <p:nvPr/>
        </p:nvSpPr>
        <p:spPr>
          <a:xfrm>
            <a:off x="914400" y="1737360"/>
            <a:ext cx="6583680" cy="658368"/>
          </a:xfrm>
          <a:prstGeom prst="rect">
            <a:avLst/>
          </a:prstGeom>
          <a:noFill/>
          <a:ln/>
        </p:spPr>
        <p:txBody>
          <a:bodyPr wrap="square" lIns="0" tIns="0" rIns="0" bIns="0" rtlCol="0" anchor="t"/>
          <a:lstStyle/>
          <a:p>
            <a:pPr indent="0" marL="0">
              <a:lnSpc>
                <a:spcPct val="103000"/>
              </a:lnSpc>
              <a:buNone/>
            </a:pPr>
            <a:r>
              <a:rPr lang="en-US" sz="1450" b="1" dirty="0">
                <a:solidFill>
                  <a:srgbClr val="16233B"/>
                </a:solidFill>
                <a:latin typeface="Calibri" pitchFamily="34" charset="0"/>
                <a:ea typeface="Calibri" pitchFamily="34" charset="-122"/>
                <a:cs typeface="Calibri" pitchFamily="34" charset="-120"/>
              </a:rPr>
              <a:t>Aggregation / ecological — </a:t>
            </a:r>
            <a:pPr indent="0" marL="0">
              <a:lnSpc>
                <a:spcPct val="103000"/>
              </a:lnSpc>
              <a:buNone/>
            </a:pPr>
            <a:r>
              <a:rPr lang="en-US" sz="1450" dirty="0">
                <a:solidFill>
                  <a:srgbClr val="2A3547"/>
                </a:solidFill>
                <a:latin typeface="Calibri" pitchFamily="34" charset="0"/>
                <a:ea typeface="Calibri" pitchFamily="34" charset="-122"/>
                <a:cs typeface="Calibri" pitchFamily="34" charset="-120"/>
              </a:rPr>
              <a:t>area-of-origin deprivation is a noisy proxy for a mover's wealth — no individual data.</a:t>
            </a:r>
            <a:endParaRPr lang="en-US" sz="1450" dirty="0"/>
          </a:p>
        </p:txBody>
      </p:sp>
      <p:sp>
        <p:nvSpPr>
          <p:cNvPr id="6" name="Shape 4"/>
          <p:cNvSpPr/>
          <p:nvPr/>
        </p:nvSpPr>
        <p:spPr>
          <a:xfrm>
            <a:off x="594360" y="2578608"/>
            <a:ext cx="146304" cy="146304"/>
          </a:xfrm>
          <a:prstGeom prst="ellipse">
            <a:avLst/>
          </a:prstGeom>
          <a:solidFill>
            <a:srgbClr val="C6551A"/>
          </a:solidFill>
          <a:ln/>
        </p:spPr>
      </p:sp>
      <p:sp>
        <p:nvSpPr>
          <p:cNvPr id="7" name="Text 5"/>
          <p:cNvSpPr/>
          <p:nvPr/>
        </p:nvSpPr>
        <p:spPr>
          <a:xfrm>
            <a:off x="914400" y="2450592"/>
            <a:ext cx="6583680" cy="658368"/>
          </a:xfrm>
          <a:prstGeom prst="rect">
            <a:avLst/>
          </a:prstGeom>
          <a:noFill/>
          <a:ln/>
        </p:spPr>
        <p:txBody>
          <a:bodyPr wrap="square" lIns="0" tIns="0" rIns="0" bIns="0" rtlCol="0" anchor="t"/>
          <a:lstStyle/>
          <a:p>
            <a:pPr indent="0" marL="0">
              <a:lnSpc>
                <a:spcPct val="103000"/>
              </a:lnSpc>
              <a:buNone/>
            </a:pPr>
            <a:r>
              <a:rPr lang="en-US" sz="1450" b="1" dirty="0">
                <a:solidFill>
                  <a:srgbClr val="16233B"/>
                </a:solidFill>
                <a:latin typeface="Calibri" pitchFamily="34" charset="0"/>
                <a:ea typeface="Calibri" pitchFamily="34" charset="-122"/>
                <a:cs typeface="Calibri" pitchFamily="34" charset="-120"/>
              </a:rPr>
              <a:t>Temporal mismatch — </a:t>
            </a:r>
            <a:pPr indent="0" marL="0">
              <a:lnSpc>
                <a:spcPct val="103000"/>
              </a:lnSpc>
              <a:buNone/>
            </a:pPr>
            <a:r>
              <a:rPr lang="en-US" sz="1450" dirty="0">
                <a:solidFill>
                  <a:srgbClr val="2A3547"/>
                </a:solidFill>
                <a:latin typeface="Calibri" pitchFamily="34" charset="0"/>
                <a:ea typeface="Calibri" pitchFamily="34" charset="-122"/>
                <a:cs typeface="Calibri" pitchFamily="34" charset="-120"/>
              </a:rPr>
              <a:t>flows are 2011/2021; the IMD outcome is 2010→2019.</a:t>
            </a:r>
            <a:endParaRPr lang="en-US" sz="1450" dirty="0"/>
          </a:p>
        </p:txBody>
      </p:sp>
      <p:sp>
        <p:nvSpPr>
          <p:cNvPr id="8" name="Shape 6"/>
          <p:cNvSpPr/>
          <p:nvPr/>
        </p:nvSpPr>
        <p:spPr>
          <a:xfrm>
            <a:off x="594360" y="3291840"/>
            <a:ext cx="146304" cy="146304"/>
          </a:xfrm>
          <a:prstGeom prst="ellipse">
            <a:avLst/>
          </a:prstGeom>
          <a:solidFill>
            <a:srgbClr val="C6551A"/>
          </a:solidFill>
          <a:ln/>
        </p:spPr>
      </p:sp>
      <p:sp>
        <p:nvSpPr>
          <p:cNvPr id="9" name="Text 7"/>
          <p:cNvSpPr/>
          <p:nvPr/>
        </p:nvSpPr>
        <p:spPr>
          <a:xfrm>
            <a:off x="914400" y="3163824"/>
            <a:ext cx="6583680" cy="658368"/>
          </a:xfrm>
          <a:prstGeom prst="rect">
            <a:avLst/>
          </a:prstGeom>
          <a:noFill/>
          <a:ln/>
        </p:spPr>
        <p:txBody>
          <a:bodyPr wrap="square" lIns="0" tIns="0" rIns="0" bIns="0" rtlCol="0" anchor="t"/>
          <a:lstStyle/>
          <a:p>
            <a:pPr indent="0" marL="0">
              <a:lnSpc>
                <a:spcPct val="103000"/>
              </a:lnSpc>
              <a:buNone/>
            </a:pPr>
            <a:r>
              <a:rPr lang="en-US" sz="1450" b="1" dirty="0">
                <a:solidFill>
                  <a:srgbClr val="16233B"/>
                </a:solidFill>
                <a:latin typeface="Calibri" pitchFamily="34" charset="0"/>
                <a:ea typeface="Calibri" pitchFamily="34" charset="-122"/>
                <a:cs typeface="Calibri" pitchFamily="34" charset="-120"/>
              </a:rPr>
              <a:t>Aging ladder — </a:t>
            </a:r>
            <a:pPr indent="0" marL="0">
              <a:lnSpc>
                <a:spcPct val="103000"/>
              </a:lnSpc>
              <a:buNone/>
            </a:pPr>
            <a:r>
              <a:rPr lang="en-US" sz="1450" dirty="0">
                <a:solidFill>
                  <a:srgbClr val="2A3547"/>
                </a:solidFill>
                <a:latin typeface="Calibri" pitchFamily="34" charset="0"/>
                <a:ea typeface="Calibri" pitchFamily="34" charset="-122"/>
                <a:cs typeface="Calibri" pitchFamily="34" charset="-120"/>
              </a:rPr>
              <a:t>a 2010 baseline is eleven years stale by 2021 — a decade of gentrification is scored on old deprivation.</a:t>
            </a:r>
            <a:endParaRPr lang="en-US" sz="1450" dirty="0"/>
          </a:p>
        </p:txBody>
      </p:sp>
      <p:sp>
        <p:nvSpPr>
          <p:cNvPr id="10" name="Shape 8"/>
          <p:cNvSpPr/>
          <p:nvPr/>
        </p:nvSpPr>
        <p:spPr>
          <a:xfrm>
            <a:off x="594360" y="4005072"/>
            <a:ext cx="146304" cy="146304"/>
          </a:xfrm>
          <a:prstGeom prst="ellipse">
            <a:avLst/>
          </a:prstGeom>
          <a:solidFill>
            <a:srgbClr val="C6551A"/>
          </a:solidFill>
          <a:ln/>
        </p:spPr>
      </p:sp>
      <p:sp>
        <p:nvSpPr>
          <p:cNvPr id="11" name="Text 9"/>
          <p:cNvSpPr/>
          <p:nvPr/>
        </p:nvSpPr>
        <p:spPr>
          <a:xfrm>
            <a:off x="914400" y="3877056"/>
            <a:ext cx="6583680" cy="658368"/>
          </a:xfrm>
          <a:prstGeom prst="rect">
            <a:avLst/>
          </a:prstGeom>
          <a:noFill/>
          <a:ln/>
        </p:spPr>
        <p:txBody>
          <a:bodyPr wrap="square" lIns="0" tIns="0" rIns="0" bIns="0" rtlCol="0" anchor="t"/>
          <a:lstStyle/>
          <a:p>
            <a:pPr indent="0" marL="0">
              <a:lnSpc>
                <a:spcPct val="103000"/>
              </a:lnSpc>
              <a:buNone/>
            </a:pPr>
            <a:r>
              <a:rPr lang="en-US" sz="1450" b="1" dirty="0">
                <a:solidFill>
                  <a:srgbClr val="16233B"/>
                </a:solidFill>
                <a:latin typeface="Calibri" pitchFamily="34" charset="0"/>
                <a:ea typeface="Calibri" pitchFamily="34" charset="-122"/>
                <a:cs typeface="Calibri" pitchFamily="34" charset="-120"/>
              </a:rPr>
              <a:t>Lockdown measurement — </a:t>
            </a:r>
            <a:pPr indent="0" marL="0">
              <a:lnSpc>
                <a:spcPct val="103000"/>
              </a:lnSpc>
              <a:buNone/>
            </a:pPr>
            <a:r>
              <a:rPr lang="en-US" sz="1450" dirty="0">
                <a:solidFill>
                  <a:srgbClr val="2A3547"/>
                </a:solidFill>
                <a:latin typeface="Calibri" pitchFamily="34" charset="0"/>
                <a:ea typeface="Calibri" pitchFamily="34" charset="-122"/>
                <a:cs typeface="Calibri" pitchFamily="34" charset="-120"/>
              </a:rPr>
              <a:t>2021 census suppression / imputation degrades the flow estimates.</a:t>
            </a:r>
            <a:endParaRPr lang="en-US" sz="1450" dirty="0"/>
          </a:p>
        </p:txBody>
      </p:sp>
      <p:sp>
        <p:nvSpPr>
          <p:cNvPr id="12" name="Shape 10"/>
          <p:cNvSpPr/>
          <p:nvPr/>
        </p:nvSpPr>
        <p:spPr>
          <a:xfrm>
            <a:off x="7452360" y="1828800"/>
            <a:ext cx="4142232" cy="3794760"/>
          </a:xfrm>
          <a:prstGeom prst="roundRect">
            <a:avLst>
              <a:gd name="adj" fmla="val 2169"/>
            </a:avLst>
          </a:prstGeom>
          <a:solidFill>
            <a:srgbClr val="F3F6FB"/>
          </a:solidFill>
          <a:ln/>
          <a:effectLst>
            <a:outerShdw sx="100000" sy="100000" kx="0" ky="0" algn="bl" rotWithShape="0" blurRad="101600" dist="38100" dir="5400000">
              <a:srgbClr val="9AA6B8">
                <a:alpha val="28000"/>
              </a:srgbClr>
            </a:outerShdw>
          </a:effectLst>
        </p:spPr>
      </p:sp>
      <p:sp>
        <p:nvSpPr>
          <p:cNvPr id="13" name="Text 11"/>
          <p:cNvSpPr/>
          <p:nvPr/>
        </p:nvSpPr>
        <p:spPr>
          <a:xfrm>
            <a:off x="7680960" y="1965960"/>
            <a:ext cx="3657600" cy="320040"/>
          </a:xfrm>
          <a:prstGeom prst="rect">
            <a:avLst/>
          </a:prstGeom>
          <a:noFill/>
          <a:ln/>
        </p:spPr>
        <p:txBody>
          <a:bodyPr wrap="square" lIns="0" tIns="0" rIns="0" bIns="0" rtlCol="0" anchor="ctr"/>
          <a:lstStyle/>
          <a:p>
            <a:pPr indent="0" marL="0">
              <a:buNone/>
            </a:pPr>
            <a:r>
              <a:rPr lang="en-US" sz="1450" b="1" dirty="0">
                <a:solidFill>
                  <a:srgbClr val="16233B"/>
                </a:solidFill>
                <a:latin typeface="Calibri" pitchFamily="34" charset="0"/>
                <a:ea typeface="Calibri" pitchFamily="34" charset="-122"/>
                <a:cs typeface="Calibri" pitchFamily="34" charset="-120"/>
              </a:rPr>
              <a:t>Key references</a:t>
            </a:r>
            <a:endParaRPr lang="en-US" sz="1450" dirty="0"/>
          </a:p>
        </p:txBody>
      </p:sp>
      <p:sp>
        <p:nvSpPr>
          <p:cNvPr id="14" name="Text 12"/>
          <p:cNvSpPr/>
          <p:nvPr/>
        </p:nvSpPr>
        <p:spPr>
          <a:xfrm>
            <a:off x="7680960" y="2377440"/>
            <a:ext cx="3685032" cy="3108960"/>
          </a:xfrm>
          <a:prstGeom prst="rect">
            <a:avLst/>
          </a:prstGeom>
          <a:noFill/>
          <a:ln/>
        </p:spPr>
        <p:txBody>
          <a:bodyPr wrap="square" lIns="0" tIns="0" rIns="0" bIns="0" rtlCol="0" anchor="ctr"/>
          <a:lstStyle/>
          <a:p>
            <a:pPr marL="342900" indent="-342900">
              <a:lnSpc>
                <a:spcPct val="105000"/>
              </a:lnSpc>
              <a:spcAft>
                <a:spcPts val="600"/>
              </a:spcAft>
              <a:buSzPct val="100000"/>
              <a:buChar char="•"/>
            </a:pPr>
            <a:r>
              <a:rPr lang="en-US" sz="1200" dirty="0">
                <a:solidFill>
                  <a:srgbClr val="2A3547"/>
                </a:solidFill>
                <a:latin typeface="Calibri" pitchFamily="34" charset="0"/>
                <a:ea typeface="Calibri" pitchFamily="34" charset="-122"/>
                <a:cs typeface="Calibri" pitchFamily="34" charset="-120"/>
              </a:rPr>
              <a:t>Marcuse, P. (1985). J. Urb. &amp; Contemp. Law 28.</a:t>
            </a:r>
            <a:endParaRPr lang="en-US" sz="1200" dirty="0"/>
          </a:p>
          <a:p>
            <a:pPr marL="342900" indent="-342900">
              <a:lnSpc>
                <a:spcPct val="105000"/>
              </a:lnSpc>
              <a:spcAft>
                <a:spcPts val="600"/>
              </a:spcAft>
              <a:buSzPct val="100000"/>
              <a:buChar char="•"/>
            </a:pPr>
            <a:r>
              <a:rPr lang="en-US" sz="1200" dirty="0">
                <a:solidFill>
                  <a:srgbClr val="2A3547"/>
                </a:solidFill>
                <a:latin typeface="Calibri" pitchFamily="34" charset="0"/>
                <a:ea typeface="Calibri" pitchFamily="34" charset="-122"/>
                <a:cs typeface="Calibri" pitchFamily="34" charset="-120"/>
              </a:rPr>
              <a:t>Dennett &amp; Stillwell (2008). Population Trends 134.</a:t>
            </a:r>
            <a:endParaRPr lang="en-US" sz="1200" dirty="0"/>
          </a:p>
          <a:p>
            <a:pPr marL="342900" indent="-342900">
              <a:lnSpc>
                <a:spcPct val="105000"/>
              </a:lnSpc>
              <a:spcAft>
                <a:spcPts val="600"/>
              </a:spcAft>
              <a:buSzPct val="100000"/>
              <a:buChar char="•"/>
            </a:pPr>
            <a:r>
              <a:rPr lang="en-US" sz="1200" dirty="0">
                <a:solidFill>
                  <a:srgbClr val="2A3547"/>
                </a:solidFill>
                <a:latin typeface="Calibri" pitchFamily="34" charset="0"/>
                <a:ea typeface="Calibri" pitchFamily="34" charset="-122"/>
                <a:cs typeface="Calibri" pitchFamily="34" charset="-120"/>
              </a:rPr>
              <a:t>Yee &amp; Dennett (2022).</a:t>
            </a:r>
            <a:endParaRPr lang="en-US" sz="1200" dirty="0"/>
          </a:p>
          <a:p>
            <a:pPr marL="342900" indent="-342900">
              <a:lnSpc>
                <a:spcPct val="105000"/>
              </a:lnSpc>
              <a:spcAft>
                <a:spcPts val="600"/>
              </a:spcAft>
              <a:buSzPct val="100000"/>
              <a:buChar char="•"/>
            </a:pPr>
            <a:r>
              <a:rPr lang="en-US" sz="1200" dirty="0">
                <a:solidFill>
                  <a:srgbClr val="2A3547"/>
                </a:solidFill>
                <a:latin typeface="Calibri" pitchFamily="34" charset="0"/>
                <a:ea typeface="Calibri" pitchFamily="34" charset="-122"/>
                <a:cs typeface="Calibri" pitchFamily="34" charset="-120"/>
              </a:rPr>
              <a:t>Ding, Hwang &amp; Divringi (2016). Reg. Sci. Urban Econ. 61.</a:t>
            </a:r>
            <a:endParaRPr lang="en-US" sz="1200" dirty="0"/>
          </a:p>
          <a:p>
            <a:pPr marL="342900" indent="-342900">
              <a:lnSpc>
                <a:spcPct val="105000"/>
              </a:lnSpc>
              <a:spcAft>
                <a:spcPts val="600"/>
              </a:spcAft>
              <a:buSzPct val="100000"/>
              <a:buChar char="•"/>
            </a:pPr>
            <a:r>
              <a:rPr lang="en-US" sz="1200" dirty="0">
                <a:solidFill>
                  <a:srgbClr val="2A3547"/>
                </a:solidFill>
                <a:latin typeface="Calibri" pitchFamily="34" charset="0"/>
                <a:ea typeface="Calibri" pitchFamily="34" charset="-122"/>
                <a:cs typeface="Calibri" pitchFamily="34" charset="-120"/>
              </a:rPr>
              <a:t>Freeman, Hwang, Haupert &amp; Zhang (2024). Urban Affairs Rev. 60(1).</a:t>
            </a:r>
            <a:endParaRPr lang="en-US" sz="1200" dirty="0"/>
          </a:p>
          <a:p>
            <a:pPr marL="342900" indent="-342900">
              <a:lnSpc>
                <a:spcPct val="105000"/>
              </a:lnSpc>
              <a:spcAft>
                <a:spcPts val="600"/>
              </a:spcAft>
              <a:buSzPct val="100000"/>
              <a:buChar char="•"/>
            </a:pPr>
            <a:r>
              <a:rPr lang="en-US" sz="1200" dirty="0">
                <a:solidFill>
                  <a:srgbClr val="2A3547"/>
                </a:solidFill>
                <a:latin typeface="Calibri" pitchFamily="34" charset="0"/>
                <a:ea typeface="Calibri" pitchFamily="34" charset="-122"/>
                <a:cs typeface="Calibri" pitchFamily="34" charset="-120"/>
              </a:rPr>
              <a:t>Reades, Lees, Hubbard &amp; Lansley (2023). EPA 55(4).</a:t>
            </a:r>
            <a:endParaRPr lang="en-US" sz="1200" dirty="0"/>
          </a:p>
        </p:txBody>
      </p:sp>
      <p:sp>
        <p:nvSpPr>
          <p:cNvPr id="15" name="Text 13"/>
          <p:cNvSpPr/>
          <p:nvPr/>
        </p:nvSpPr>
        <p:spPr>
          <a:xfrm>
            <a:off x="594360" y="5989320"/>
            <a:ext cx="6400800" cy="457200"/>
          </a:xfrm>
          <a:prstGeom prst="rect">
            <a:avLst/>
          </a:prstGeom>
          <a:noFill/>
          <a:ln/>
        </p:spPr>
        <p:txBody>
          <a:bodyPr wrap="square" lIns="0" tIns="0" rIns="0" bIns="0" rtlCol="0" anchor="ctr"/>
          <a:lstStyle/>
          <a:p>
            <a:pPr indent="0" marL="0">
              <a:buNone/>
            </a:pPr>
            <a:r>
              <a:rPr lang="en-US" sz="1700" b="1" dirty="0">
                <a:solidFill>
                  <a:srgbClr val="16233B"/>
                </a:solidFill>
                <a:latin typeface="Cambria" pitchFamily="34" charset="0"/>
                <a:ea typeface="Cambria" pitchFamily="34" charset="-122"/>
                <a:cs typeface="Cambria" pitchFamily="34" charset="-120"/>
              </a:rPr>
              <a:t>Thank you  ·  questions welcome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Flow-Based Definition of Gentrification</dc:title>
  <dc:subject>PptxGenJS Presentation</dc:subject>
  <dc:creator>MSc Dissertation</dc:creator>
  <cp:lastModifiedBy>MSc Dissertation</cp:lastModifiedBy>
  <cp:revision>1</cp:revision>
  <dcterms:created xsi:type="dcterms:W3CDTF">2026-07-02T10:20:35Z</dcterms:created>
  <dcterms:modified xsi:type="dcterms:W3CDTF">2026-07-02T10:20:35Z</dcterms:modified>
</cp:coreProperties>
</file>