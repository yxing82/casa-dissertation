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Yujing Xi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06T14:49:12.390">
    <p:pos x="432" y="1065"/>
    <p:text>most shallow orange</p:text>
  </p:cm>
  <p:cm authorId="0" idx="2" dt="2026-07-06T14:49:32.976">
    <p:pos x="432" y="2534"/>
    <p:text>darkest orange</p:text>
  </p:cm>
  <p:cm authorId="0" idx="3" dt="2026-07-06T14:49:50.954">
    <p:pos x="5950" y="1209"/>
    <p:text>orange</p:text>
  </p:cm>
  <p:cm authorId="0" idx="4" dt="2026-07-06T14:49:57.463">
    <p:pos x="5950" y="2361"/>
    <p:text>purple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7-06T15:02:18.771">
    <p:pos x="5299" y="1411"/>
    <p:text>validation after tree mechanism.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7-06T15:04:45.275">
    <p:pos x="403" y="1152"/>
    <p:text>need a venn diagram to show 3 classifications.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[60s] Classic theory says gentrification IS a flow phenomenon - a cascade of moves down the deprivation hierarchy: the affluent arrive, existing residents are pushed to more deprived areas. But where do they go?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this study, I adopt the cascade as a candidate flow-based definition, measure it across London between the 2011 and 2021 censuses, and test whether it recovers what attribute-based methods call gentrification.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Spoiler for the arc: as an equivalence it fails, but we have more interesting result: the flow lens separates gentrification's subtypes.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[60s] The intuition of cascade is old and respectable. Marcuse's chain displacement: gentrification radiates outward as a chain of moves.  Most studies infer this chain from neighbourhood change rather than observing migration directly at whole-city scale with open, flow data. And the few direct mover-level tests find the cascade weak or mixed.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as we said, we want to test this hypothesis. One caveat up front: I measure area-to-area flows - 'from a wealthier area' is not 'a wealthier person'. So: how do we make the cascade measurable and testable?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[60s] The design choice everything rests on this deprivation ruler with IMD 2010 data, held for both census years - so change between censuses is attributable to movement, not re-ranking. We later put IMD 2019 on the outcome side, keeping validation non-circular by construction.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this ladder, every move that crosses the hierarchy is one of four elementary flows. The cascade pair </a:t>
            </a:r>
            <a:r>
              <a:rPr lang="en-US"/>
              <a:t>is the classic chain's signature</a:t>
            </a:r>
            <a:r>
              <a:rPr lang="en-US"/>
              <a:t> - inflow-from-wealthier plus outflow-to-poorer. The counter pair is the mirror.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Now, with 982 MSOAs, all open OD data, we can measure the cascade directly.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how to test the cascade and how do we know which direction carries an area's turnover?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[75s] The classifier: churn adds the flows in each direction, following Dennett &amp; Stillwell.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Two axes - cascade dominance, which direction carries the deprivation-crossing churn, and cross-decile share, how much turnover engages the ladder at all.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(Thresholds: dominance 0.52/0.48, share below P25 = lateral - happy to detail in questions.)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Four regimes; cascade-led is the candidate definition made operational.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London is not a vacuum, so we separate data with three frames: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A, London flows on a London ladder, the core lens;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B changes only the ladder to national, isolating re-ranking;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 adds external flows.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 minus A is pure re-ranking, C minus B is pure external migration - every cross-frame contrast is attributable to exactly one mechanism.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validation: if cascade equals gentrification, three independently built yardsticks should agree - the IMD outcome check, Yee and Dennett's attribute classification, and occupational ascent. One design point: Yee's labels are built on 2001-to-2011 change, so 2011 is concurrent validation and 2021 is a decade-later persistence test. </a:t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[50s] 'Cascade-led' could be one mechanism or several wearing one label - so every cascade-led area is split on two measured properties, applied identically in both years. First: how much of its cascade churn is the arrival arm - inflow share, threshold 0.25, which sits in an empirical gap in both years.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Inflow cascades then split by frame-robustness - do they survive in Frames A and 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Outflow cascades split by where the poorer-bound out-moves go: external-arm share at 0.5 - do they leave London or stay inside it.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leaves. That's the whole toolkit: one classifier, three frames, three yardsticks, four mechanism leaves.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- let’s see what happens when you check.</a:t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[80s] First check.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 the areas either method flags as its version of gentrification, only 16 agree; 25 are attribute-only, 197 are flow-only.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IMD kicker: Yee's gentrifying areas improve on deprivation - plus 0.043 percentile gain - but with a cascade signal on top the gain drops to 0.017. So cascade is not the engine of measured gentrification.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the twist: the flow method's own deprivation signal lives in the counter direction; the only place the two methods agree is classic 2011 inner-London gentrification. Occupational ascent tells the same story.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“Counter”? Is that a bare null? Or did 'cascade-led' pool genuinely different mechanisms into one label? The tree from the methodology lets us check.</a:t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[85s] Now the tree pays off. Same classification, both censuses - and the composition of 'cascade-led' transforms.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The inflow-driven leaf, the genuine gentrification arm, collapses from 56 areas to 13. Frame-sensitive falls with it.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 The external-majority outflow class explodes from 19 to 78 - times four point one, one hundred percent outer London - the pandemic exodus, emerging rather than relocating.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And internal-outflow barely moves, 81 to 90 - the stable backdrop of within-London reshuffling on a national ladder.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Only eight areas hold the inflow-driven class in both years - including Camden 026 and Tower Hamlets 010, the cascade-dominance extremes of the whole city.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the story becomes more interesting - the same cascade statistic is produced by a very different underlying process in 2021 than in 2011.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of these mechanisms actually corresponds to gentrification? That's the next test.</a:t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[70s] The sharper hypothesis: if the candidate definition is right, Yee's GEN should concentrate in the inflow-driven leaf.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test with enrichment (the lift of P(GEN given leaf) over the base rate, Fisher's exact test, BH-corrected). The prediction fails, informatively.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Inflow-driven shows only a loose concurrent signal. The strong, correction-robust signal is outflow-internal, and is the only cell significant on both clocks.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exodus class is not gentrification, but relocating outward. And counter-led is obviously the anti-gentrification direction.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gentrifying areas sit in the outflow branch. Why would that be? Yee's own subtypes answer.</a:t>
            </a:r>
            <a:endParaRPr/>
          </a:p>
        </p:txBody>
      </p:sp>
      <p:sp>
        <p:nvSpPr>
          <p:cNvPr id="246" name="Google Shape;2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[100s] Yee's Class-3 subtypes decompose the puzzle, and they occupy visibly different parts of the city and of the tree.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Super-gentrification </a:t>
            </a:r>
            <a:r>
              <a:rPr lang="en-US"/>
              <a:t>aligns with the internal-outflow cascade, already-prime areas like </a:t>
            </a:r>
            <a:r>
              <a:rPr lang="en-US"/>
              <a:t>Kensington &amp; Chelsea, Westminster. This is the strongest and only strengthening alignment in the whole analysis. That's the displacement arm: cascade churn dominated by poorer-bound out-moves within London.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Mainstream gentrification </a:t>
            </a:r>
            <a:r>
              <a:rPr lang="en-US"/>
              <a:t>aligns with the inflow-driven cascade</a:t>
            </a:r>
            <a:r>
              <a:rPr lang="en-US"/>
              <a:t> - areas like Tower Hamlets, Hackney, Southwark. These are concurrent only, and gone by 2021.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Marginal gentrification aligns with no leaf.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One honest caveat is about the ladder ceiling. Top-decile areas cannot be inflow-led, so super-gentrified areas can only express a cascade through the outflow arm; the claim is that they show exactly that signature, strongly, on both clocks - not that super-gentrification causes outflow.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here, we have Two lenses, same city, different arms. So what survives as a definition?</a:t>
            </a:r>
            <a:endParaRPr/>
          </a:p>
        </p:txBody>
      </p:sp>
      <p:sp>
        <p:nvSpPr>
          <p:cNvPr id="277" name="Google Shape;2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[60s] Back to the title: where do they go - and does following them define gentrification?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As an equivalence, no, for two reasons: flows and attributes measure </a:t>
            </a:r>
            <a:r>
              <a:rPr lang="en-US"/>
              <a:t>different</a:t>
            </a:r>
            <a:r>
              <a:rPr lang="en-US"/>
              <a:t> objects, and 2021 shows the same cascade number produced by an exodus. But the test sharpens rather than merely negates. The line to remember: cascade is not gentrification - but the cascade with our tree mechanisms reveals gentrification.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What survives is a conditional definition: a persistent, inflow-led, inner-London cascade coinciding with attribute ascent - stated honestly: supported for the mainstream subtype, in the concurrent window, at modest effect size - with super-gentrification living in the displacement arm.</a:t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[40s] Three contributions: a framework that separates re-ranking, external migration and genuine cascade processes; a mechanism tree that turns a null into anatomy - mainstream in the arrival arm, super-gentrification in the displacement arm; and an open-data, reproducible whole-city flow lens. Limitations stated plainly: the ecological limit, which itself explains the decoupling; the temporal mismatches, handled by the two-clock framing; the ladder ceiling, which is why the super-gentrification claim is worded carefully; and lockdown-census measurement. Next steps: deepen the case studies and characterise the divergence spatially.</a:t>
            </a:r>
            <a:endParaRPr/>
          </a:p>
        </p:txBody>
      </p:sp>
      <p:sp>
        <p:nvSpPr>
          <p:cNvPr id="310" name="Google Shape;3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[10s] Thanks - happy to take questions. (Total target: ~9:40, leaving buffer.)</a:t>
            </a:r>
            <a:endParaRPr/>
          </a:p>
        </p:txBody>
      </p:sp>
      <p:sp>
        <p:nvSpPr>
          <p:cNvPr id="335" name="Google Shape;3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[Backup - not part of the 10 minutes.] If asked for concrete examples: Camden 026 and Tower Hamlets 010 are what a real flow-defined cascade looks like - both arms thick, robust across frames, both censuses; only eight areas in London hold the class twice, and all eight are Yee-modal Stable. Southwark 003, Islington 008 and Wandsworth 035 keep improving on IMD while flows flip counter - the decoupling made visible. Harrow 008 and 029 are London-contained outflow - most poorer-bound out-moves stay inside London; from national D8, 69% of London counts as poorer - a structural feature of the national ladder, not an error and not exodus. Kingston 019 and Croydon 044 carry the literal exodus. C and D share near-zero inflow; only the destination of the out-arm differs - the proof that exodus is measured, not relabelled.</a:t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7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044532" y="1097280"/>
            <a:ext cx="1417200" cy="457200"/>
          </a:xfrm>
          <a:prstGeom prst="roundRect">
            <a:avLst>
              <a:gd fmla="val 16000" name="adj"/>
            </a:avLst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9958932" y="1554480"/>
            <a:ext cx="411600" cy="411600"/>
          </a:xfrm>
          <a:prstGeom prst="straightConnector1">
            <a:avLst/>
          </a:prstGeom>
          <a:noFill/>
          <a:ln cap="flat" cmpd="sng" w="25400">
            <a:solidFill>
              <a:srgbClr val="5671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" name="Google Shape;18;p3"/>
          <p:cNvSpPr/>
          <p:nvPr/>
        </p:nvSpPr>
        <p:spPr>
          <a:xfrm>
            <a:off x="9593172" y="1965960"/>
            <a:ext cx="1417200" cy="457200"/>
          </a:xfrm>
          <a:prstGeom prst="roundRect">
            <a:avLst>
              <a:gd fmla="val 16000" name="adj"/>
            </a:avLst>
          </a:prstGeom>
          <a:solidFill>
            <a:srgbClr val="2A3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10507572" y="2423160"/>
            <a:ext cx="411600" cy="411600"/>
          </a:xfrm>
          <a:prstGeom prst="straightConnector1">
            <a:avLst/>
          </a:prstGeom>
          <a:noFill/>
          <a:ln cap="flat" cmpd="sng" w="25400">
            <a:solidFill>
              <a:srgbClr val="5671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" name="Google Shape;20;p3"/>
          <p:cNvSpPr/>
          <p:nvPr/>
        </p:nvSpPr>
        <p:spPr>
          <a:xfrm>
            <a:off x="10141812" y="2834640"/>
            <a:ext cx="1417200" cy="457200"/>
          </a:xfrm>
          <a:prstGeom prst="roundRect">
            <a:avLst>
              <a:gd fmla="val 16000" name="adj"/>
            </a:avLst>
          </a:prstGeom>
          <a:solidFill>
            <a:srgbClr val="2A3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11056212" y="3291840"/>
            <a:ext cx="411600" cy="411600"/>
          </a:xfrm>
          <a:prstGeom prst="straightConnector1">
            <a:avLst/>
          </a:prstGeom>
          <a:noFill/>
          <a:ln cap="flat" cmpd="sng" w="25400">
            <a:solidFill>
              <a:srgbClr val="5671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" name="Google Shape;22;p3"/>
          <p:cNvSpPr/>
          <p:nvPr/>
        </p:nvSpPr>
        <p:spPr>
          <a:xfrm>
            <a:off x="10690452" y="3703320"/>
            <a:ext cx="1417200" cy="457200"/>
          </a:xfrm>
          <a:prstGeom prst="roundRect">
            <a:avLst>
              <a:gd fmla="val 16000" name="adj"/>
            </a:avLst>
          </a:prstGeom>
          <a:solidFill>
            <a:srgbClr val="2A3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044532" y="1097280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593172" y="1965960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141812" y="2834640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0690452" y="3703320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MSc DISSERTATION  ·  CASA, UCL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22960" y="16916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do they go?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22960" y="3154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Testing whether migration flows explain gentrification in London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22960" y="37947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Census origin–destination data, 2011 &amp; 2021  ·  982 London MSOAs  ·  IMD deprivation ladder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822960" y="512064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3A4C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Yujing (Olivia) Xing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22960" y="5669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Mini-conference · July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Why follow the movers?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" y="1709928"/>
            <a:ext cx="566928" cy="566928"/>
          </a:xfrm>
          <a:prstGeom prst="ellipse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40080" y="17099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08760" y="160020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The classic 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508750" y="1984249"/>
            <a:ext cx="9966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Affluent residents move in; poorer residents are pushed down the hierarchy (Marcuse 1985).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40080" y="2944368"/>
            <a:ext cx="566928" cy="566928"/>
          </a:xfrm>
          <a:prstGeom prst="ellipse">
            <a:avLst/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40080" y="294436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166A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08760" y="283464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Mechanism inferred, not observed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508760" y="3218688"/>
            <a:ext cx="9966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Most studies infer the cascade from neighbourhood attributes; </a:t>
            </a:r>
            <a:endParaRPr b="0" i="0" sz="1450" u="none" cap="none" strike="noStrike">
              <a:solidFill>
                <a:srgbClr val="6B7A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Few</a:t>
            </a:r>
            <a:r>
              <a:rPr b="0" i="0" lang="en-US" sz="14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 analyse origin–destination migration flows directly, at whole-city scale, with open data.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40080" y="4178808"/>
            <a:ext cx="566928" cy="566928"/>
          </a:xfrm>
          <a:prstGeom prst="ellipse">
            <a:avLst/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40080" y="41788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166A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08760" y="406908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Direct evidence is inconsistent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08750" y="4453126"/>
            <a:ext cx="9966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Mover-level studies do </a:t>
            </a:r>
            <a:r>
              <a:rPr lang="en-US" sz="145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14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 consistently support a strong downward cascade (Ding et al. 2016; Freeman et al. 2024)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0075" y="5193728"/>
            <a:ext cx="1097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02F"/>
              </a:buClr>
              <a:buSzPts val="1400"/>
              <a:buFont typeface="Calibri"/>
              <a:buNone/>
            </a:pPr>
            <a:r>
              <a:rPr b="1" i="1" lang="en-US" sz="2000" u="none" cap="none" strike="noStrike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1" lang="en-US" sz="2000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an migration flows </a:t>
            </a:r>
            <a:r>
              <a:rPr b="1" i="1" lang="en-US" sz="2000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themselves</a:t>
            </a:r>
            <a:r>
              <a:rPr b="1" i="1" lang="en-US" sz="2000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 define gentrification?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i="1" lang="en-US" sz="1500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Treat the cascade as a hypothesis rather than an assumption.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METHODOLOGY · 1 OF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02920" y="548640"/>
            <a:ext cx="111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lang="en-US" sz="2800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Making the cascade measurable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85800" y="1691640"/>
            <a:ext cx="1554480" cy="384048"/>
          </a:xfrm>
          <a:prstGeom prst="roundRect">
            <a:avLst>
              <a:gd fmla="val 11905" name="adj"/>
            </a:avLst>
          </a:prstGeom>
          <a:solidFill>
            <a:srgbClr val="4A7F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85800" y="169164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85800" y="2157984"/>
            <a:ext cx="1554480" cy="384048"/>
          </a:xfrm>
          <a:prstGeom prst="roundRect">
            <a:avLst>
              <a:gd fmla="val 11905" name="adj"/>
            </a:avLst>
          </a:prstGeom>
          <a:solidFill>
            <a:srgbClr val="5E8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85800" y="215798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85800" y="2624328"/>
            <a:ext cx="1554480" cy="384048"/>
          </a:xfrm>
          <a:prstGeom prst="roundRect">
            <a:avLst>
              <a:gd fmla="val 11905" name="adj"/>
            </a:avLst>
          </a:prstGeom>
          <a:solidFill>
            <a:srgbClr val="7FA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85800" y="26243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5800" y="3090672"/>
            <a:ext cx="1554480" cy="384048"/>
          </a:xfrm>
          <a:prstGeom prst="roundRect">
            <a:avLst>
              <a:gd fmla="val 11905" name="adj"/>
            </a:avLst>
          </a:prstGeom>
          <a:solidFill>
            <a:srgbClr val="A3C0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85800" y="309067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85800" y="3557016"/>
            <a:ext cx="1554480" cy="384048"/>
          </a:xfrm>
          <a:prstGeom prst="roundRect">
            <a:avLst>
              <a:gd fmla="val 11905" name="adj"/>
            </a:avLst>
          </a:prstGeom>
          <a:solidFill>
            <a:srgbClr val="C6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85800" y="355701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85800" y="4023360"/>
            <a:ext cx="1554480" cy="384048"/>
          </a:xfrm>
          <a:prstGeom prst="roundRect">
            <a:avLst>
              <a:gd fmla="val 11905" name="adj"/>
            </a:avLst>
          </a:prstGeom>
          <a:solidFill>
            <a:srgbClr val="DCE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85800" y="402336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51590" y="1325950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least deprived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051600" y="4489675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most deprived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96725" y="4956025"/>
            <a:ext cx="2735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IMD 2010, held fixed for both censuses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4480560" y="2194560"/>
            <a:ext cx="822960" cy="685800"/>
          </a:xfrm>
          <a:prstGeom prst="straightConnector1">
            <a:avLst/>
          </a:prstGeom>
          <a:noFill/>
          <a:ln cap="flat" cmpd="sng" w="31750">
            <a:solidFill>
              <a:srgbClr val="2166A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5"/>
          <p:cNvCxnSpPr>
            <a:endCxn id="82" idx="0"/>
          </p:cNvCxnSpPr>
          <p:nvPr/>
        </p:nvCxnSpPr>
        <p:spPr>
          <a:xfrm flipH="1">
            <a:off x="4274820" y="3657720"/>
            <a:ext cx="1028700" cy="502800"/>
          </a:xfrm>
          <a:prstGeom prst="straightConnector1">
            <a:avLst/>
          </a:prstGeom>
          <a:noFill/>
          <a:ln cap="flat" cmpd="sng" w="31750">
            <a:solidFill>
              <a:srgbClr val="2166A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" name="Google Shape;83;p5"/>
          <p:cNvCxnSpPr/>
          <p:nvPr/>
        </p:nvCxnSpPr>
        <p:spPr>
          <a:xfrm flipH="1" rot="10800000">
            <a:off x="6212696" y="2307480"/>
            <a:ext cx="1129500" cy="572700"/>
          </a:xfrm>
          <a:prstGeom prst="straightConnector1">
            <a:avLst/>
          </a:prstGeom>
          <a:noFill/>
          <a:ln cap="flat" cmpd="sng" w="31750">
            <a:solidFill>
              <a:srgbClr val="D97E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" name="Google Shape;84;p5"/>
          <p:cNvCxnSpPr/>
          <p:nvPr/>
        </p:nvCxnSpPr>
        <p:spPr>
          <a:xfrm rot="10800000">
            <a:off x="6131975" y="3657825"/>
            <a:ext cx="1113300" cy="473100"/>
          </a:xfrm>
          <a:prstGeom prst="straightConnector1">
            <a:avLst/>
          </a:prstGeom>
          <a:noFill/>
          <a:ln cap="flat" cmpd="sng" w="31750">
            <a:solidFill>
              <a:srgbClr val="D97E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5"/>
          <p:cNvSpPr/>
          <p:nvPr/>
        </p:nvSpPr>
        <p:spPr>
          <a:xfrm>
            <a:off x="3657600" y="1783080"/>
            <a:ext cx="1234440" cy="502920"/>
          </a:xfrm>
          <a:prstGeom prst="roundRect">
            <a:avLst>
              <a:gd fmla="val 12727" name="adj"/>
            </a:avLst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657600" y="17830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46120" y="1490570"/>
            <a:ext cx="205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inflow from wealthier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657600" y="4160520"/>
            <a:ext cx="1234440" cy="502920"/>
          </a:xfrm>
          <a:prstGeom prst="roundRect">
            <a:avLst>
              <a:gd fmla="val 12727" name="adj"/>
            </a:avLst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657600" y="416052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246120" y="4690872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outflow to poorer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081221" y="1783080"/>
            <a:ext cx="1234500" cy="502800"/>
          </a:xfrm>
          <a:prstGeom prst="roundRect">
            <a:avLst>
              <a:gd fmla="val 12727" name="adj"/>
            </a:avLst>
          </a:prstGeom>
          <a:solidFill>
            <a:srgbClr val="D97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081196" y="1783080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669741" y="1490520"/>
            <a:ext cx="205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outflow to wealthier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000539" y="4160520"/>
            <a:ext cx="1234500" cy="502800"/>
          </a:xfrm>
          <a:prstGeom prst="roundRect">
            <a:avLst>
              <a:gd fmla="val 12727" name="adj"/>
            </a:avLst>
          </a:prstGeom>
          <a:solidFill>
            <a:srgbClr val="D97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000539" y="4160520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589059" y="4690872"/>
            <a:ext cx="205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inflow from poorer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074920" y="2880360"/>
            <a:ext cx="1737360" cy="777240"/>
          </a:xfrm>
          <a:prstGeom prst="roundRect">
            <a:avLst>
              <a:gd fmla="val 9412" name="adj"/>
            </a:avLst>
          </a:prstGeom>
          <a:solidFill>
            <a:srgbClr val="24303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074920" y="288036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0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focal area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fixed decile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281160" y="1783080"/>
            <a:ext cx="2331720" cy="1600200"/>
          </a:xfrm>
          <a:prstGeom prst="roundRect">
            <a:avLst>
              <a:gd fmla="val 4571" name="adj"/>
            </a:avLst>
          </a:prstGeom>
          <a:solidFill>
            <a:srgbClr val="DCE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445752" y="192024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CASCADE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= IW + 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wealthier in, </a:t>
            </a:r>
            <a:endParaRPr b="0" i="0" sz="1100" u="none" cap="none" strike="noStrike">
              <a:solidFill>
                <a:srgbClr val="6B7A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poorer out-and-down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281160" y="3611880"/>
            <a:ext cx="2331720" cy="1600200"/>
          </a:xfrm>
          <a:prstGeom prst="roundRect">
            <a:avLst>
              <a:gd fmla="val 4571" name="adj"/>
            </a:avLst>
          </a:prstGeom>
          <a:solidFill>
            <a:srgbClr val="F9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9445752" y="3749040"/>
            <a:ext cx="2011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E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97E2B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= OW + 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the mirror direction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118213" y="5449755"/>
            <a:ext cx="7955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Data: all open &amp; anonymised — 982 London MSOAs · Census OD flows 2011 &amp; 2021 (Nomis) · IMD 2010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We can now measure the cascade directly.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METHODOLOGY · 2 OF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lang="en-US" sz="2800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Making the cascade testable</a:t>
            </a:r>
            <a:endParaRPr b="1" sz="3000">
              <a:solidFill>
                <a:srgbClr val="2430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02920" y="1600200"/>
            <a:ext cx="3611880" cy="4160520"/>
          </a:xfrm>
          <a:prstGeom prst="roundRect">
            <a:avLst>
              <a:gd fmla="val 2025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731520" y="17830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1 · CLASSIFY EVERY AREA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31520" y="2148840"/>
            <a:ext cx="31546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Cascade dominance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which direction carries the ladder-crossing churn (Dennett &amp; Stillwell 2008)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Cross-decile share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how much turnover engages the ladder at all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31520" y="4069080"/>
            <a:ext cx="1508760" cy="457200"/>
          </a:xfrm>
          <a:prstGeom prst="roundRect">
            <a:avLst>
              <a:gd fmla="val 14000" name="adj"/>
            </a:avLst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31520" y="406908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359152" y="4069080"/>
            <a:ext cx="1508760" cy="457200"/>
          </a:xfrm>
          <a:prstGeom prst="roundRect">
            <a:avLst>
              <a:gd fmla="val 14000" name="adj"/>
            </a:avLst>
          </a:prstGeom>
          <a:solidFill>
            <a:srgbClr val="B9C6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359152" y="406908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4636008"/>
            <a:ext cx="1508760" cy="457200"/>
          </a:xfrm>
          <a:prstGeom prst="roundRect">
            <a:avLst>
              <a:gd fmla="val 14000" name="adj"/>
            </a:avLst>
          </a:prstGeom>
          <a:solidFill>
            <a:srgbClr val="D97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31520" y="463600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Counter-led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2359152" y="4636008"/>
            <a:ext cx="1508760" cy="457200"/>
          </a:xfrm>
          <a:prstGeom prst="roundRect">
            <a:avLst>
              <a:gd fmla="val 14000" name="adj"/>
            </a:avLst>
          </a:prstGeom>
          <a:solidFill>
            <a:srgbClr val="E3E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2359152" y="463600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31520" y="527608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Cascade-led = the candidate definition</a:t>
            </a:r>
            <a:endParaRPr i="1" sz="1200">
              <a:solidFill>
                <a:srgbClr val="2430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2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made operational</a:t>
            </a:r>
            <a:r>
              <a:rPr i="1" lang="en-US" sz="1200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343400" y="1600200"/>
            <a:ext cx="3611880" cy="4160520"/>
          </a:xfrm>
          <a:prstGeom prst="roundRect">
            <a:avLst>
              <a:gd fmla="val 2025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572000" y="17830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2 · THREE FRAMES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212080" y="22128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London flows · London ladder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CORE lens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0" y="3154680"/>
            <a:ext cx="502920" cy="502920"/>
          </a:xfrm>
          <a:prstGeom prst="ellipse">
            <a:avLst/>
          </a:prstGeom>
          <a:solidFill>
            <a:srgbClr val="5E8F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572000" y="3154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212080" y="31272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London flows · national ladder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isolates re-ranking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8FA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212080" y="4041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+ external flows · national ladder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adds boundary effects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0" y="5001768"/>
            <a:ext cx="3154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~69% of London sits below national D6</a:t>
            </a:r>
            <a:r>
              <a:rPr b="0" i="1" lang="en-US" sz="11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, so Frame A stays the faithful lens.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183880" y="1600200"/>
            <a:ext cx="3611880" cy="4160520"/>
          </a:xfrm>
          <a:prstGeom prst="roundRect">
            <a:avLst>
              <a:gd fmla="val 2025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8412480" y="17830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3 · THREE INDEPENDENT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412480" y="224028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IMD percentile change, 2010 → 2019 </a:t>
            </a:r>
            <a:endParaRPr b="0" i="0" sz="1200" u="none" cap="none" strike="noStrike">
              <a:solidFill>
                <a:srgbClr val="6B7A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1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id deprivation actually improve?</a:t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412480" y="320040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Yee &amp; Dennett (2022) </a:t>
            </a:r>
            <a:endParaRPr sz="1200">
              <a:solidFill>
                <a:srgbClr val="6B7A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Agreed with </a:t>
            </a:r>
            <a:r>
              <a:rPr b="0" i="1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established attribute classification?</a:t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412480" y="416052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Occupational ascent </a:t>
            </a:r>
            <a:endParaRPr sz="1200">
              <a:solidFill>
                <a:srgbClr val="6B7A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b="0" i="1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rise in SOC major groups 1–3?</a:t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412480" y="521208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If cascade = gentrification, all three should agree.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Cascade-led is the testable candidat</a:t>
            </a:r>
            <a:r>
              <a:rPr i="1" lang="en-US" sz="1500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METHODOLOGY · 3 OF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02950" y="548527"/>
            <a:ext cx="11185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lang="en-US" sz="2800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Separating mechanism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93208" y="1392943"/>
            <a:ext cx="2011800" cy="567000"/>
          </a:xfrm>
          <a:prstGeom prst="roundRect">
            <a:avLst>
              <a:gd fmla="val 12903" name="adj"/>
            </a:avLst>
          </a:prstGeom>
          <a:solidFill>
            <a:srgbClr val="24303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093208" y="1392943"/>
            <a:ext cx="201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Cascade-led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80560" y="2356391"/>
            <a:ext cx="324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cascade inflow share ≥ 0.25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78650" y="2676500"/>
            <a:ext cx="244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(an empirical gap, both years)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6099048" y="1945185"/>
            <a:ext cx="0" cy="466200"/>
          </a:xfrm>
          <a:prstGeom prst="straightConnector1">
            <a:avLst/>
          </a:prstGeom>
          <a:noFill/>
          <a:ln cap="flat" cmpd="sng" w="22225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1188720" y="36118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frame-robust (A </a:t>
            </a:r>
            <a:r>
              <a:rPr b="1" lang="en-US" sz="1350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1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 C) 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092440" y="36118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external-arm share ≥ 0.5 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63840" y="3849619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(do the</a:t>
            </a:r>
            <a:r>
              <a:rPr i="1" lang="en-US" sz="1050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1" lang="en-US" sz="10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leave London?)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>
            <a:endCxn id="156" idx="2"/>
          </p:cNvCxnSpPr>
          <p:nvPr/>
        </p:nvCxnSpPr>
        <p:spPr>
          <a:xfrm flipH="1" rot="10800000">
            <a:off x="3063350" y="2950700"/>
            <a:ext cx="3040200" cy="691800"/>
          </a:xfrm>
          <a:prstGeom prst="straightConnector1">
            <a:avLst/>
          </a:prstGeom>
          <a:noFill/>
          <a:ln cap="flat" cmpd="sng" w="19050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7"/>
          <p:cNvCxnSpPr>
            <a:stCxn id="156" idx="2"/>
            <a:endCxn id="159" idx="0"/>
          </p:cNvCxnSpPr>
          <p:nvPr/>
        </p:nvCxnSpPr>
        <p:spPr>
          <a:xfrm>
            <a:off x="6103550" y="2950700"/>
            <a:ext cx="3451800" cy="661200"/>
          </a:xfrm>
          <a:prstGeom prst="straightConnector1">
            <a:avLst/>
          </a:prstGeom>
          <a:noFill/>
          <a:ln cap="flat" cmpd="sng" w="19050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7"/>
          <p:cNvSpPr/>
          <p:nvPr/>
        </p:nvSpPr>
        <p:spPr>
          <a:xfrm>
            <a:off x="2686088" y="2935281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YES — inflow cascades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863855" y="2889581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NO — outflow cascades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>
            <a:stCxn id="158" idx="2"/>
            <a:endCxn id="166" idx="0"/>
          </p:cNvCxnSpPr>
          <p:nvPr/>
        </p:nvCxnSpPr>
        <p:spPr>
          <a:xfrm flipH="1">
            <a:off x="1806060" y="3904488"/>
            <a:ext cx="845700" cy="804600"/>
          </a:xfrm>
          <a:prstGeom prst="straightConnector1">
            <a:avLst/>
          </a:prstGeom>
          <a:noFill/>
          <a:ln cap="flat" cmpd="sng" w="15875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7"/>
          <p:cNvCxnSpPr>
            <a:stCxn id="158" idx="2"/>
            <a:endCxn id="168" idx="0"/>
          </p:cNvCxnSpPr>
          <p:nvPr/>
        </p:nvCxnSpPr>
        <p:spPr>
          <a:xfrm>
            <a:off x="2651760" y="3904488"/>
            <a:ext cx="1897500" cy="804600"/>
          </a:xfrm>
          <a:prstGeom prst="straightConnector1">
            <a:avLst/>
          </a:prstGeom>
          <a:noFill/>
          <a:ln cap="flat" cmpd="sng" w="15875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7"/>
          <p:cNvCxnSpPr>
            <a:stCxn id="160" idx="2"/>
          </p:cNvCxnSpPr>
          <p:nvPr/>
        </p:nvCxnSpPr>
        <p:spPr>
          <a:xfrm flipH="1">
            <a:off x="7635240" y="4123819"/>
            <a:ext cx="1920300" cy="475500"/>
          </a:xfrm>
          <a:prstGeom prst="straightConnector1">
            <a:avLst/>
          </a:prstGeom>
          <a:noFill/>
          <a:ln cap="flat" cmpd="sng" w="15875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7"/>
          <p:cNvCxnSpPr>
            <a:stCxn id="160" idx="2"/>
          </p:cNvCxnSpPr>
          <p:nvPr/>
        </p:nvCxnSpPr>
        <p:spPr>
          <a:xfrm>
            <a:off x="9555540" y="4123819"/>
            <a:ext cx="822900" cy="475500"/>
          </a:xfrm>
          <a:prstGeom prst="straightConnector1">
            <a:avLst/>
          </a:prstGeom>
          <a:noFill/>
          <a:ln cap="flat" cmpd="sng" w="15875">
            <a:solidFill>
              <a:srgbClr val="6B7A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7"/>
          <p:cNvSpPr/>
          <p:nvPr/>
        </p:nvSpPr>
        <p:spPr>
          <a:xfrm>
            <a:off x="548640" y="461772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2166AC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713232" y="4709160"/>
            <a:ext cx="21854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1F8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1150" u="none" cap="none" strike="noStrike">
                <a:solidFill>
                  <a:srgbClr val="EAF1F8"/>
                </a:solidFill>
                <a:latin typeface="Calibri"/>
                <a:ea typeface="Calibri"/>
                <a:cs typeface="Calibri"/>
                <a:sym typeface="Calibri"/>
              </a:rPr>
              <a:t>entrification candidates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291840" y="461772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7FB3D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3456432" y="4709160"/>
            <a:ext cx="21854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4A2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150" u="none" cap="none" strike="noStrike">
                <a:solidFill>
                  <a:srgbClr val="5A4A20"/>
                </a:solidFill>
                <a:latin typeface="Calibri"/>
                <a:ea typeface="Calibri"/>
                <a:cs typeface="Calibri"/>
                <a:sym typeface="Calibri"/>
              </a:rPr>
              <a:t>ot frame-robust residuals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55080" y="461772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D9A441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519672" y="4709160"/>
            <a:ext cx="21854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4A20"/>
                </a:solidFill>
                <a:latin typeface="Calibri"/>
                <a:ea typeface="Calibri"/>
                <a:cs typeface="Calibri"/>
                <a:sym typeface="Calibri"/>
              </a:rPr>
              <a:t>Outflows </a:t>
            </a:r>
            <a:r>
              <a:rPr b="0" i="0" lang="en-US" sz="1150" u="none" cap="none" strike="noStrike">
                <a:solidFill>
                  <a:srgbClr val="5A4A20"/>
                </a:solidFill>
                <a:latin typeface="Calibri"/>
                <a:ea typeface="Calibri"/>
                <a:cs typeface="Calibri"/>
                <a:sym typeface="Calibri"/>
              </a:rPr>
              <a:t>stay</a:t>
            </a:r>
            <a:r>
              <a:rPr lang="en-US" sz="1150">
                <a:solidFill>
                  <a:srgbClr val="5A4A2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50" u="none" cap="none" strike="noStrike">
                <a:solidFill>
                  <a:srgbClr val="5A4A20"/>
                </a:solidFill>
                <a:latin typeface="Calibri"/>
                <a:ea typeface="Calibri"/>
                <a:cs typeface="Calibri"/>
                <a:sym typeface="Calibri"/>
              </a:rPr>
              <a:t>within London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098280" y="461772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C0392B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9262872" y="4709160"/>
            <a:ext cx="21854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1F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AF1F8"/>
                </a:solidFill>
                <a:latin typeface="Calibri"/>
                <a:ea typeface="Calibri"/>
                <a:cs typeface="Calibri"/>
                <a:sym typeface="Calibri"/>
              </a:rPr>
              <a:t>Outflows</a:t>
            </a:r>
            <a:r>
              <a:rPr lang="en-US" sz="1150">
                <a:solidFill>
                  <a:srgbClr val="EAF1F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50" u="none" cap="none" strike="noStrike">
                <a:solidFill>
                  <a:srgbClr val="EAF1F8"/>
                </a:solidFill>
                <a:latin typeface="Calibri"/>
                <a:ea typeface="Calibri"/>
                <a:cs typeface="Calibri"/>
                <a:sym typeface="Calibri"/>
              </a:rPr>
              <a:t>leave London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</a:t>
            </a: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500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very cascade-led area lands in exactly one leaf, applied identically to 2011 and 2021.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FINDINGS · 1 OF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Flow and attribute definitions only partly overlap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40080" y="1645920"/>
            <a:ext cx="3429000" cy="2148840"/>
          </a:xfrm>
          <a:prstGeom prst="roundRect">
            <a:avLst>
              <a:gd fmla="val 4255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40080" y="1828800"/>
            <a:ext cx="3429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2E7D4F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40080" y="29260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areas where both agree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Yee-GEN and cascade-led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343400" y="1645920"/>
            <a:ext cx="3429000" cy="2148840"/>
          </a:xfrm>
          <a:prstGeom prst="roundRect">
            <a:avLst>
              <a:gd fmla="val 4255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343400" y="1828800"/>
            <a:ext cx="3429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6B7A88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343400" y="29260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attribute-only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Yee-GEN, no cascade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046720" y="1645920"/>
            <a:ext cx="3429000" cy="2148840"/>
          </a:xfrm>
          <a:prstGeom prst="roundRect">
            <a:avLst>
              <a:gd fmla="val 4255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046720" y="1828800"/>
            <a:ext cx="3429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2166AC"/>
                </a:solidFill>
                <a:latin typeface="Cambria"/>
                <a:ea typeface="Cambria"/>
                <a:cs typeface="Cambria"/>
                <a:sym typeface="Cambria"/>
              </a:rPr>
              <a:t>197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046720" y="29260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flow-only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cascade-led, no Yee-GEN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The IMD kicker — </a:t>
            </a:r>
            <a:r>
              <a:rPr b="0" i="0" lang="en-US" sz="16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adding a cascade signal on top of Yee-GEN weakens, not strengthens, the deprivation gain.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The twist — </a:t>
            </a:r>
            <a:r>
              <a:rPr b="0" i="0" lang="en-US" sz="16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the flow method's own deprivation signal sits in the </a:t>
            </a:r>
            <a:r>
              <a:rPr b="1" i="0" lang="en-US" sz="1600" u="none" cap="none" strike="noStrike">
                <a:solidFill>
                  <a:srgbClr val="D97E2B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r>
              <a:rPr b="0" i="0" lang="en-US" sz="16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 direction; the rare agreement is 2011, inner London. Occupational ascent concurs.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The two lenses measure different things — but is “cascade-led” one mechanism, or several wearing one label?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FINDINGS · 2 OF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lang="en-US" sz="2800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1" i="0" lang="en-US" sz="28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ascade-led</a:t>
            </a:r>
            <a:r>
              <a:rPr b="1" lang="en-US" sz="2800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28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changes dramatically over the decade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35880" y="1536130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2011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9167" y="2167128"/>
            <a:ext cx="148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659367" y="2148840"/>
            <a:ext cx="2304300" cy="402300"/>
          </a:xfrm>
          <a:prstGeom prst="roundRect">
            <a:avLst>
              <a:gd fmla="val 9091" name="adj"/>
            </a:avLst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036807" y="2167128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9167" y="2916936"/>
            <a:ext cx="148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659367" y="2898648"/>
            <a:ext cx="2345400" cy="402300"/>
          </a:xfrm>
          <a:prstGeom prst="roundRect">
            <a:avLst>
              <a:gd fmla="val 9091" name="adj"/>
            </a:avLst>
          </a:prstGeom>
          <a:solidFill>
            <a:srgbClr val="7FB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077955" y="291693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9167" y="3666744"/>
            <a:ext cx="148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659367" y="3648456"/>
            <a:ext cx="3333000" cy="402300"/>
          </a:xfrm>
          <a:prstGeom prst="roundRect">
            <a:avLst>
              <a:gd fmla="val 9091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111171" y="3666744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9167" y="4416552"/>
            <a:ext cx="148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659367" y="4398264"/>
            <a:ext cx="781800" cy="402300"/>
          </a:xfrm>
          <a:prstGeom prst="roundRect">
            <a:avLst>
              <a:gd fmla="val 9091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2514331" y="4416552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415788" y="1536193"/>
            <a:ext cx="182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2021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400800" y="2167128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001000" y="2148840"/>
            <a:ext cx="534924" cy="402336"/>
          </a:xfrm>
          <a:prstGeom prst="roundRect">
            <a:avLst>
              <a:gd fmla="val 9091" name="adj"/>
            </a:avLst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8609076" y="216712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400800" y="2916936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001000" y="2898648"/>
            <a:ext cx="576072" cy="402336"/>
          </a:xfrm>
          <a:prstGeom prst="roundRect">
            <a:avLst>
              <a:gd fmla="val 9091" name="adj"/>
            </a:avLst>
          </a:prstGeom>
          <a:solidFill>
            <a:srgbClr val="7FB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8650224" y="291693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400800" y="3666744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8001000" y="3648456"/>
            <a:ext cx="3703320" cy="402336"/>
          </a:xfrm>
          <a:prstGeom prst="roundRect">
            <a:avLst>
              <a:gd fmla="val 9091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11777472" y="366674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400800" y="4416552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8001000" y="4398264"/>
            <a:ext cx="3209544" cy="402336"/>
          </a:xfrm>
          <a:prstGeom prst="roundRect">
            <a:avLst>
              <a:gd fmla="val 9091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1283696" y="441655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5623560" y="338866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6B7A8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9"/>
          <p:cNvSpPr/>
          <p:nvPr/>
        </p:nvSpPr>
        <p:spPr>
          <a:xfrm>
            <a:off x="640080" y="5257800"/>
            <a:ext cx="201168" cy="201168"/>
          </a:xfrm>
          <a:prstGeom prst="ellipse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950976" y="5138928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Genuine inflow-driven cascade collapses.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434840" y="5257800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745736" y="5138928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External-outflow quadruples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229600" y="5257800"/>
            <a:ext cx="201168" cy="201168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8540496" y="5138928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Internal-outflow stays remarkably stable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Identical cascade statistics — produced by very different underlying processes.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FINDINGS · 3 OF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Which mechanism actually corresponds to gentrification?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Where does Yee's GEN actually live?  (enrichment vs base rate, Fisher-tested, BH-corrected — numbers spoken, not shown)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40080" y="1965960"/>
            <a:ext cx="10927080" cy="786384"/>
          </a:xfrm>
          <a:prstGeom prst="roundRect">
            <a:avLst>
              <a:gd fmla="val 8140" name="adj"/>
            </a:avLst>
          </a:prstGeom>
          <a:solidFill>
            <a:srgbClr val="EEF6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868680" y="2221992"/>
            <a:ext cx="274320" cy="274320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325880" y="1965960"/>
            <a:ext cx="2880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297680" y="1965960"/>
            <a:ext cx="2834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✔✔  Strong enrichment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223760" y="1965960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the only cell significant on BOTH 2011 and 2021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0080" y="2898648"/>
            <a:ext cx="10927080" cy="786384"/>
          </a:xfrm>
          <a:prstGeom prst="roundRect">
            <a:avLst>
              <a:gd fmla="val 8140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68680" y="3154680"/>
            <a:ext cx="274320" cy="274320"/>
          </a:xfrm>
          <a:prstGeom prst="ellipse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1325880" y="2898648"/>
            <a:ext cx="2880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297680" y="2898648"/>
            <a:ext cx="2834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08A2E"/>
                </a:solidFill>
                <a:latin typeface="Calibri"/>
                <a:ea typeface="Calibri"/>
                <a:cs typeface="Calibri"/>
                <a:sym typeface="Calibri"/>
              </a:rPr>
              <a:t>✔  Weak enrichment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223760" y="2898648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concurrent only — does not persist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3831336"/>
            <a:ext cx="10927080" cy="786384"/>
          </a:xfrm>
          <a:prstGeom prst="roundRect">
            <a:avLst>
              <a:gd fmla="val 8140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868680" y="4087368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325880" y="3831336"/>
            <a:ext cx="2880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outflow-external (exodus)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297680" y="3831336"/>
            <a:ext cx="2834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402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✘  GEN-depleted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223760" y="3831336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not gentrification moving out — external corroboration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0080" y="4764024"/>
            <a:ext cx="10927080" cy="786384"/>
          </a:xfrm>
          <a:prstGeom prst="roundRect">
            <a:avLst>
              <a:gd fmla="val 8140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68680" y="5020056"/>
            <a:ext cx="274320" cy="274320"/>
          </a:xfrm>
          <a:prstGeom prst="ellipse">
            <a:avLst/>
          </a:prstGeom>
          <a:solidFill>
            <a:srgbClr val="D97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1325880" y="4764024"/>
            <a:ext cx="28803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counter-led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297680" y="4764024"/>
            <a:ext cx="2834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402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✘  GEN-depleted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223760" y="4764024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the anti-gentrification direction, both clocks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Attribute-defined gentrification lives in the internal-OUTFLOW branch — why?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FINDINGS · 4 OF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i="0" lang="en-US" sz="28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Different gentrification subtypes occupy different flow mechanisms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556050" y="2142188"/>
            <a:ext cx="2294100" cy="685800"/>
          </a:xfrm>
          <a:prstGeom prst="roundRect">
            <a:avLst>
              <a:gd fmla="val 4211" name="adj"/>
            </a:avLst>
          </a:prstGeom>
          <a:solidFill>
            <a:srgbClr val="DCE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9588300" y="2142200"/>
            <a:ext cx="2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Mainstream gentrification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02920" y="62179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77240" y="62179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wo lenses see the same city through different arms of the cascade.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1" title="fig_eda12_yee_subtype_mechanism_map_202607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550" y="1537150"/>
            <a:ext cx="8950876" cy="457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/>
          <p:nvPr/>
        </p:nvSpPr>
        <p:spPr>
          <a:xfrm>
            <a:off x="9556050" y="3055863"/>
            <a:ext cx="2294100" cy="685800"/>
          </a:xfrm>
          <a:prstGeom prst="roundRect">
            <a:avLst>
              <a:gd fmla="val 4211" name="adj"/>
            </a:avLst>
          </a:prstGeom>
          <a:solidFill>
            <a:srgbClr val="DCE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9588300" y="2995387"/>
            <a:ext cx="2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Super </a:t>
            </a:r>
            <a:r>
              <a:rPr b="1" i="0" lang="en-US" sz="15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gentrification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Internal-outflow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588300" y="4030013"/>
            <a:ext cx="2294100" cy="685800"/>
          </a:xfrm>
          <a:prstGeom prst="roundRect">
            <a:avLst>
              <a:gd fmla="val 4211" name="adj"/>
            </a:avLst>
          </a:prstGeom>
          <a:solidFill>
            <a:srgbClr val="DCE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9620550" y="3969537"/>
            <a:ext cx="2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1" lang="en-US" sz="1500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2166AC"/>
                </a:solidFill>
                <a:latin typeface="Calibri"/>
                <a:ea typeface="Calibri"/>
                <a:cs typeface="Calibri"/>
                <a:sym typeface="Calibri"/>
              </a:rPr>
              <a:t>gentrification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External-outflow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733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502930" y="4808100"/>
            <a:ext cx="11099100" cy="1554600"/>
          </a:xfrm>
          <a:prstGeom prst="roundRect">
            <a:avLst>
              <a:gd fmla="val 4706" name="adj"/>
            </a:avLst>
          </a:prstGeom>
          <a:solidFill>
            <a:srgbClr val="1F3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So, where do they go?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40075" y="1623350"/>
            <a:ext cx="10058400" cy="685800"/>
          </a:xfrm>
          <a:prstGeom prst="roundRect">
            <a:avLst>
              <a:gd fmla="val 5161" name="adj"/>
            </a:avLst>
          </a:prstGeom>
          <a:solidFill>
            <a:srgbClr val="263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1066278" y="1698565"/>
            <a:ext cx="9206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1 · </a:t>
            </a:r>
            <a:r>
              <a:rPr b="1" lang="en-US" sz="1600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Cascade ≠ Gentrification.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640075" y="4904375"/>
            <a:ext cx="110991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ADCF0"/>
                </a:solidFill>
                <a:latin typeface="Cambria"/>
                <a:ea typeface="Cambria"/>
                <a:cs typeface="Cambria"/>
                <a:sym typeface="Cambria"/>
              </a:rPr>
              <a:t>Gentrification is better characterised by a persistent, inflow-led, inner-London cascade, coinciding </a:t>
            </a:r>
            <a:r>
              <a:rPr i="1" lang="en-US" sz="1700">
                <a:solidFill>
                  <a:srgbClr val="CADCF0"/>
                </a:solidFill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i="1" lang="en-US" sz="1700">
                <a:solidFill>
                  <a:srgbClr val="CADCF0"/>
                </a:solidFill>
                <a:latin typeface="Cambria"/>
                <a:ea typeface="Cambria"/>
                <a:cs typeface="Cambria"/>
                <a:sym typeface="Cambria"/>
              </a:rPr>
              <a:t> attribute ascent</a:t>
            </a:r>
            <a:r>
              <a:rPr b="0" i="1" lang="en-US" sz="1700" u="none" cap="none" strike="noStrike">
                <a:solidFill>
                  <a:srgbClr val="CADCF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1" sz="1700" u="none" cap="none" strike="noStrike">
              <a:solidFill>
                <a:srgbClr val="CADCF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2000"/>
              <a:buFont typeface="Cambria"/>
              <a:buNone/>
            </a:pPr>
            <a:r>
              <a:t/>
            </a:r>
            <a:endParaRPr i="1" sz="1700">
              <a:solidFill>
                <a:srgbClr val="CADCF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ADCF0"/>
                </a:solidFill>
                <a:latin typeface="Cambria"/>
                <a:ea typeface="Cambria"/>
                <a:cs typeface="Cambria"/>
                <a:sym typeface="Cambria"/>
              </a:rPr>
              <a:t>Gentrification is best understood as a set of migration mechanisms.</a:t>
            </a:r>
            <a:endParaRPr i="1" sz="1700">
              <a:solidFill>
                <a:srgbClr val="CADCF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40125" y="2678375"/>
            <a:ext cx="10058400" cy="685800"/>
          </a:xfrm>
          <a:prstGeom prst="roundRect">
            <a:avLst>
              <a:gd fmla="val 5161" name="adj"/>
            </a:avLst>
          </a:prstGeom>
          <a:solidFill>
            <a:srgbClr val="263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1066328" y="2753590"/>
            <a:ext cx="9206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60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600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Identical cascade values can arise from different mechanisms.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40175" y="3791375"/>
            <a:ext cx="10058400" cy="685800"/>
          </a:xfrm>
          <a:prstGeom prst="roundRect">
            <a:avLst>
              <a:gd fmla="val 5161" name="adj"/>
            </a:avLst>
          </a:prstGeom>
          <a:solidFill>
            <a:srgbClr val="263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1066378" y="3866590"/>
            <a:ext cx="9206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60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600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“Where people go” depends on flow mechanisms, not simply origins/destinations.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CONTRIBUTION &amp;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What this adds — and what it can't say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40080" y="150876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CONTRIBUTIONS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EAF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E7D4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188720" y="192024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 framework that separates re-ranking, external migration, and genuine cascade processes.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EAF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E7D4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188720" y="288036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 mechanism tree that separates gentrification's subtypes — mainstream in the arrival arm, super-gentrification in the displacement arm.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EAF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E7D4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188720" y="384048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An open-data, reproducible, whole-city flow lens — public census OD + IMD across all of London.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537960" y="15087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40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3402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537960" y="19202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Ecological — </a:t>
            </a: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area of origin is a noisy proxy for a mover's wealth — which itself explains the decoupling.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6537960" y="2816352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Temporal mismatch — </a:t>
            </a: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flows 2011→2021; IMD 2010→2019; Yee labels 2001–2011 — hence the two-clock framing.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537960" y="3712464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Ladder ceiling — </a:t>
            </a: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top deciles cannot be inflow-led; the SupGen alignment is part substance, part construction.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6537960" y="4608576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Lockdown census — </a:t>
            </a:r>
            <a:r>
              <a:rPr b="0" i="0" lang="en-US" sz="125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March-2021 suppression and imputation degrade the flow estimates.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fmla="val 967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777240" y="5989320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TAKEAWAY   </a:t>
            </a:r>
            <a:r>
              <a:rPr b="0" i="1" lang="en-US" sz="15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Stated plainly, so they don't come back as objections. Next: case-study chapter &amp; spatial characterisation of the divergence.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73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/>
          <p:nvPr/>
        </p:nvSpPr>
        <p:spPr>
          <a:xfrm>
            <a:off x="822960" y="914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0"/>
                </a:solidFill>
                <a:latin typeface="Calibri"/>
                <a:ea typeface="Calibri"/>
                <a:cs typeface="Calibri"/>
                <a:sym typeface="Calibri"/>
              </a:rPr>
              <a:t>Questions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822960" y="2743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5BB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822960" y="3154680"/>
            <a:ext cx="105156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FC0C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Dennett, A. &amp; Stillwell, J. (2008). Population turnover and churn. Population Trends 134.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FC0C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Ding, L., Hwang, J. &amp; Divringi, E. (2016). Gentrification and residential mobility. Reg. Sci. Urban Econ. 61.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FC0C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Freeman, L., Hwang, J., Haupert, T. &amp; Zhang, S. (2024). Urban Affairs Review 60(1).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FC0C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Marcuse, P. (1985). Gentrification, abandonment and displacement. J. Urban &amp; Contemp. Law 28.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FC0C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Smith, D. (2022). Tracking gentrification in London and Manchester using 2021 Census occupational class data. CityGeographics.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FC0C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FC0CE"/>
                </a:solidFill>
                <a:latin typeface="Calibri"/>
                <a:ea typeface="Calibri"/>
                <a:cs typeface="Calibri"/>
                <a:sym typeface="Calibri"/>
              </a:rPr>
              <a:t>Yee, J. &amp; Dennett, A. (2022). Stratifying and predicting gentrification in London. Trans. Inst. Br. Geogr. 47(3).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APPENDIX · BACKUP FOR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502920" y="548640"/>
            <a:ext cx="111858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303C"/>
                </a:solidFill>
                <a:latin typeface="Cambria"/>
                <a:ea typeface="Cambria"/>
                <a:cs typeface="Cambria"/>
                <a:sym typeface="Cambria"/>
              </a:rPr>
              <a:t>Four neighbourhoods, four mechanisms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11414455" y="6355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project/fig01_case_locator_choropleth_v2.png" id="350" name="Google Shape;3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512064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5"/>
          <p:cNvSpPr/>
          <p:nvPr/>
        </p:nvSpPr>
        <p:spPr>
          <a:xfrm>
            <a:off x="5852160" y="1554480"/>
            <a:ext cx="2880360" cy="2011680"/>
          </a:xfrm>
          <a:prstGeom prst="roundRect">
            <a:avLst>
              <a:gd fmla="val 3636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6035040" y="1737360"/>
            <a:ext cx="237744" cy="237744"/>
          </a:xfrm>
          <a:prstGeom prst="ellipse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6364224" y="16824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A · Genuine cascade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6035040" y="2057400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Camden 026 · Tower Hamlets 010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inflow-driven in both years (2 of only 8 city-wide); both arms thick, frame-robust. Yee-modal Stable — the flow lens sees what attributes miss.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8869680" y="1554480"/>
            <a:ext cx="2880360" cy="2011680"/>
          </a:xfrm>
          <a:prstGeom prst="roundRect">
            <a:avLst>
              <a:gd fmla="val 3636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9052560" y="1737360"/>
            <a:ext cx="237744" cy="237744"/>
          </a:xfrm>
          <a:prstGeom prst="ellipse">
            <a:avLst/>
          </a:prstGeom>
          <a:solidFill>
            <a:srgbClr val="D97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9381744" y="168249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B · Cascade → counter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9052560" y="2057400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Southwark 003 · Islington 008 · Wandsworth 035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IMD keeps improving, yet flows flip counter-led by 2021 — the decoupling made visible (Finding 1).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852160" y="3703320"/>
            <a:ext cx="2880360" cy="2011680"/>
          </a:xfrm>
          <a:prstGeom prst="roundRect">
            <a:avLst>
              <a:gd fmla="val 3636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6035040" y="3886200"/>
            <a:ext cx="237744" cy="237744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6364224" y="383133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C · London-contained outflow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6035040" y="4206240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Harrow 008 · Harrow 029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outflow-internal (ext arm 0.43 / 0.41): poorer outflow stays within London — a structural feature of the national ladder, not exodus.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869680" y="3703320"/>
            <a:ext cx="2880360" cy="2011680"/>
          </a:xfrm>
          <a:prstGeom prst="roundRect">
            <a:avLst>
              <a:gd fmla="val 3636" name="adj"/>
            </a:avLst>
          </a:prstGeom>
          <a:solidFill>
            <a:srgbClr val="F2F5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9052560" y="3886200"/>
            <a:ext cx="237744" cy="23774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9381744" y="383133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D · Literal exodus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9052560" y="4206240"/>
            <a:ext cx="2560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Kingston 019 · Croydon 044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0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4303C"/>
                </a:solidFill>
                <a:latin typeface="Calibri"/>
                <a:ea typeface="Calibri"/>
                <a:cs typeface="Calibri"/>
                <a:sym typeface="Calibri"/>
              </a:rPr>
              <a:t>outflow-external: near-zero inflow, majority of out-moves leave London. One baseline member, one emergent by 2021 (Finding 2).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852160" y="5806440"/>
            <a:ext cx="5806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8"/>
                </a:solidFill>
                <a:latin typeface="Calibri"/>
                <a:ea typeface="Calibri"/>
                <a:cs typeface="Calibri"/>
                <a:sym typeface="Calibri"/>
              </a:rPr>
              <a:t>C and D share near-zero inflow — only the out-arm destination differs: “exodus” is measured, not relabelled.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