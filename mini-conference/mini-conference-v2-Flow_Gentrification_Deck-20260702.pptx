
<file path=[Content_Types].xml><?xml version="1.0" encoding="utf-8"?>
<Types xmlns="http://schemas.openxmlformats.org/package/2006/content-types">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8.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2.xml"/>
  <Override ContentType="application/vnd.openxmlformats-officedocument.presentationml.notesSlide+xml" PartName="/ppt/notesSlides/notesSlide5.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1.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6.xml"/>
  <Override ContentType="application/vnd.openxmlformats-officedocument.presentationml.slide+xml" PartName="/ppt/slides/slide9.xml"/>
  <Override ContentType="application/vnd.openxmlformats-officedocument.presentationml.slide+xml" PartName="/ppt/slides/slide5.xml"/>
  <Override ContentType="application/vnd.openxmlformats-officedocument.presentationml.slide+xml" PartName="/ppt/slides/slide8.xml"/>
  <Override ContentType="application/vnd.openxmlformats-officedocument.presentationml.slide+xml" PartName="/ppt/slides/slide7.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49"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Lst>
  <p:sldSz cy="6858000" cx="12192000"/>
  <p:notesSz cx="6858000" cy="12192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3CDC1EAC-0418-4F01-B0E6-199032B1E9C5}">
  <a:tblStyle styleId="{3CDC1EAC-0418-4F01-B0E6-199032B1E9C5}" styleName="Table_0">
    <a:wholeTbl>
      <a:tcTxStyle>
        <a:font>
          <a:latin typeface="Arial"/>
          <a:ea typeface="Arial"/>
          <a:cs typeface="Arial"/>
        </a:font>
        <a:srgbClr val="000000"/>
      </a:tcTx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_rels/presentation.xml.rels><?xml version="1.0" encoding="UTF-8" standalone="yes"?><Relationships xmlns="http://schemas.openxmlformats.org/package/2006/relationships"><Relationship Id="rId11" Type="http://schemas.openxmlformats.org/officeDocument/2006/relationships/slide" Target="slides/slide6.xml"/><Relationship Id="rId10" Type="http://schemas.openxmlformats.org/officeDocument/2006/relationships/slide" Target="slides/slide5.xml"/><Relationship Id="rId13" Type="http://schemas.openxmlformats.org/officeDocument/2006/relationships/slide" Target="slides/slide8.xml"/><Relationship Id="rId12" Type="http://schemas.openxmlformats.org/officeDocument/2006/relationships/slide" Target="slides/slide7.xml"/><Relationship Id="rId1" Type="http://schemas.openxmlformats.org/officeDocument/2006/relationships/theme" Target="theme/theme1.xml"/><Relationship Id="rId2" Type="http://schemas.openxmlformats.org/officeDocument/2006/relationships/presProps" Target="presProps.xml"/><Relationship Id="rId3" Type="http://schemas.openxmlformats.org/officeDocument/2006/relationships/tableStyles" Target="tableStyles.xml"/><Relationship Id="rId4" Type="http://schemas.openxmlformats.org/officeDocument/2006/relationships/slideMaster" Target="slideMasters/slideMaster1.xml"/><Relationship Id="rId9" Type="http://schemas.openxmlformats.org/officeDocument/2006/relationships/slide" Target="slides/slide4.xml"/><Relationship Id="rId15" Type="http://schemas.openxmlformats.org/officeDocument/2006/relationships/slide" Target="slides/slide10.xml"/><Relationship Id="rId14" Type="http://schemas.openxmlformats.org/officeDocument/2006/relationships/slide" Target="slides/slide9.xml"/><Relationship Id="rId16" Type="http://schemas.openxmlformats.org/officeDocument/2006/relationships/slide" Target="slides/slide11.xml"/><Relationship Id="rId5" Type="http://schemas.openxmlformats.org/officeDocument/2006/relationships/notesMaster" Target="notesMasters/notesMaster1.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71800" cy="458788"/>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4" name="Google Shape;4;n"/>
          <p:cNvSpPr txBox="1"/>
          <p:nvPr>
            <p:ph idx="10" type="dt"/>
          </p:nvPr>
        </p:nvSpPr>
        <p:spPr>
          <a:xfrm>
            <a:off x="3884613" y="0"/>
            <a:ext cx="2971800" cy="458788"/>
          </a:xfrm>
          <a:prstGeom prst="rect">
            <a:avLst/>
          </a:prstGeom>
          <a:noFill/>
          <a:ln>
            <a:noFill/>
          </a:ln>
        </p:spPr>
        <p:txBody>
          <a:bodyPr anchorCtr="0" anchor="t" bIns="45700" lIns="91425" spcFirstLastPara="1" rIns="91425" wrap="square" tIns="45700">
            <a:noAutofit/>
          </a:bodyPr>
          <a:lstStyle>
            <a:lvl1pPr lvl="0" marR="0" rtl="0" algn="r">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5" name="Google Shape;5;n"/>
          <p:cNvSpPr/>
          <p:nvPr>
            <p:ph idx="3"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lvl1pPr indent="-228600" lvl="0" marL="457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indent="-228600" lvl="1" marL="914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2pPr>
            <a:lvl3pPr indent="-228600" lvl="2" marL="1371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3pPr>
            <a:lvl4pPr indent="-228600" lvl="3" marL="1828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4pPr>
            <a:lvl5pPr indent="-228600" lvl="4" marL="22860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5pPr>
            <a:lvl6pPr indent="-228600" lvl="5" marL="2743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6pPr>
            <a:lvl7pPr indent="-228600" lvl="6" marL="3200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7pPr>
            <a:lvl8pPr indent="-228600" lvl="7" marL="3657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8pPr>
            <a:lvl9pPr indent="-228600" lvl="8" marL="4114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9pPr>
          </a:lstStyle>
          <a:p/>
        </p:txBody>
      </p:sp>
      <p:sp>
        <p:nvSpPr>
          <p:cNvPr id="7" name="Google Shape;7;n"/>
          <p:cNvSpPr txBox="1"/>
          <p:nvPr>
            <p:ph idx="11" type="ftr"/>
          </p:nvPr>
        </p:nvSpPr>
        <p:spPr>
          <a:xfrm>
            <a:off x="0" y="8685213"/>
            <a:ext cx="2971800" cy="458787"/>
          </a:xfrm>
          <a:prstGeom prst="rect">
            <a:avLst/>
          </a:prstGeom>
          <a:noFill/>
          <a:ln>
            <a:noFill/>
          </a:ln>
        </p:spPr>
        <p:txBody>
          <a:bodyPr anchorCtr="0" anchor="b"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8" name="Google Shape;8;n"/>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n-US"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 name="Shape 11"/>
        <p:cNvGrpSpPr/>
        <p:nvPr/>
      </p:nvGrpSpPr>
      <p:grpSpPr>
        <a:xfrm>
          <a:off x="0" y="0"/>
          <a:ext cx="0" cy="0"/>
          <a:chOff x="0" y="0"/>
          <a:chExt cx="0" cy="0"/>
        </a:xfrm>
      </p:grpSpPr>
      <p:sp>
        <p:nvSpPr>
          <p:cNvPr id="12" name="Google Shape;12;p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3" name="Google Shape;13;p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I measure gentrification by tracking the actual movement of people across London's deprivation hierarchy between the 2011 and 2021 censuses, and I test whether that flow lens agrees with the usual attribute-based way of detecting gentrification. </a:t>
            </a:r>
            <a:endParaRPr/>
          </a:p>
          <a:p>
            <a:pPr indent="0" lvl="0" marL="0" rtl="0" algn="l">
              <a:spcBef>
                <a:spcPts val="0"/>
              </a:spcBef>
              <a:spcAft>
                <a:spcPts val="0"/>
              </a:spcAft>
              <a:buNone/>
            </a:pPr>
            <a:r>
              <a:rPr lang="en-US"/>
              <a:t>it mostly doesn't — and that's the finding.</a:t>
            </a:r>
            <a:endParaRPr/>
          </a:p>
        </p:txBody>
      </p:sp>
      <p:sp>
        <p:nvSpPr>
          <p:cNvPr id="14" name="Google Shape;14;p1: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 name="Shape 34"/>
        <p:cNvGrpSpPr/>
        <p:nvPr/>
      </p:nvGrpSpPr>
      <p:grpSpPr>
        <a:xfrm>
          <a:off x="0" y="0"/>
          <a:ext cx="0" cy="0"/>
          <a:chOff x="0" y="0"/>
          <a:chExt cx="0" cy="0"/>
        </a:xfrm>
      </p:grpSpPr>
      <p:sp>
        <p:nvSpPr>
          <p:cNvPr id="35" name="Google Shape;35;p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6" name="Google Shape;36;p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The intuition — and it's an old, respectable one from Marcuse — is that gentrification radiates outward as a chain of moves, so if you follow the flows you've found gentrification. Two caveats I state up front so no one thinks I'm over-claiming: I measure area-level restructuring, not individual gentrifiers; and a move from a wealthier AREA doesn't mean a wealthier PERSON. The question is whether the flow lens lines up with attribute methods.</a:t>
            </a:r>
            <a:endParaRPr/>
          </a:p>
        </p:txBody>
      </p:sp>
      <p:sp>
        <p:nvSpPr>
          <p:cNvPr id="37" name="Google Shape;37;p2: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1" name="Shape 51"/>
        <p:cNvGrpSpPr/>
        <p:nvPr/>
      </p:nvGrpSpPr>
      <p:grpSpPr>
        <a:xfrm>
          <a:off x="0" y="0"/>
          <a:ext cx="0" cy="0"/>
          <a:chOff x="0" y="0"/>
          <a:chExt cx="0" cy="0"/>
        </a:xfrm>
      </p:grpSpPr>
      <p:sp>
        <p:nvSpPr>
          <p:cNvPr id="52" name="Google Shape;52;p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3" name="Google Shape;53;p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The one design choice everything rests on: the deprivation ruler is held still at 2010 across both census years. </a:t>
            </a:r>
            <a:endParaRPr/>
          </a:p>
          <a:p>
            <a:pPr indent="0" lvl="0" marL="0" rtl="0" algn="l">
              <a:spcBef>
                <a:spcPts val="0"/>
              </a:spcBef>
              <a:spcAft>
                <a:spcPts val="0"/>
              </a:spcAft>
              <a:buNone/>
            </a:pPr>
            <a:r>
              <a:rPr lang="en-US"/>
              <a:t>Two reasons for this design — any change 2011 to 2021 is then attributable to how people moved, not to neighbourhoods being re-ranked underneath them; and it keeps the 2019 IMD entirely on the outcome side, so when I later validate against 2010–2019 deprivation change the classifier isn't being marked against data it already used. The cost — an eleven-year-stale ladder — I'll flag at the end.</a:t>
            </a:r>
            <a:endParaRPr/>
          </a:p>
        </p:txBody>
      </p:sp>
      <p:sp>
        <p:nvSpPr>
          <p:cNvPr id="54" name="Google Shape;54;p3: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4" name="Shape 84"/>
        <p:cNvGrpSpPr/>
        <p:nvPr/>
      </p:nvGrpSpPr>
      <p:grpSpPr>
        <a:xfrm>
          <a:off x="0" y="0"/>
          <a:ext cx="0" cy="0"/>
          <a:chOff x="0" y="0"/>
          <a:chExt cx="0" cy="0"/>
        </a:xfrm>
      </p:grpSpPr>
      <p:sp>
        <p:nvSpPr>
          <p:cNvPr id="85" name="Google Shape;85;p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86" name="Google Shape;86;p4: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The classic chain has a signature: wealthier arriving, poorer leaving downward. I split every hierarchy-crossing move into four elementary flows. </a:t>
            </a:r>
            <a:endParaRPr/>
          </a:p>
          <a:p>
            <a:pPr indent="0" lvl="0" marL="0" rtl="0" algn="l">
              <a:spcBef>
                <a:spcPts val="0"/>
              </a:spcBef>
              <a:spcAft>
                <a:spcPts val="0"/>
              </a:spcAft>
              <a:buNone/>
            </a:pPr>
            <a:r>
              <a:rPr lang="en-US"/>
              <a:t>The two orange ones </a:t>
            </a:r>
            <a:r>
              <a:rPr lang="en-US"/>
              <a:t>make up the cascade</a:t>
            </a:r>
            <a:r>
              <a:rPr lang="en-US"/>
              <a:t> — inflow-from-wealthier and outflow-to-poore. </a:t>
            </a:r>
            <a:endParaRPr/>
          </a:p>
          <a:p>
            <a:pPr indent="0" lvl="0" marL="0" rtl="0" algn="l">
              <a:spcBef>
                <a:spcPts val="0"/>
              </a:spcBef>
              <a:spcAft>
                <a:spcPts val="0"/>
              </a:spcAft>
              <a:buNone/>
            </a:pPr>
            <a:r>
              <a:rPr lang="en-US"/>
              <a:t>The two blue ones make up the counter direction. </a:t>
            </a:r>
            <a:endParaRPr/>
          </a:p>
          <a:p>
            <a:pPr indent="0" lvl="0" marL="0" rtl="0" algn="l">
              <a:spcBef>
                <a:spcPts val="0"/>
              </a:spcBef>
              <a:spcAft>
                <a:spcPts val="0"/>
              </a:spcAft>
              <a:buNone/>
            </a:pPr>
            <a:r>
              <a:rPr lang="en-US"/>
              <a:t>Again: area-to-area, not individual movers.</a:t>
            </a:r>
            <a:endParaRPr/>
          </a:p>
        </p:txBody>
      </p:sp>
      <p:sp>
        <p:nvSpPr>
          <p:cNvPr id="87" name="Google Shape;87;p4: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2" name="Shape 122"/>
        <p:cNvGrpSpPr/>
        <p:nvPr/>
      </p:nvGrpSpPr>
      <p:grpSpPr>
        <a:xfrm>
          <a:off x="0" y="0"/>
          <a:ext cx="0" cy="0"/>
          <a:chOff x="0" y="0"/>
          <a:chExt cx="0" cy="0"/>
        </a:xfrm>
      </p:grpSpPr>
      <p:sp>
        <p:nvSpPr>
          <p:cNvPr id="123" name="Google Shape;123;p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24" name="Google Shape;124;p5: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From the four flows I build two summaries per family: the NET (subtraction) says which direction wins; the CHURN (addition) says how much reshuffling there is regardless of net — that additive move follows Dennett and Stillwell's churn measure, capturing volume of turnover, which is known to track deprivation at small scales. Two axes then define four regimes. Cascade-led is the one the classic assumption equates with gentrification — that's the equation the rest of the talk tests.</a:t>
            </a:r>
            <a:endParaRPr/>
          </a:p>
        </p:txBody>
      </p:sp>
      <p:sp>
        <p:nvSpPr>
          <p:cNvPr id="125" name="Google Shape;125;p5: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4" name="Shape 144"/>
        <p:cNvGrpSpPr/>
        <p:nvPr/>
      </p:nvGrpSpPr>
      <p:grpSpPr>
        <a:xfrm>
          <a:off x="0" y="0"/>
          <a:ext cx="0" cy="0"/>
          <a:chOff x="0" y="0"/>
          <a:chExt cx="0" cy="0"/>
        </a:xfrm>
      </p:grpSpPr>
      <p:sp>
        <p:nvSpPr>
          <p:cNvPr id="145" name="Google Shape;145;p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46" name="Google Shape;146;p6: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A naïve London-vs-national comparison confounds two things: changing the ruler and adding external moves. Frame B separates them, so I can attribute every change to re-ranking or to external flows. That's why London-only stays the core — it's the ruler on which moving up within London still means gentrification, since most of London sits low on the national scale. External flows aren't discarded: fig 20b shows within-London dominates the volume, but the big 2021 change is the London-to-outside surge — small channel, big shock — which is the pandemic exodus.</a:t>
            </a:r>
            <a:endParaRPr/>
          </a:p>
        </p:txBody>
      </p:sp>
      <p:sp>
        <p:nvSpPr>
          <p:cNvPr id="147" name="Google Shape;147;p6: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8" name="Shape 158"/>
        <p:cNvGrpSpPr/>
        <p:nvPr/>
      </p:nvGrpSpPr>
      <p:grpSpPr>
        <a:xfrm>
          <a:off x="0" y="0"/>
          <a:ext cx="0" cy="0"/>
          <a:chOff x="0" y="0"/>
          <a:chExt cx="0" cy="0"/>
        </a:xfrm>
      </p:grpSpPr>
      <p:sp>
        <p:nvSpPr>
          <p:cNvPr id="159" name="Google Shape;159;p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60" name="Google Shape;160;p7: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To test the equivalence I don't just describe the flows — I put the flow typology head-to-head against two independent attribute-based gentrification measures, and against whether the area's deprivation actually improved on IMD. If cascade equals gentrification, all three should agree. The next two slides are what happens when you check.</a:t>
            </a:r>
            <a:endParaRPr/>
          </a:p>
        </p:txBody>
      </p:sp>
      <p:sp>
        <p:nvSpPr>
          <p:cNvPr id="161" name="Google Shape;161;p7: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5" name="Shape 185"/>
        <p:cNvGrpSpPr/>
        <p:nvPr/>
      </p:nvGrpSpPr>
      <p:grpSpPr>
        <a:xfrm>
          <a:off x="0" y="0"/>
          <a:ext cx="0" cy="0"/>
          <a:chOff x="0" y="0"/>
          <a:chExt cx="0" cy="0"/>
        </a:xfrm>
      </p:grpSpPr>
      <p:sp>
        <p:nvSpPr>
          <p:cNvPr id="186" name="Google Shape;186;p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87" name="Google Shape;187;p8: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The centrepiece. Of the areas either method flags as its version of gentrification, only 58 agree, while 149 are attribute-only and 155 are flow-only. Cramér's V of 0.10 and an Adjusted Rand Index of essentially zero say the two schemes agree no better than random. And the IMD check: Yee's attribute-gentrifying areas improve on deprivation, but adding a cascade signal on top actually weakens the gain — so cascade is not the engine of measured gentrification. The twist: the flow method's own deprivation signal sits in the counter direction, and the only place the two methods agree is classic 2011 inner-London gentrification.</a:t>
            </a:r>
            <a:endParaRPr/>
          </a:p>
        </p:txBody>
      </p:sp>
      <p:sp>
        <p:nvSpPr>
          <p:cNvPr id="188" name="Google Shape;188;p8: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6" name="Shape 206"/>
        <p:cNvGrpSpPr/>
        <p:nvPr/>
      </p:nvGrpSpPr>
      <p:grpSpPr>
        <a:xfrm>
          <a:off x="0" y="0"/>
          <a:ext cx="0" cy="0"/>
          <a:chOff x="0" y="0"/>
          <a:chExt cx="0" cy="0"/>
        </a:xfrm>
      </p:grpSpPr>
      <p:sp>
        <p:nvSpPr>
          <p:cNvPr id="207" name="Google Shape;207;p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08" name="Google Shape;208;p9: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The second reason the equivalence fails is temporal. In 2021 the cascade-led areas shift from inner to outer London — 85% are outer — external outflow is up over 50%, and net-exporter neighbourhoods more than double. But this isn't gentrification relocating to the suburbs; it's a COVID-era affluent exodus. My diagnostic rule separates them: real gentrification has high inflow share, a small gap across reference frames, and persists in the inner cores; the exodus has low inflow share, a large frame gap, and is episodic in the outer ring. Important caveat: the lockdown census both caused this and degraded the measurement, so I don't over-read the within-London numbers.</a:t>
            </a:r>
            <a:endParaRPr/>
          </a:p>
        </p:txBody>
      </p:sp>
      <p:sp>
        <p:nvSpPr>
          <p:cNvPr id="209" name="Google Shape;209;p9: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6" name="Shape 226"/>
        <p:cNvGrpSpPr/>
        <p:nvPr/>
      </p:nvGrpSpPr>
      <p:grpSpPr>
        <a:xfrm>
          <a:off x="0" y="0"/>
          <a:ext cx="0" cy="0"/>
          <a:chOff x="0" y="0"/>
          <a:chExt cx="0" cy="0"/>
        </a:xfrm>
      </p:grpSpPr>
      <p:sp>
        <p:nvSpPr>
          <p:cNvPr id="227" name="Google Shape;227;p1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28" name="Google Shape;228;p10: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Pull it together. The classic equivalence fails on two axes: conceptually, flows and attributes measure different things; and temporally, 2021 is a one-off shock. The contribution is an open-data, reproducible, whole-city flow lens with a decomposition that pre-empts the obvious objections — and the divergence between the two methods is itself the finding, converging with the best recent micro-data work. The line I'd leave the room with: the flow lens isn't a worse gentrification detector, it's a different instrument.</a:t>
            </a:r>
            <a:endParaRPr/>
          </a:p>
        </p:txBody>
      </p:sp>
      <p:sp>
        <p:nvSpPr>
          <p:cNvPr id="229" name="Google Shape;229;p10: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3" name="Shape 243"/>
        <p:cNvGrpSpPr/>
        <p:nvPr/>
      </p:nvGrpSpPr>
      <p:grpSpPr>
        <a:xfrm>
          <a:off x="0" y="0"/>
          <a:ext cx="0" cy="0"/>
          <a:chOff x="0" y="0"/>
          <a:chExt cx="0" cy="0"/>
        </a:xfrm>
      </p:grpSpPr>
      <p:sp>
        <p:nvSpPr>
          <p:cNvPr id="244" name="Google Shape;244;p1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45" name="Google Shape;245;p1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Limitations, stated plainly so they don't get raised as objections. The big one — aggregation — actually explains the decoupling: area origin is a noisy proxy for mover wealth, so flows and attributes needn't align. Temporal mismatch, the stale 2010 ladder, and lockdown measurement degradation round it out. Then thanks and questions.</a:t>
            </a:r>
            <a:endParaRPr/>
          </a:p>
        </p:txBody>
      </p:sp>
      <p:sp>
        <p:nvSpPr>
          <p:cNvPr id="246" name="Google Shape;246;p11: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EFAULT">
  <p:cSld name="DEFAULT">
    <p:bg>
      <p:bgPr>
        <a:solidFill>
          <a:schemeClr val="lt1"/>
        </a:solidFill>
      </p:bgPr>
    </p:bg>
    <p:spTree>
      <p:nvGrpSpPr>
        <p:cNvPr id="10" name="Shape 10"/>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 name="Shape 9"/>
        <p:cNvGrpSpPr/>
        <p:nvPr/>
      </p:nvGrpSpPr>
      <p:grpSpPr>
        <a:xfrm>
          <a:off x="0" y="0"/>
          <a:ext cx="0" cy="0"/>
          <a:chOff x="0" y="0"/>
          <a:chExt cx="0" cy="0"/>
        </a:xfrm>
      </p:grpSpPr>
    </p:spTree>
  </p:cSld>
  <p:clrMap accent1="accent1" accent2="accent2" accent3="accent3" accent4="accent4" accent5="accent5" accent6="accent6" bg1="lt1" bg2="dk2" tx1="dk1" tx2="lt2" folHlink="folHlink" hlink="hlink"/>
  <p:sldLayoutIdLst>
    <p:sldLayoutId id="2147483648" r:id="rId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 Id="rId3" Type="http://schemas.openxmlformats.org/officeDocument/2006/relationships/image" Target="../media/image1.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6233B"/>
        </a:solidFill>
      </p:bgPr>
    </p:bg>
    <p:spTree>
      <p:nvGrpSpPr>
        <p:cNvPr id="15" name="Shape 15"/>
        <p:cNvGrpSpPr/>
        <p:nvPr/>
      </p:nvGrpSpPr>
      <p:grpSpPr>
        <a:xfrm>
          <a:off x="0" y="0"/>
          <a:ext cx="0" cy="0"/>
          <a:chOff x="0" y="0"/>
          <a:chExt cx="0" cy="0"/>
        </a:xfrm>
      </p:grpSpPr>
      <p:sp>
        <p:nvSpPr>
          <p:cNvPr id="16" name="Google Shape;16;p3"/>
          <p:cNvSpPr/>
          <p:nvPr/>
        </p:nvSpPr>
        <p:spPr>
          <a:xfrm>
            <a:off x="594360" y="960120"/>
            <a:ext cx="8229600" cy="3200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8FA3C4"/>
              </a:buClr>
              <a:buSzPts val="1300"/>
              <a:buFont typeface="Calibri"/>
              <a:buNone/>
            </a:pPr>
            <a:r>
              <a:rPr b="1" i="0" lang="en-US" sz="1300" u="none" cap="none" strike="noStrike">
                <a:solidFill>
                  <a:srgbClr val="8FA3C4"/>
                </a:solidFill>
                <a:latin typeface="Calibri"/>
                <a:ea typeface="Calibri"/>
                <a:cs typeface="Calibri"/>
                <a:sym typeface="Calibri"/>
              </a:rPr>
              <a:t>MSc DISSERTATION  ·  </a:t>
            </a:r>
            <a:r>
              <a:rPr b="1" lang="en-US" sz="1300">
                <a:solidFill>
                  <a:srgbClr val="8FA3C4"/>
                </a:solidFill>
                <a:latin typeface="Calibri"/>
                <a:ea typeface="Calibri"/>
                <a:cs typeface="Calibri"/>
                <a:sym typeface="Calibri"/>
              </a:rPr>
              <a:t>CASA</a:t>
            </a:r>
            <a:endParaRPr b="1" sz="1300">
              <a:solidFill>
                <a:srgbClr val="8FA3C4"/>
              </a:solidFill>
              <a:latin typeface="Calibri"/>
              <a:ea typeface="Calibri"/>
              <a:cs typeface="Calibri"/>
              <a:sym typeface="Calibri"/>
            </a:endParaRPr>
          </a:p>
        </p:txBody>
      </p:sp>
      <p:sp>
        <p:nvSpPr>
          <p:cNvPr id="17" name="Google Shape;17;p3"/>
          <p:cNvSpPr/>
          <p:nvPr/>
        </p:nvSpPr>
        <p:spPr>
          <a:xfrm>
            <a:off x="594360" y="1463040"/>
            <a:ext cx="8595360" cy="1554480"/>
          </a:xfrm>
          <a:prstGeom prst="rect">
            <a:avLst/>
          </a:prstGeom>
          <a:noFill/>
          <a:ln>
            <a:noFill/>
          </a:ln>
        </p:spPr>
        <p:txBody>
          <a:bodyPr anchorCtr="0" anchor="ctr" bIns="0" lIns="0" spcFirstLastPara="1" rIns="0" wrap="square" tIns="0">
            <a:noAutofit/>
          </a:bodyPr>
          <a:lstStyle/>
          <a:p>
            <a:pPr indent="0" lvl="0" marL="0" marR="0" rtl="0" algn="l">
              <a:lnSpc>
                <a:spcPct val="98000"/>
              </a:lnSpc>
              <a:spcBef>
                <a:spcPts val="0"/>
              </a:spcBef>
              <a:spcAft>
                <a:spcPts val="0"/>
              </a:spcAft>
              <a:buClr>
                <a:srgbClr val="FFFFFF"/>
              </a:buClr>
              <a:buSzPts val="4600"/>
              <a:buFont typeface="Cambria"/>
              <a:buNone/>
            </a:pPr>
            <a:r>
              <a:rPr b="1" i="0" lang="en-US" sz="4600" u="none" cap="none" strike="noStrike">
                <a:solidFill>
                  <a:srgbClr val="FFFFFF"/>
                </a:solidFill>
                <a:latin typeface="Cambria"/>
                <a:ea typeface="Cambria"/>
                <a:cs typeface="Cambria"/>
                <a:sym typeface="Cambria"/>
              </a:rPr>
              <a:t>A Flow-Based Definition of Gentrification</a:t>
            </a:r>
            <a:endParaRPr b="0" i="0" sz="4600" u="none" cap="none" strike="noStrike">
              <a:solidFill>
                <a:schemeClr val="dk1"/>
              </a:solidFill>
              <a:latin typeface="Calibri"/>
              <a:ea typeface="Calibri"/>
              <a:cs typeface="Calibri"/>
              <a:sym typeface="Calibri"/>
            </a:endParaRPr>
          </a:p>
        </p:txBody>
      </p:sp>
      <p:sp>
        <p:nvSpPr>
          <p:cNvPr id="18" name="Google Shape;18;p3"/>
          <p:cNvSpPr/>
          <p:nvPr/>
        </p:nvSpPr>
        <p:spPr>
          <a:xfrm>
            <a:off x="594360" y="3063240"/>
            <a:ext cx="7955280" cy="731520"/>
          </a:xfrm>
          <a:prstGeom prst="rect">
            <a:avLst/>
          </a:prstGeom>
          <a:noFill/>
          <a:ln>
            <a:noFill/>
          </a:ln>
        </p:spPr>
        <p:txBody>
          <a:bodyPr anchorCtr="0" anchor="ctr" bIns="0" lIns="0" spcFirstLastPara="1" rIns="0" wrap="square" tIns="0">
            <a:noAutofit/>
          </a:bodyPr>
          <a:lstStyle/>
          <a:p>
            <a:pPr indent="0" lvl="0" marL="0" marR="0" rtl="0" algn="l">
              <a:lnSpc>
                <a:spcPct val="105000"/>
              </a:lnSpc>
              <a:spcBef>
                <a:spcPts val="0"/>
              </a:spcBef>
              <a:spcAft>
                <a:spcPts val="0"/>
              </a:spcAft>
              <a:buClr>
                <a:srgbClr val="CAD6EA"/>
              </a:buClr>
              <a:buSzPts val="1700"/>
              <a:buFont typeface="Calibri"/>
              <a:buNone/>
            </a:pPr>
            <a:r>
              <a:rPr b="0" i="0" lang="en-US" sz="1700" u="none" cap="none" strike="noStrike">
                <a:solidFill>
                  <a:srgbClr val="CAD6EA"/>
                </a:solidFill>
                <a:latin typeface="Calibri"/>
                <a:ea typeface="Calibri"/>
                <a:cs typeface="Calibri"/>
                <a:sym typeface="Calibri"/>
              </a:rPr>
              <a:t>Analyzing socio-economic displacement in London using Census Origin–Destination data, 2011–2021</a:t>
            </a:r>
            <a:endParaRPr b="0" i="0" sz="1700" u="none" cap="none" strike="noStrike">
              <a:solidFill>
                <a:schemeClr val="dk1"/>
              </a:solidFill>
              <a:latin typeface="Calibri"/>
              <a:ea typeface="Calibri"/>
              <a:cs typeface="Calibri"/>
              <a:sym typeface="Calibri"/>
            </a:endParaRPr>
          </a:p>
        </p:txBody>
      </p:sp>
      <p:sp>
        <p:nvSpPr>
          <p:cNvPr id="19" name="Google Shape;19;p3"/>
          <p:cNvSpPr/>
          <p:nvPr/>
        </p:nvSpPr>
        <p:spPr>
          <a:xfrm>
            <a:off x="594360" y="4069080"/>
            <a:ext cx="7772400" cy="685800"/>
          </a:xfrm>
          <a:prstGeom prst="roundRect">
            <a:avLst>
              <a:gd fmla="val 13333" name="adj"/>
            </a:avLst>
          </a:prstGeom>
          <a:solidFill>
            <a:srgbClr val="22325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 name="Google Shape;20;p3"/>
          <p:cNvSpPr/>
          <p:nvPr/>
        </p:nvSpPr>
        <p:spPr>
          <a:xfrm>
            <a:off x="822960" y="4069080"/>
            <a:ext cx="7315200" cy="6858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E4ECF7"/>
              </a:buClr>
              <a:buSzPts val="1600"/>
              <a:buFont typeface="Cambria"/>
              <a:buNone/>
            </a:pPr>
            <a:r>
              <a:rPr b="0" i="1" lang="en-US" sz="1600" u="none" cap="none" strike="noStrike">
                <a:solidFill>
                  <a:srgbClr val="E4ECF7"/>
                </a:solidFill>
                <a:latin typeface="Cambria"/>
                <a:ea typeface="Cambria"/>
                <a:cs typeface="Cambria"/>
                <a:sym typeface="Cambria"/>
              </a:rPr>
              <a:t>Does tracking who moves recover what attribute methods call gentrification?</a:t>
            </a:r>
            <a:endParaRPr b="0" i="0" sz="1600" u="none" cap="none" strike="noStrike">
              <a:solidFill>
                <a:schemeClr val="dk1"/>
              </a:solidFill>
              <a:latin typeface="Calibri"/>
              <a:ea typeface="Calibri"/>
              <a:cs typeface="Calibri"/>
              <a:sym typeface="Calibri"/>
            </a:endParaRPr>
          </a:p>
        </p:txBody>
      </p:sp>
      <p:sp>
        <p:nvSpPr>
          <p:cNvPr id="21" name="Google Shape;21;p3"/>
          <p:cNvSpPr/>
          <p:nvPr/>
        </p:nvSpPr>
        <p:spPr>
          <a:xfrm>
            <a:off x="594360" y="6126480"/>
            <a:ext cx="10058400" cy="3200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CAD6EA"/>
              </a:buClr>
              <a:buSzPts val="1200"/>
              <a:buFont typeface="Calibri"/>
              <a:buNone/>
            </a:pPr>
            <a:r>
              <a:rPr lang="en-US" sz="2100">
                <a:solidFill>
                  <a:srgbClr val="CAD6EA"/>
                </a:solidFill>
                <a:latin typeface="Calibri"/>
                <a:ea typeface="Calibri"/>
                <a:cs typeface="Calibri"/>
                <a:sym typeface="Calibri"/>
              </a:rPr>
              <a:t>Yujing (Olivia) Xing</a:t>
            </a:r>
            <a:endParaRPr sz="2100">
              <a:solidFill>
                <a:srgbClr val="CAD6EA"/>
              </a:solidFill>
              <a:latin typeface="Calibri"/>
              <a:ea typeface="Calibri"/>
              <a:cs typeface="Calibri"/>
              <a:sym typeface="Calibri"/>
            </a:endParaRPr>
          </a:p>
        </p:txBody>
      </p:sp>
      <p:sp>
        <p:nvSpPr>
          <p:cNvPr id="22" name="Google Shape;22;p3"/>
          <p:cNvSpPr/>
          <p:nvPr/>
        </p:nvSpPr>
        <p:spPr>
          <a:xfrm>
            <a:off x="10195560" y="1371600"/>
            <a:ext cx="457200" cy="379476"/>
          </a:xfrm>
          <a:prstGeom prst="roundRect">
            <a:avLst>
              <a:gd fmla="val 7229" name="adj"/>
            </a:avLst>
          </a:prstGeom>
          <a:solidFill>
            <a:srgbClr val="3E557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 name="Google Shape;23;p3"/>
          <p:cNvSpPr/>
          <p:nvPr/>
        </p:nvSpPr>
        <p:spPr>
          <a:xfrm>
            <a:off x="10195560" y="1796796"/>
            <a:ext cx="457200" cy="379476"/>
          </a:xfrm>
          <a:prstGeom prst="roundRect">
            <a:avLst>
              <a:gd fmla="val 7229" name="adj"/>
            </a:avLst>
          </a:prstGeom>
          <a:solidFill>
            <a:srgbClr val="3E557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 name="Google Shape;24;p3"/>
          <p:cNvSpPr/>
          <p:nvPr/>
        </p:nvSpPr>
        <p:spPr>
          <a:xfrm>
            <a:off x="10195560" y="2221992"/>
            <a:ext cx="457200" cy="379476"/>
          </a:xfrm>
          <a:prstGeom prst="roundRect">
            <a:avLst>
              <a:gd fmla="val 7229" name="adj"/>
            </a:avLst>
          </a:prstGeom>
          <a:solidFill>
            <a:srgbClr val="3E557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 name="Google Shape;25;p3"/>
          <p:cNvSpPr/>
          <p:nvPr/>
        </p:nvSpPr>
        <p:spPr>
          <a:xfrm>
            <a:off x="10195560" y="2647188"/>
            <a:ext cx="457200" cy="379476"/>
          </a:xfrm>
          <a:prstGeom prst="roundRect">
            <a:avLst>
              <a:gd fmla="val 7229" name="adj"/>
            </a:avLst>
          </a:prstGeom>
          <a:solidFill>
            <a:srgbClr val="3E557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 name="Google Shape;26;p3"/>
          <p:cNvSpPr/>
          <p:nvPr/>
        </p:nvSpPr>
        <p:spPr>
          <a:xfrm>
            <a:off x="10195560" y="3072384"/>
            <a:ext cx="457200" cy="379476"/>
          </a:xfrm>
          <a:prstGeom prst="roundRect">
            <a:avLst>
              <a:gd fmla="val 7229" name="adj"/>
            </a:avLst>
          </a:prstGeom>
          <a:solidFill>
            <a:srgbClr val="3E557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 name="Google Shape;27;p3"/>
          <p:cNvSpPr/>
          <p:nvPr/>
        </p:nvSpPr>
        <p:spPr>
          <a:xfrm>
            <a:off x="10195560" y="3497580"/>
            <a:ext cx="457200" cy="379476"/>
          </a:xfrm>
          <a:prstGeom prst="roundRect">
            <a:avLst>
              <a:gd fmla="val 7229" name="adj"/>
            </a:avLst>
          </a:prstGeom>
          <a:solidFill>
            <a:srgbClr val="263A5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 name="Google Shape;28;p3"/>
          <p:cNvSpPr/>
          <p:nvPr/>
        </p:nvSpPr>
        <p:spPr>
          <a:xfrm>
            <a:off x="10195560" y="3922776"/>
            <a:ext cx="457200" cy="379476"/>
          </a:xfrm>
          <a:prstGeom prst="roundRect">
            <a:avLst>
              <a:gd fmla="val 7229" name="adj"/>
            </a:avLst>
          </a:prstGeom>
          <a:solidFill>
            <a:srgbClr val="263A5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 name="Google Shape;29;p3"/>
          <p:cNvSpPr/>
          <p:nvPr/>
        </p:nvSpPr>
        <p:spPr>
          <a:xfrm>
            <a:off x="10195560" y="4347972"/>
            <a:ext cx="457200" cy="379476"/>
          </a:xfrm>
          <a:prstGeom prst="roundRect">
            <a:avLst>
              <a:gd fmla="val 7229" name="adj"/>
            </a:avLst>
          </a:prstGeom>
          <a:solidFill>
            <a:srgbClr val="263A5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 name="Google Shape;30;p3"/>
          <p:cNvSpPr/>
          <p:nvPr/>
        </p:nvSpPr>
        <p:spPr>
          <a:xfrm>
            <a:off x="10195560" y="4773168"/>
            <a:ext cx="457200" cy="379476"/>
          </a:xfrm>
          <a:prstGeom prst="roundRect">
            <a:avLst>
              <a:gd fmla="val 7229" name="adj"/>
            </a:avLst>
          </a:prstGeom>
          <a:solidFill>
            <a:srgbClr val="263A5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 name="Google Shape;31;p3"/>
          <p:cNvSpPr/>
          <p:nvPr/>
        </p:nvSpPr>
        <p:spPr>
          <a:xfrm>
            <a:off x="10195560" y="5198364"/>
            <a:ext cx="457200" cy="379476"/>
          </a:xfrm>
          <a:prstGeom prst="roundRect">
            <a:avLst>
              <a:gd fmla="val 7229" name="adj"/>
            </a:avLst>
          </a:prstGeom>
          <a:solidFill>
            <a:srgbClr val="263A5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 name="Google Shape;32;p3"/>
          <p:cNvSpPr/>
          <p:nvPr/>
        </p:nvSpPr>
        <p:spPr>
          <a:xfrm>
            <a:off x="9802368" y="1737360"/>
            <a:ext cx="457200" cy="54864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C6551A"/>
              </a:buClr>
              <a:buSzPts val="3000"/>
              <a:buFont typeface="Calibri"/>
              <a:buNone/>
            </a:pPr>
            <a:r>
              <a:rPr b="1" i="0" lang="en-US" sz="3000" u="none" cap="none" strike="noStrike">
                <a:solidFill>
                  <a:srgbClr val="C6551A"/>
                </a:solidFill>
                <a:latin typeface="Calibri"/>
                <a:ea typeface="Calibri"/>
                <a:cs typeface="Calibri"/>
                <a:sym typeface="Calibri"/>
              </a:rPr>
              <a:t>↓</a:t>
            </a:r>
            <a:endParaRPr b="0" i="0" sz="3000" u="none" cap="none" strike="noStrike">
              <a:solidFill>
                <a:schemeClr val="dk1"/>
              </a:solidFill>
              <a:latin typeface="Calibri"/>
              <a:ea typeface="Calibri"/>
              <a:cs typeface="Calibri"/>
              <a:sym typeface="Calibri"/>
            </a:endParaRPr>
          </a:p>
        </p:txBody>
      </p:sp>
      <p:sp>
        <p:nvSpPr>
          <p:cNvPr id="33" name="Google Shape;33;p3"/>
          <p:cNvSpPr/>
          <p:nvPr/>
        </p:nvSpPr>
        <p:spPr>
          <a:xfrm>
            <a:off x="10625328" y="4480560"/>
            <a:ext cx="457200" cy="54864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6FA0D6"/>
              </a:buClr>
              <a:buSzPts val="3000"/>
              <a:buFont typeface="Calibri"/>
              <a:buNone/>
            </a:pPr>
            <a:r>
              <a:rPr b="1" i="0" lang="en-US" sz="3000" u="none" cap="none" strike="noStrike">
                <a:solidFill>
                  <a:srgbClr val="6FA0D6"/>
                </a:solidFill>
                <a:latin typeface="Calibri"/>
                <a:ea typeface="Calibri"/>
                <a:cs typeface="Calibri"/>
                <a:sym typeface="Calibri"/>
              </a:rPr>
              <a:t>↑</a:t>
            </a:r>
            <a:endParaRPr b="0" i="0" sz="3000" u="none" cap="none" strike="noStrike">
              <a:solidFill>
                <a:schemeClr val="dk1"/>
              </a:solidFill>
              <a:latin typeface="Calibri"/>
              <a:ea typeface="Calibri"/>
              <a:cs typeface="Calibri"/>
              <a:sym typeface="Calibri"/>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38" name="Shape 38"/>
        <p:cNvGrpSpPr/>
        <p:nvPr/>
      </p:nvGrpSpPr>
      <p:grpSpPr>
        <a:xfrm>
          <a:off x="0" y="0"/>
          <a:ext cx="0" cy="0"/>
          <a:chOff x="0" y="0"/>
          <a:chExt cx="0" cy="0"/>
        </a:xfrm>
      </p:grpSpPr>
      <p:sp>
        <p:nvSpPr>
          <p:cNvPr id="39" name="Google Shape;39;p4"/>
          <p:cNvSpPr/>
          <p:nvPr/>
        </p:nvSpPr>
        <p:spPr>
          <a:xfrm>
            <a:off x="594360" y="411480"/>
            <a:ext cx="11000232" cy="29260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E7C90"/>
              </a:buClr>
              <a:buSzPts val="1200"/>
              <a:buFont typeface="Calibri"/>
              <a:buNone/>
            </a:pPr>
            <a:r>
              <a:rPr b="1" i="0" lang="en-US" sz="1200" u="none" cap="none" strike="noStrike">
                <a:solidFill>
                  <a:srgbClr val="6E7C90"/>
                </a:solidFill>
                <a:latin typeface="Calibri"/>
                <a:ea typeface="Calibri"/>
                <a:cs typeface="Calibri"/>
                <a:sym typeface="Calibri"/>
              </a:rPr>
              <a:t>MOTIVATION</a:t>
            </a:r>
            <a:endParaRPr b="0" i="0" sz="1200" u="none" cap="none" strike="noStrike">
              <a:solidFill>
                <a:schemeClr val="dk1"/>
              </a:solidFill>
              <a:latin typeface="Calibri"/>
              <a:ea typeface="Calibri"/>
              <a:cs typeface="Calibri"/>
              <a:sym typeface="Calibri"/>
            </a:endParaRPr>
          </a:p>
        </p:txBody>
      </p:sp>
      <p:sp>
        <p:nvSpPr>
          <p:cNvPr id="40" name="Google Shape;40;p4"/>
          <p:cNvSpPr/>
          <p:nvPr/>
        </p:nvSpPr>
        <p:spPr>
          <a:xfrm>
            <a:off x="594360" y="749808"/>
            <a:ext cx="11000232" cy="822960"/>
          </a:xfrm>
          <a:prstGeom prst="rect">
            <a:avLst/>
          </a:prstGeom>
          <a:noFill/>
          <a:ln>
            <a:noFill/>
          </a:ln>
        </p:spPr>
        <p:txBody>
          <a:bodyPr anchorCtr="0" anchor="t" bIns="0" lIns="0" spcFirstLastPara="1" rIns="0" wrap="square" tIns="0">
            <a:noAutofit/>
          </a:bodyPr>
          <a:lstStyle/>
          <a:p>
            <a:pPr indent="0" lvl="0" marL="0" marR="0" rtl="0" algn="l">
              <a:lnSpc>
                <a:spcPct val="98000"/>
              </a:lnSpc>
              <a:spcBef>
                <a:spcPts val="0"/>
              </a:spcBef>
              <a:spcAft>
                <a:spcPts val="0"/>
              </a:spcAft>
              <a:buClr>
                <a:srgbClr val="16233B"/>
              </a:buClr>
              <a:buSzPts val="3200"/>
              <a:buFont typeface="Cambria"/>
              <a:buNone/>
            </a:pPr>
            <a:r>
              <a:rPr b="1" i="0" lang="en-US" sz="3200" u="none" cap="none" strike="noStrike">
                <a:solidFill>
                  <a:srgbClr val="16233B"/>
                </a:solidFill>
                <a:latin typeface="Cambria"/>
                <a:ea typeface="Cambria"/>
                <a:cs typeface="Cambria"/>
                <a:sym typeface="Cambria"/>
              </a:rPr>
              <a:t>The assumption this study puts to the test</a:t>
            </a:r>
            <a:endParaRPr b="0" i="0" sz="3200" u="none" cap="none" strike="noStrike">
              <a:solidFill>
                <a:schemeClr val="dk1"/>
              </a:solidFill>
              <a:latin typeface="Calibri"/>
              <a:ea typeface="Calibri"/>
              <a:cs typeface="Calibri"/>
              <a:sym typeface="Calibri"/>
            </a:endParaRPr>
          </a:p>
        </p:txBody>
      </p:sp>
      <p:sp>
        <p:nvSpPr>
          <p:cNvPr id="41" name="Google Shape;41;p4"/>
          <p:cNvSpPr/>
          <p:nvPr/>
        </p:nvSpPr>
        <p:spPr>
          <a:xfrm>
            <a:off x="594360" y="1783080"/>
            <a:ext cx="5486400" cy="3200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C6551A"/>
              </a:buClr>
              <a:buSzPts val="1700"/>
              <a:buFont typeface="Calibri"/>
              <a:buNone/>
            </a:pPr>
            <a:r>
              <a:rPr b="1" i="0" lang="en-US" sz="1700" u="none" cap="none" strike="noStrike">
                <a:solidFill>
                  <a:srgbClr val="C6551A"/>
                </a:solidFill>
                <a:latin typeface="Calibri"/>
                <a:ea typeface="Calibri"/>
                <a:cs typeface="Calibri"/>
                <a:sym typeface="Calibri"/>
              </a:rPr>
              <a:t>The classic chain</a:t>
            </a:r>
            <a:endParaRPr b="0" i="0" sz="1700" u="none" cap="none" strike="noStrike">
              <a:solidFill>
                <a:schemeClr val="dk1"/>
              </a:solidFill>
              <a:latin typeface="Calibri"/>
              <a:ea typeface="Calibri"/>
              <a:cs typeface="Calibri"/>
              <a:sym typeface="Calibri"/>
            </a:endParaRPr>
          </a:p>
        </p:txBody>
      </p:sp>
      <p:sp>
        <p:nvSpPr>
          <p:cNvPr id="42" name="Google Shape;42;p4"/>
          <p:cNvSpPr/>
          <p:nvPr/>
        </p:nvSpPr>
        <p:spPr>
          <a:xfrm>
            <a:off x="594360" y="2148840"/>
            <a:ext cx="5486400" cy="868680"/>
          </a:xfrm>
          <a:prstGeom prst="rect">
            <a:avLst/>
          </a:prstGeom>
          <a:noFill/>
          <a:ln>
            <a:noFill/>
          </a:ln>
        </p:spPr>
        <p:txBody>
          <a:bodyPr anchorCtr="0" anchor="ctr" bIns="0" lIns="0" spcFirstLastPara="1" rIns="0" wrap="square" tIns="0">
            <a:noAutofit/>
          </a:bodyPr>
          <a:lstStyle/>
          <a:p>
            <a:pPr indent="0" lvl="0" marL="0" marR="0" rtl="0" algn="l">
              <a:lnSpc>
                <a:spcPct val="106000"/>
              </a:lnSpc>
              <a:spcBef>
                <a:spcPts val="0"/>
              </a:spcBef>
              <a:spcAft>
                <a:spcPts val="0"/>
              </a:spcAft>
              <a:buClr>
                <a:srgbClr val="2A3547"/>
              </a:buClr>
              <a:buSzPts val="1550"/>
              <a:buFont typeface="Calibri"/>
              <a:buNone/>
            </a:pPr>
            <a:r>
              <a:rPr b="0" i="0" lang="en-US" sz="1550" u="none" cap="none" strike="noStrike">
                <a:solidFill>
                  <a:srgbClr val="2A3547"/>
                </a:solidFill>
                <a:latin typeface="Calibri"/>
                <a:ea typeface="Calibri"/>
                <a:cs typeface="Calibri"/>
                <a:sym typeface="Calibri"/>
              </a:rPr>
              <a:t>Gentrification is read as a </a:t>
            </a:r>
            <a:r>
              <a:rPr b="1" i="1" lang="en-US" sz="1550" u="none" cap="none" strike="noStrike">
                <a:solidFill>
                  <a:srgbClr val="C6551A"/>
                </a:solidFill>
                <a:latin typeface="Calibri"/>
                <a:ea typeface="Calibri"/>
                <a:cs typeface="Calibri"/>
                <a:sym typeface="Calibri"/>
              </a:rPr>
              <a:t>cascade</a:t>
            </a:r>
            <a:r>
              <a:rPr b="0" i="0" lang="en-US" sz="1550" u="none" cap="none" strike="noStrike">
                <a:solidFill>
                  <a:srgbClr val="2A3547"/>
                </a:solidFill>
                <a:latin typeface="Calibri"/>
                <a:ea typeface="Calibri"/>
                <a:cs typeface="Calibri"/>
                <a:sym typeface="Calibri"/>
              </a:rPr>
              <a:t>: affluent residents move in, and poorer residents are pushed down the deprivation hierarchy.</a:t>
            </a:r>
            <a:endParaRPr b="0" i="0" sz="1550" u="none" cap="none" strike="noStrike">
              <a:solidFill>
                <a:schemeClr val="dk1"/>
              </a:solidFill>
              <a:latin typeface="Calibri"/>
              <a:ea typeface="Calibri"/>
              <a:cs typeface="Calibri"/>
              <a:sym typeface="Calibri"/>
            </a:endParaRPr>
          </a:p>
        </p:txBody>
      </p:sp>
      <p:sp>
        <p:nvSpPr>
          <p:cNvPr id="43" name="Google Shape;43;p4"/>
          <p:cNvSpPr/>
          <p:nvPr/>
        </p:nvSpPr>
        <p:spPr>
          <a:xfrm>
            <a:off x="594360" y="3127248"/>
            <a:ext cx="5486400" cy="731520"/>
          </a:xfrm>
          <a:prstGeom prst="rect">
            <a:avLst/>
          </a:prstGeom>
          <a:noFill/>
          <a:ln>
            <a:noFill/>
          </a:ln>
        </p:spPr>
        <p:txBody>
          <a:bodyPr anchorCtr="0" anchor="ctr" bIns="0" lIns="0" spcFirstLastPara="1" rIns="0" wrap="square" tIns="0">
            <a:noAutofit/>
          </a:bodyPr>
          <a:lstStyle/>
          <a:p>
            <a:pPr indent="0" lvl="0" marL="0" marR="0" rtl="0" algn="l">
              <a:lnSpc>
                <a:spcPct val="106000"/>
              </a:lnSpc>
              <a:spcBef>
                <a:spcPts val="0"/>
              </a:spcBef>
              <a:spcAft>
                <a:spcPts val="0"/>
              </a:spcAft>
              <a:buClr>
                <a:srgbClr val="2A3547"/>
              </a:buClr>
              <a:buSzPts val="1550"/>
              <a:buFont typeface="Calibri"/>
              <a:buNone/>
            </a:pPr>
            <a:r>
              <a:rPr b="1" i="0" lang="en-US" sz="1550" u="none" cap="none" strike="noStrike">
                <a:solidFill>
                  <a:srgbClr val="2A3547"/>
                </a:solidFill>
                <a:latin typeface="Calibri"/>
                <a:ea typeface="Calibri"/>
                <a:cs typeface="Calibri"/>
                <a:sym typeface="Calibri"/>
              </a:rPr>
              <a:t>Richly theorised</a:t>
            </a:r>
            <a:r>
              <a:rPr b="0" i="0" lang="en-US" sz="1550" u="none" cap="none" strike="noStrike">
                <a:solidFill>
                  <a:srgbClr val="2A3547"/>
                </a:solidFill>
                <a:latin typeface="Calibri"/>
                <a:ea typeface="Calibri"/>
                <a:cs typeface="Calibri"/>
                <a:sym typeface="Calibri"/>
              </a:rPr>
              <a:t> — Marcuse's (1985) chain displacement — but rarely tested at whole-city scale with open flow data.</a:t>
            </a:r>
            <a:endParaRPr b="0" i="0" sz="1550" u="none" cap="none" strike="noStrike">
              <a:solidFill>
                <a:schemeClr val="dk1"/>
              </a:solidFill>
              <a:latin typeface="Calibri"/>
              <a:ea typeface="Calibri"/>
              <a:cs typeface="Calibri"/>
              <a:sym typeface="Calibri"/>
            </a:endParaRPr>
          </a:p>
        </p:txBody>
      </p:sp>
      <p:sp>
        <p:nvSpPr>
          <p:cNvPr id="44" name="Google Shape;44;p4"/>
          <p:cNvSpPr/>
          <p:nvPr/>
        </p:nvSpPr>
        <p:spPr>
          <a:xfrm>
            <a:off x="594360" y="3977640"/>
            <a:ext cx="5486400" cy="731520"/>
          </a:xfrm>
          <a:prstGeom prst="rect">
            <a:avLst/>
          </a:prstGeom>
          <a:noFill/>
          <a:ln>
            <a:noFill/>
          </a:ln>
        </p:spPr>
        <p:txBody>
          <a:bodyPr anchorCtr="0" anchor="ctr" bIns="0" lIns="0" spcFirstLastPara="1" rIns="0" wrap="square" tIns="0">
            <a:noAutofit/>
          </a:bodyPr>
          <a:lstStyle/>
          <a:p>
            <a:pPr indent="0" lvl="0" marL="0" marR="0" rtl="0" algn="l">
              <a:lnSpc>
                <a:spcPct val="106000"/>
              </a:lnSpc>
              <a:spcBef>
                <a:spcPts val="0"/>
              </a:spcBef>
              <a:spcAft>
                <a:spcPts val="0"/>
              </a:spcAft>
              <a:buClr>
                <a:srgbClr val="2A3547"/>
              </a:buClr>
              <a:buSzPts val="1550"/>
              <a:buFont typeface="Calibri"/>
              <a:buNone/>
            </a:pPr>
            <a:r>
              <a:rPr b="1" i="0" lang="en-US" sz="1550" u="none" cap="none" strike="noStrike">
                <a:solidFill>
                  <a:srgbClr val="2A3547"/>
                </a:solidFill>
                <a:latin typeface="Calibri"/>
                <a:ea typeface="Calibri"/>
                <a:cs typeface="Calibri"/>
                <a:sym typeface="Calibri"/>
              </a:rPr>
              <a:t>Recent direct tests</a:t>
            </a:r>
            <a:r>
              <a:rPr b="0" i="0" lang="en-US" sz="1550" u="none" cap="none" strike="noStrike">
                <a:solidFill>
                  <a:srgbClr val="2A3547"/>
                </a:solidFill>
                <a:latin typeface="Calibri"/>
                <a:ea typeface="Calibri"/>
                <a:cs typeface="Calibri"/>
                <a:sym typeface="Calibri"/>
              </a:rPr>
              <a:t> find the downward cascade weak or mixed (Ding et al. 2016; Freeman et al. 2024).</a:t>
            </a:r>
            <a:endParaRPr b="0" i="0" sz="1550" u="none" cap="none" strike="noStrike">
              <a:solidFill>
                <a:schemeClr val="dk1"/>
              </a:solidFill>
              <a:latin typeface="Calibri"/>
              <a:ea typeface="Calibri"/>
              <a:cs typeface="Calibri"/>
              <a:sym typeface="Calibri"/>
            </a:endParaRPr>
          </a:p>
        </p:txBody>
      </p:sp>
      <p:sp>
        <p:nvSpPr>
          <p:cNvPr id="45" name="Google Shape;45;p4"/>
          <p:cNvSpPr/>
          <p:nvPr/>
        </p:nvSpPr>
        <p:spPr>
          <a:xfrm>
            <a:off x="6537960" y="1783080"/>
            <a:ext cx="5029200" cy="1783080"/>
          </a:xfrm>
          <a:prstGeom prst="roundRect">
            <a:avLst>
              <a:gd fmla="val 4615" name="adj"/>
            </a:avLst>
          </a:prstGeom>
          <a:solidFill>
            <a:srgbClr val="F3F6FB"/>
          </a:solidFill>
          <a:ln>
            <a:noFill/>
          </a:ln>
          <a:effectLst>
            <a:outerShdw blurRad="101600" rotWithShape="0" algn="bl" dir="5400000" dist="38100">
              <a:srgbClr val="9AA6B8">
                <a:alpha val="27843"/>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 name="Google Shape;46;p4"/>
          <p:cNvSpPr/>
          <p:nvPr/>
        </p:nvSpPr>
        <p:spPr>
          <a:xfrm>
            <a:off x="6793992" y="1938528"/>
            <a:ext cx="4517136" cy="3657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6233B"/>
              </a:buClr>
              <a:buSzPts val="1500"/>
              <a:buFont typeface="Calibri"/>
              <a:buNone/>
            </a:pPr>
            <a:r>
              <a:rPr b="1" i="0" lang="en-US" sz="1500" u="none" cap="none" strike="noStrike">
                <a:solidFill>
                  <a:srgbClr val="16233B"/>
                </a:solidFill>
                <a:latin typeface="Calibri"/>
                <a:ea typeface="Calibri"/>
                <a:cs typeface="Calibri"/>
                <a:sym typeface="Calibri"/>
              </a:rPr>
              <a:t>What this measures — and what it doesn't</a:t>
            </a:r>
            <a:endParaRPr b="0" i="0" sz="1500" u="none" cap="none" strike="noStrike">
              <a:solidFill>
                <a:schemeClr val="dk1"/>
              </a:solidFill>
              <a:latin typeface="Calibri"/>
              <a:ea typeface="Calibri"/>
              <a:cs typeface="Calibri"/>
              <a:sym typeface="Calibri"/>
            </a:endParaRPr>
          </a:p>
        </p:txBody>
      </p:sp>
      <p:sp>
        <p:nvSpPr>
          <p:cNvPr id="47" name="Google Shape;47;p4"/>
          <p:cNvSpPr/>
          <p:nvPr/>
        </p:nvSpPr>
        <p:spPr>
          <a:xfrm>
            <a:off x="6793992" y="2331720"/>
            <a:ext cx="4517136" cy="1188720"/>
          </a:xfrm>
          <a:prstGeom prst="rect">
            <a:avLst/>
          </a:prstGeom>
          <a:noFill/>
          <a:ln>
            <a:noFill/>
          </a:ln>
        </p:spPr>
        <p:txBody>
          <a:bodyPr anchorCtr="0" anchor="ctr" bIns="0" lIns="0" spcFirstLastPara="1" rIns="0" wrap="square" tIns="0">
            <a:noAutofit/>
          </a:bodyPr>
          <a:lstStyle/>
          <a:p>
            <a:pPr indent="0" lvl="0" marL="0" marR="0" rtl="0" algn="l">
              <a:lnSpc>
                <a:spcPct val="105000"/>
              </a:lnSpc>
              <a:spcBef>
                <a:spcPts val="0"/>
              </a:spcBef>
              <a:spcAft>
                <a:spcPts val="0"/>
              </a:spcAft>
              <a:buClr>
                <a:srgbClr val="2A3547"/>
              </a:buClr>
              <a:buSzPts val="1350"/>
              <a:buFont typeface="Calibri"/>
              <a:buNone/>
            </a:pPr>
            <a:r>
              <a:rPr b="1" i="0" lang="en-US" sz="1350" u="none" cap="none" strike="noStrike">
                <a:solidFill>
                  <a:srgbClr val="2A3547"/>
                </a:solidFill>
                <a:latin typeface="Calibri"/>
                <a:ea typeface="Calibri"/>
                <a:cs typeface="Calibri"/>
                <a:sym typeface="Calibri"/>
              </a:rPr>
              <a:t>Area-level restructuring</a:t>
            </a:r>
            <a:r>
              <a:rPr b="0" i="0" lang="en-US" sz="1350" u="none" cap="none" strike="noStrike">
                <a:solidFill>
                  <a:srgbClr val="2A3547"/>
                </a:solidFill>
                <a:latin typeface="Calibri"/>
                <a:ea typeface="Calibri"/>
                <a:cs typeface="Calibri"/>
                <a:sym typeface="Calibri"/>
              </a:rPr>
              <a:t> along a deprivation ladder — a candidate signature of displacement pressure, not gentrifiers themselves.</a:t>
            </a:r>
            <a:endParaRPr b="0" i="0" sz="1350" u="none" cap="none" strike="noStrike">
              <a:solidFill>
                <a:schemeClr val="dk1"/>
              </a:solidFill>
              <a:latin typeface="Calibri"/>
              <a:ea typeface="Calibri"/>
              <a:cs typeface="Calibri"/>
              <a:sym typeface="Calibri"/>
            </a:endParaRPr>
          </a:p>
          <a:p>
            <a:pPr indent="0" lvl="0" marL="0" marR="0" rtl="0" algn="l">
              <a:lnSpc>
                <a:spcPct val="105000"/>
              </a:lnSpc>
              <a:spcBef>
                <a:spcPts val="600"/>
              </a:spcBef>
              <a:spcAft>
                <a:spcPts val="0"/>
              </a:spcAft>
              <a:buClr>
                <a:srgbClr val="245C99"/>
              </a:buClr>
              <a:buSzPts val="1350"/>
              <a:buFont typeface="Calibri"/>
              <a:buNone/>
            </a:pPr>
            <a:r>
              <a:rPr b="1" i="0" lang="en-US" sz="1350" u="none" cap="none" strike="noStrike">
                <a:solidFill>
                  <a:srgbClr val="245C99"/>
                </a:solidFill>
                <a:latin typeface="Calibri"/>
                <a:ea typeface="Calibri"/>
                <a:cs typeface="Calibri"/>
                <a:sym typeface="Calibri"/>
              </a:rPr>
              <a:t>“From a wealthier area” ≠ “a wealthier person.”</a:t>
            </a:r>
            <a:endParaRPr b="0" i="0" sz="1350" u="none" cap="none" strike="noStrike">
              <a:solidFill>
                <a:schemeClr val="dk1"/>
              </a:solidFill>
              <a:latin typeface="Calibri"/>
              <a:ea typeface="Calibri"/>
              <a:cs typeface="Calibri"/>
              <a:sym typeface="Calibri"/>
            </a:endParaRPr>
          </a:p>
        </p:txBody>
      </p:sp>
      <p:sp>
        <p:nvSpPr>
          <p:cNvPr id="48" name="Google Shape;48;p4"/>
          <p:cNvSpPr/>
          <p:nvPr/>
        </p:nvSpPr>
        <p:spPr>
          <a:xfrm>
            <a:off x="6537960" y="3749040"/>
            <a:ext cx="5029200" cy="1371600"/>
          </a:xfrm>
          <a:prstGeom prst="roundRect">
            <a:avLst>
              <a:gd fmla="val 6000" name="adj"/>
            </a:avLst>
          </a:prstGeom>
          <a:solidFill>
            <a:srgbClr val="16233B"/>
          </a:solidFill>
          <a:ln>
            <a:noFill/>
          </a:ln>
          <a:effectLst>
            <a:outerShdw blurRad="101600" rotWithShape="0" algn="bl" dir="5400000" dist="38100">
              <a:srgbClr val="9AA6B8">
                <a:alpha val="27843"/>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 name="Google Shape;49;p4"/>
          <p:cNvSpPr/>
          <p:nvPr/>
        </p:nvSpPr>
        <p:spPr>
          <a:xfrm>
            <a:off x="6793992" y="3913632"/>
            <a:ext cx="4517136"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8FA3C4"/>
              </a:buClr>
              <a:buSzPts val="1200"/>
              <a:buFont typeface="Calibri"/>
              <a:buNone/>
            </a:pPr>
            <a:r>
              <a:rPr b="1" i="0" lang="en-US" sz="1200" u="none" cap="none" strike="noStrike">
                <a:solidFill>
                  <a:srgbClr val="8FA3C4"/>
                </a:solidFill>
                <a:latin typeface="Calibri"/>
                <a:ea typeface="Calibri"/>
                <a:cs typeface="Calibri"/>
                <a:sym typeface="Calibri"/>
              </a:rPr>
              <a:t>THE QUESTION</a:t>
            </a:r>
            <a:endParaRPr b="0" i="0" sz="1200" u="none" cap="none" strike="noStrike">
              <a:solidFill>
                <a:schemeClr val="dk1"/>
              </a:solidFill>
              <a:latin typeface="Calibri"/>
              <a:ea typeface="Calibri"/>
              <a:cs typeface="Calibri"/>
              <a:sym typeface="Calibri"/>
            </a:endParaRPr>
          </a:p>
        </p:txBody>
      </p:sp>
      <p:sp>
        <p:nvSpPr>
          <p:cNvPr id="50" name="Google Shape;50;p4"/>
          <p:cNvSpPr/>
          <p:nvPr/>
        </p:nvSpPr>
        <p:spPr>
          <a:xfrm>
            <a:off x="6793992" y="4224528"/>
            <a:ext cx="4517136" cy="82296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FFFFFF"/>
              </a:buClr>
              <a:buSzPts val="1700"/>
              <a:buFont typeface="Cambria"/>
              <a:buNone/>
            </a:pPr>
            <a:r>
              <a:rPr b="1" i="0" lang="en-US" sz="1700" u="none" cap="none" strike="noStrike">
                <a:solidFill>
                  <a:srgbClr val="FFFFFF"/>
                </a:solidFill>
                <a:latin typeface="Cambria"/>
                <a:ea typeface="Cambria"/>
                <a:cs typeface="Cambria"/>
                <a:sym typeface="Cambria"/>
              </a:rPr>
              <a:t>Does a flow lens recover what attribute-based methods call gentrification?</a:t>
            </a:r>
            <a:endParaRPr b="0" i="0" sz="1700" u="none" cap="none" strike="noStrike">
              <a:solidFill>
                <a:schemeClr val="dk1"/>
              </a:solidFill>
              <a:latin typeface="Calibri"/>
              <a:ea typeface="Calibri"/>
              <a:cs typeface="Calibri"/>
              <a:sym typeface="Calibri"/>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55" name="Shape 55"/>
        <p:cNvGrpSpPr/>
        <p:nvPr/>
      </p:nvGrpSpPr>
      <p:grpSpPr>
        <a:xfrm>
          <a:off x="0" y="0"/>
          <a:ext cx="0" cy="0"/>
          <a:chOff x="0" y="0"/>
          <a:chExt cx="0" cy="0"/>
        </a:xfrm>
      </p:grpSpPr>
      <p:sp>
        <p:nvSpPr>
          <p:cNvPr id="56" name="Google Shape;56;p5"/>
          <p:cNvSpPr/>
          <p:nvPr/>
        </p:nvSpPr>
        <p:spPr>
          <a:xfrm>
            <a:off x="594360" y="411480"/>
            <a:ext cx="11000232" cy="29260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E7C90"/>
              </a:buClr>
              <a:buSzPts val="1200"/>
              <a:buFont typeface="Calibri"/>
              <a:buNone/>
            </a:pPr>
            <a:r>
              <a:rPr b="1" i="0" lang="en-US" sz="1200" u="none" cap="none" strike="noStrike">
                <a:solidFill>
                  <a:srgbClr val="6E7C90"/>
                </a:solidFill>
                <a:latin typeface="Calibri"/>
                <a:ea typeface="Calibri"/>
                <a:cs typeface="Calibri"/>
                <a:sym typeface="Calibri"/>
              </a:rPr>
              <a:t>METHODOLOGY · 1 OF 5</a:t>
            </a:r>
            <a:endParaRPr b="0" i="0" sz="1200" u="none" cap="none" strike="noStrike">
              <a:solidFill>
                <a:schemeClr val="dk1"/>
              </a:solidFill>
              <a:latin typeface="Calibri"/>
              <a:ea typeface="Calibri"/>
              <a:cs typeface="Calibri"/>
              <a:sym typeface="Calibri"/>
            </a:endParaRPr>
          </a:p>
        </p:txBody>
      </p:sp>
      <p:sp>
        <p:nvSpPr>
          <p:cNvPr id="57" name="Google Shape;57;p5"/>
          <p:cNvSpPr/>
          <p:nvPr/>
        </p:nvSpPr>
        <p:spPr>
          <a:xfrm>
            <a:off x="11210544" y="365760"/>
            <a:ext cx="384048" cy="384048"/>
          </a:xfrm>
          <a:prstGeom prst="ellipse">
            <a:avLst/>
          </a:prstGeom>
          <a:solidFill>
            <a:srgbClr val="16233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 name="Google Shape;58;p5"/>
          <p:cNvSpPr/>
          <p:nvPr/>
        </p:nvSpPr>
        <p:spPr>
          <a:xfrm>
            <a:off x="11210544" y="365760"/>
            <a:ext cx="384048" cy="38404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600"/>
              <a:buFont typeface="Calibri"/>
              <a:buNone/>
            </a:pPr>
            <a:r>
              <a:rPr b="1" i="0" lang="en-US" sz="1600" u="none" cap="none" strike="noStrike">
                <a:solidFill>
                  <a:srgbClr val="FFFFFF"/>
                </a:solidFill>
                <a:latin typeface="Calibri"/>
                <a:ea typeface="Calibri"/>
                <a:cs typeface="Calibri"/>
                <a:sym typeface="Calibri"/>
              </a:rPr>
              <a:t>1</a:t>
            </a:r>
            <a:endParaRPr b="0" i="0" sz="1600" u="none" cap="none" strike="noStrike">
              <a:solidFill>
                <a:schemeClr val="dk1"/>
              </a:solidFill>
              <a:latin typeface="Calibri"/>
              <a:ea typeface="Calibri"/>
              <a:cs typeface="Calibri"/>
              <a:sym typeface="Calibri"/>
            </a:endParaRPr>
          </a:p>
        </p:txBody>
      </p:sp>
      <p:sp>
        <p:nvSpPr>
          <p:cNvPr id="59" name="Google Shape;59;p5"/>
          <p:cNvSpPr/>
          <p:nvPr/>
        </p:nvSpPr>
        <p:spPr>
          <a:xfrm>
            <a:off x="594360" y="749808"/>
            <a:ext cx="11000232" cy="822960"/>
          </a:xfrm>
          <a:prstGeom prst="rect">
            <a:avLst/>
          </a:prstGeom>
          <a:noFill/>
          <a:ln>
            <a:noFill/>
          </a:ln>
        </p:spPr>
        <p:txBody>
          <a:bodyPr anchorCtr="0" anchor="t" bIns="0" lIns="0" spcFirstLastPara="1" rIns="0" wrap="square" tIns="0">
            <a:noAutofit/>
          </a:bodyPr>
          <a:lstStyle/>
          <a:p>
            <a:pPr indent="0" lvl="0" marL="0" marR="0" rtl="0" algn="l">
              <a:lnSpc>
                <a:spcPct val="98000"/>
              </a:lnSpc>
              <a:spcBef>
                <a:spcPts val="0"/>
              </a:spcBef>
              <a:spcAft>
                <a:spcPts val="0"/>
              </a:spcAft>
              <a:buClr>
                <a:srgbClr val="16233B"/>
              </a:buClr>
              <a:buSzPts val="3200"/>
              <a:buFont typeface="Cambria"/>
              <a:buNone/>
            </a:pPr>
            <a:r>
              <a:rPr b="1" i="0" lang="en-US" sz="3200" u="none" cap="none" strike="noStrike">
                <a:solidFill>
                  <a:srgbClr val="16233B"/>
                </a:solidFill>
                <a:latin typeface="Cambria"/>
                <a:ea typeface="Cambria"/>
                <a:cs typeface="Cambria"/>
                <a:sym typeface="Cambria"/>
              </a:rPr>
              <a:t>Data, and a deprivation ladder fixed at 2010</a:t>
            </a:r>
            <a:endParaRPr b="0" i="0" sz="3200" u="none" cap="none" strike="noStrike">
              <a:solidFill>
                <a:schemeClr val="dk1"/>
              </a:solidFill>
              <a:latin typeface="Calibri"/>
              <a:ea typeface="Calibri"/>
              <a:cs typeface="Calibri"/>
              <a:sym typeface="Calibri"/>
            </a:endParaRPr>
          </a:p>
        </p:txBody>
      </p:sp>
      <p:sp>
        <p:nvSpPr>
          <p:cNvPr id="60" name="Google Shape;60;p5"/>
          <p:cNvSpPr/>
          <p:nvPr/>
        </p:nvSpPr>
        <p:spPr>
          <a:xfrm>
            <a:off x="594360" y="1892808"/>
            <a:ext cx="146304" cy="146304"/>
          </a:xfrm>
          <a:prstGeom prst="ellipse">
            <a:avLst/>
          </a:prstGeom>
          <a:solidFill>
            <a:srgbClr val="C6551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 name="Google Shape;61;p5"/>
          <p:cNvSpPr/>
          <p:nvPr/>
        </p:nvSpPr>
        <p:spPr>
          <a:xfrm>
            <a:off x="914400" y="1755648"/>
            <a:ext cx="6766560" cy="658368"/>
          </a:xfrm>
          <a:prstGeom prst="rect">
            <a:avLst/>
          </a:prstGeom>
          <a:noFill/>
          <a:ln>
            <a:noFill/>
          </a:ln>
        </p:spPr>
        <p:txBody>
          <a:bodyPr anchorCtr="0" anchor="t" bIns="0" lIns="0" spcFirstLastPara="1" rIns="0" wrap="square" tIns="0">
            <a:noAutofit/>
          </a:bodyPr>
          <a:lstStyle/>
          <a:p>
            <a:pPr indent="0" lvl="0" marL="0" marR="0" rtl="0" algn="l">
              <a:lnSpc>
                <a:spcPct val="103000"/>
              </a:lnSpc>
              <a:spcBef>
                <a:spcPts val="0"/>
              </a:spcBef>
              <a:spcAft>
                <a:spcPts val="0"/>
              </a:spcAft>
              <a:buClr>
                <a:srgbClr val="16233B"/>
              </a:buClr>
              <a:buSzPts val="1500"/>
              <a:buFont typeface="Calibri"/>
              <a:buNone/>
            </a:pPr>
            <a:r>
              <a:rPr b="1" i="0" lang="en-US" sz="1500" u="none" cap="none" strike="noStrike">
                <a:solidFill>
                  <a:srgbClr val="16233B"/>
                </a:solidFill>
                <a:latin typeface="Calibri"/>
                <a:ea typeface="Calibri"/>
                <a:cs typeface="Calibri"/>
                <a:sym typeface="Calibri"/>
              </a:rPr>
              <a:t>Unit  </a:t>
            </a:r>
            <a:r>
              <a:rPr b="0" i="0" lang="en-US" sz="1500" u="none" cap="none" strike="noStrike">
                <a:solidFill>
                  <a:srgbClr val="2A3547"/>
                </a:solidFill>
                <a:latin typeface="Calibri"/>
                <a:ea typeface="Calibri"/>
                <a:cs typeface="Calibri"/>
                <a:sym typeface="Calibri"/>
              </a:rPr>
              <a:t>982 London MSOAs (Camden 024/025 merged in 2021).</a:t>
            </a:r>
            <a:endParaRPr b="0" i="0" sz="1500" u="none" cap="none" strike="noStrike">
              <a:solidFill>
                <a:schemeClr val="dk1"/>
              </a:solidFill>
              <a:latin typeface="Calibri"/>
              <a:ea typeface="Calibri"/>
              <a:cs typeface="Calibri"/>
              <a:sym typeface="Calibri"/>
            </a:endParaRPr>
          </a:p>
        </p:txBody>
      </p:sp>
      <p:sp>
        <p:nvSpPr>
          <p:cNvPr id="62" name="Google Shape;62;p5"/>
          <p:cNvSpPr/>
          <p:nvPr/>
        </p:nvSpPr>
        <p:spPr>
          <a:xfrm>
            <a:off x="594360" y="2606040"/>
            <a:ext cx="146304" cy="146304"/>
          </a:xfrm>
          <a:prstGeom prst="ellipse">
            <a:avLst/>
          </a:prstGeom>
          <a:solidFill>
            <a:srgbClr val="C6551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 name="Google Shape;63;p5"/>
          <p:cNvSpPr/>
          <p:nvPr/>
        </p:nvSpPr>
        <p:spPr>
          <a:xfrm>
            <a:off x="914400" y="2468880"/>
            <a:ext cx="6766560" cy="658368"/>
          </a:xfrm>
          <a:prstGeom prst="rect">
            <a:avLst/>
          </a:prstGeom>
          <a:noFill/>
          <a:ln>
            <a:noFill/>
          </a:ln>
        </p:spPr>
        <p:txBody>
          <a:bodyPr anchorCtr="0" anchor="t" bIns="0" lIns="0" spcFirstLastPara="1" rIns="0" wrap="square" tIns="0">
            <a:noAutofit/>
          </a:bodyPr>
          <a:lstStyle/>
          <a:p>
            <a:pPr indent="0" lvl="0" marL="0" marR="0" rtl="0" algn="l">
              <a:lnSpc>
                <a:spcPct val="103000"/>
              </a:lnSpc>
              <a:spcBef>
                <a:spcPts val="0"/>
              </a:spcBef>
              <a:spcAft>
                <a:spcPts val="0"/>
              </a:spcAft>
              <a:buClr>
                <a:srgbClr val="16233B"/>
              </a:buClr>
              <a:buSzPts val="1500"/>
              <a:buFont typeface="Calibri"/>
              <a:buNone/>
            </a:pPr>
            <a:r>
              <a:rPr b="1" i="0" lang="en-US" sz="1500" u="none" cap="none" strike="noStrike">
                <a:solidFill>
                  <a:srgbClr val="16233B"/>
                </a:solidFill>
                <a:latin typeface="Calibri"/>
                <a:ea typeface="Calibri"/>
                <a:cs typeface="Calibri"/>
                <a:sym typeface="Calibri"/>
              </a:rPr>
              <a:t>Flows  </a:t>
            </a:r>
            <a:r>
              <a:rPr b="0" i="0" lang="en-US" sz="1500" u="none" cap="none" strike="noStrike">
                <a:solidFill>
                  <a:srgbClr val="2A3547"/>
                </a:solidFill>
                <a:latin typeface="Calibri"/>
                <a:ea typeface="Calibri"/>
                <a:cs typeface="Calibri"/>
                <a:sym typeface="Calibri"/>
              </a:rPr>
              <a:t>Census Origin–Destination migration, 2011 &amp; 2021 (Nomis, Open Geography).</a:t>
            </a:r>
            <a:endParaRPr b="0" i="0" sz="1500" u="none" cap="none" strike="noStrike">
              <a:solidFill>
                <a:schemeClr val="dk1"/>
              </a:solidFill>
              <a:latin typeface="Calibri"/>
              <a:ea typeface="Calibri"/>
              <a:cs typeface="Calibri"/>
              <a:sym typeface="Calibri"/>
            </a:endParaRPr>
          </a:p>
        </p:txBody>
      </p:sp>
      <p:sp>
        <p:nvSpPr>
          <p:cNvPr id="64" name="Google Shape;64;p5"/>
          <p:cNvSpPr/>
          <p:nvPr/>
        </p:nvSpPr>
        <p:spPr>
          <a:xfrm>
            <a:off x="594360" y="3319272"/>
            <a:ext cx="146304" cy="146304"/>
          </a:xfrm>
          <a:prstGeom prst="ellipse">
            <a:avLst/>
          </a:prstGeom>
          <a:solidFill>
            <a:srgbClr val="C6551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 name="Google Shape;65;p5"/>
          <p:cNvSpPr/>
          <p:nvPr/>
        </p:nvSpPr>
        <p:spPr>
          <a:xfrm>
            <a:off x="914400" y="3182112"/>
            <a:ext cx="6766560" cy="658368"/>
          </a:xfrm>
          <a:prstGeom prst="rect">
            <a:avLst/>
          </a:prstGeom>
          <a:noFill/>
          <a:ln>
            <a:noFill/>
          </a:ln>
        </p:spPr>
        <p:txBody>
          <a:bodyPr anchorCtr="0" anchor="t" bIns="0" lIns="0" spcFirstLastPara="1" rIns="0" wrap="square" tIns="0">
            <a:noAutofit/>
          </a:bodyPr>
          <a:lstStyle/>
          <a:p>
            <a:pPr indent="0" lvl="0" marL="0" marR="0" rtl="0" algn="l">
              <a:lnSpc>
                <a:spcPct val="103000"/>
              </a:lnSpc>
              <a:spcBef>
                <a:spcPts val="0"/>
              </a:spcBef>
              <a:spcAft>
                <a:spcPts val="0"/>
              </a:spcAft>
              <a:buClr>
                <a:srgbClr val="16233B"/>
              </a:buClr>
              <a:buSzPts val="1500"/>
              <a:buFont typeface="Calibri"/>
              <a:buNone/>
            </a:pPr>
            <a:r>
              <a:rPr b="1" i="0" lang="en-US" sz="1500" u="none" cap="none" strike="noStrike">
                <a:solidFill>
                  <a:srgbClr val="16233B"/>
                </a:solidFill>
                <a:latin typeface="Calibri"/>
                <a:ea typeface="Calibri"/>
                <a:cs typeface="Calibri"/>
                <a:sym typeface="Calibri"/>
              </a:rPr>
              <a:t>Ladder  </a:t>
            </a:r>
            <a:r>
              <a:rPr b="0" i="0" lang="en-US" sz="1500" u="none" cap="none" strike="noStrike">
                <a:solidFill>
                  <a:srgbClr val="2A3547"/>
                </a:solidFill>
                <a:latin typeface="Calibri"/>
                <a:ea typeface="Calibri"/>
                <a:cs typeface="Calibri"/>
                <a:sym typeface="Calibri"/>
              </a:rPr>
              <a:t>IMD 2010 aggregated to MSOA, ranked into wealth deciles — 10 = least deprived, 1 = most deprived.</a:t>
            </a:r>
            <a:endParaRPr b="0" i="0" sz="1500" u="none" cap="none" strike="noStrike">
              <a:solidFill>
                <a:schemeClr val="dk1"/>
              </a:solidFill>
              <a:latin typeface="Calibri"/>
              <a:ea typeface="Calibri"/>
              <a:cs typeface="Calibri"/>
              <a:sym typeface="Calibri"/>
            </a:endParaRPr>
          </a:p>
        </p:txBody>
      </p:sp>
      <p:sp>
        <p:nvSpPr>
          <p:cNvPr id="66" name="Google Shape;66;p5"/>
          <p:cNvSpPr/>
          <p:nvPr/>
        </p:nvSpPr>
        <p:spPr>
          <a:xfrm>
            <a:off x="594360" y="4032504"/>
            <a:ext cx="146304" cy="146304"/>
          </a:xfrm>
          <a:prstGeom prst="ellipse">
            <a:avLst/>
          </a:prstGeom>
          <a:solidFill>
            <a:srgbClr val="C6551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 name="Google Shape;67;p5"/>
          <p:cNvSpPr/>
          <p:nvPr/>
        </p:nvSpPr>
        <p:spPr>
          <a:xfrm>
            <a:off x="914400" y="3895344"/>
            <a:ext cx="6766560" cy="658368"/>
          </a:xfrm>
          <a:prstGeom prst="rect">
            <a:avLst/>
          </a:prstGeom>
          <a:noFill/>
          <a:ln>
            <a:noFill/>
          </a:ln>
        </p:spPr>
        <p:txBody>
          <a:bodyPr anchorCtr="0" anchor="t" bIns="0" lIns="0" spcFirstLastPara="1" rIns="0" wrap="square" tIns="0">
            <a:noAutofit/>
          </a:bodyPr>
          <a:lstStyle/>
          <a:p>
            <a:pPr indent="0" lvl="0" marL="0" marR="0" rtl="0" algn="l">
              <a:lnSpc>
                <a:spcPct val="103000"/>
              </a:lnSpc>
              <a:spcBef>
                <a:spcPts val="0"/>
              </a:spcBef>
              <a:spcAft>
                <a:spcPts val="0"/>
              </a:spcAft>
              <a:buClr>
                <a:srgbClr val="16233B"/>
              </a:buClr>
              <a:buSzPts val="1500"/>
              <a:buFont typeface="Calibri"/>
              <a:buNone/>
            </a:pPr>
            <a:r>
              <a:rPr b="1" i="0" lang="en-US" sz="1500" u="none" cap="none" strike="noStrike">
                <a:solidFill>
                  <a:srgbClr val="16233B"/>
                </a:solidFill>
                <a:latin typeface="Calibri"/>
                <a:ea typeface="Calibri"/>
                <a:cs typeface="Calibri"/>
                <a:sym typeface="Calibri"/>
              </a:rPr>
              <a:t>Access  </a:t>
            </a:r>
            <a:r>
              <a:rPr b="0" i="0" lang="en-US" sz="1500" u="none" cap="none" strike="noStrike">
                <a:solidFill>
                  <a:srgbClr val="2A3547"/>
                </a:solidFill>
                <a:latin typeface="Calibri"/>
                <a:ea typeface="Calibri"/>
                <a:cs typeface="Calibri"/>
                <a:sym typeface="Calibri"/>
              </a:rPr>
              <a:t>Entirely secondary, anonymised, open data.</a:t>
            </a:r>
            <a:endParaRPr b="0" i="0" sz="1500" u="none" cap="none" strike="noStrike">
              <a:solidFill>
                <a:schemeClr val="dk1"/>
              </a:solidFill>
              <a:latin typeface="Calibri"/>
              <a:ea typeface="Calibri"/>
              <a:cs typeface="Calibri"/>
              <a:sym typeface="Calibri"/>
            </a:endParaRPr>
          </a:p>
        </p:txBody>
      </p:sp>
      <p:sp>
        <p:nvSpPr>
          <p:cNvPr id="68" name="Google Shape;68;p5"/>
          <p:cNvSpPr/>
          <p:nvPr/>
        </p:nvSpPr>
        <p:spPr>
          <a:xfrm>
            <a:off x="8686800" y="1828800"/>
            <a:ext cx="566928" cy="246888"/>
          </a:xfrm>
          <a:prstGeom prst="roundRect">
            <a:avLst>
              <a:gd fmla="val 11111" name="adj"/>
            </a:avLst>
          </a:prstGeom>
          <a:solidFill>
            <a:srgbClr val="3E557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 name="Google Shape;69;p5"/>
          <p:cNvSpPr/>
          <p:nvPr/>
        </p:nvSpPr>
        <p:spPr>
          <a:xfrm>
            <a:off x="8686800" y="2121408"/>
            <a:ext cx="566928" cy="246888"/>
          </a:xfrm>
          <a:prstGeom prst="roundRect">
            <a:avLst>
              <a:gd fmla="val 11111" name="adj"/>
            </a:avLst>
          </a:prstGeom>
          <a:solidFill>
            <a:srgbClr val="3E557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0" name="Google Shape;70;p5"/>
          <p:cNvSpPr/>
          <p:nvPr/>
        </p:nvSpPr>
        <p:spPr>
          <a:xfrm>
            <a:off x="8686800" y="2414016"/>
            <a:ext cx="566928" cy="246888"/>
          </a:xfrm>
          <a:prstGeom prst="roundRect">
            <a:avLst>
              <a:gd fmla="val 11111" name="adj"/>
            </a:avLst>
          </a:prstGeom>
          <a:solidFill>
            <a:srgbClr val="3E557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1" name="Google Shape;71;p5"/>
          <p:cNvSpPr/>
          <p:nvPr/>
        </p:nvSpPr>
        <p:spPr>
          <a:xfrm>
            <a:off x="8686800" y="2706624"/>
            <a:ext cx="566928" cy="246888"/>
          </a:xfrm>
          <a:prstGeom prst="roundRect">
            <a:avLst>
              <a:gd fmla="val 11111" name="adj"/>
            </a:avLst>
          </a:prstGeom>
          <a:solidFill>
            <a:srgbClr val="3E557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 name="Google Shape;72;p5"/>
          <p:cNvSpPr/>
          <p:nvPr/>
        </p:nvSpPr>
        <p:spPr>
          <a:xfrm>
            <a:off x="8686800" y="2999232"/>
            <a:ext cx="566928" cy="246888"/>
          </a:xfrm>
          <a:prstGeom prst="roundRect">
            <a:avLst>
              <a:gd fmla="val 11111" name="adj"/>
            </a:avLst>
          </a:prstGeom>
          <a:solidFill>
            <a:srgbClr val="3E557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 name="Google Shape;73;p5"/>
          <p:cNvSpPr/>
          <p:nvPr/>
        </p:nvSpPr>
        <p:spPr>
          <a:xfrm>
            <a:off x="8686800" y="3291840"/>
            <a:ext cx="566928" cy="246888"/>
          </a:xfrm>
          <a:prstGeom prst="roundRect">
            <a:avLst>
              <a:gd fmla="val 11111" name="adj"/>
            </a:avLst>
          </a:prstGeom>
          <a:solidFill>
            <a:srgbClr val="263A5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 name="Google Shape;74;p5"/>
          <p:cNvSpPr/>
          <p:nvPr/>
        </p:nvSpPr>
        <p:spPr>
          <a:xfrm>
            <a:off x="8686800" y="3584448"/>
            <a:ext cx="566928" cy="246888"/>
          </a:xfrm>
          <a:prstGeom prst="roundRect">
            <a:avLst>
              <a:gd fmla="val 11111" name="adj"/>
            </a:avLst>
          </a:prstGeom>
          <a:solidFill>
            <a:srgbClr val="263A5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5" name="Google Shape;75;p5"/>
          <p:cNvSpPr/>
          <p:nvPr/>
        </p:nvSpPr>
        <p:spPr>
          <a:xfrm>
            <a:off x="8686800" y="3877056"/>
            <a:ext cx="566928" cy="246888"/>
          </a:xfrm>
          <a:prstGeom prst="roundRect">
            <a:avLst>
              <a:gd fmla="val 11111" name="adj"/>
            </a:avLst>
          </a:prstGeom>
          <a:solidFill>
            <a:srgbClr val="263A5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6" name="Google Shape;76;p5"/>
          <p:cNvSpPr/>
          <p:nvPr/>
        </p:nvSpPr>
        <p:spPr>
          <a:xfrm>
            <a:off x="8686800" y="4169664"/>
            <a:ext cx="566928" cy="246888"/>
          </a:xfrm>
          <a:prstGeom prst="roundRect">
            <a:avLst>
              <a:gd fmla="val 11111" name="adj"/>
            </a:avLst>
          </a:prstGeom>
          <a:solidFill>
            <a:srgbClr val="263A5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7" name="Google Shape;77;p5"/>
          <p:cNvSpPr/>
          <p:nvPr/>
        </p:nvSpPr>
        <p:spPr>
          <a:xfrm>
            <a:off x="8686800" y="4462272"/>
            <a:ext cx="566928" cy="246888"/>
          </a:xfrm>
          <a:prstGeom prst="roundRect">
            <a:avLst>
              <a:gd fmla="val 11111" name="adj"/>
            </a:avLst>
          </a:prstGeom>
          <a:solidFill>
            <a:srgbClr val="263A5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8" name="Google Shape;78;p5"/>
          <p:cNvSpPr/>
          <p:nvPr/>
        </p:nvSpPr>
        <p:spPr>
          <a:xfrm>
            <a:off x="9363456" y="1783080"/>
            <a:ext cx="2194560" cy="27432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6E7C90"/>
              </a:buClr>
              <a:buSzPts val="1100"/>
              <a:buFont typeface="Calibri"/>
              <a:buNone/>
            </a:pPr>
            <a:r>
              <a:rPr b="0" i="0" lang="en-US" sz="1100" u="none" cap="none" strike="noStrike">
                <a:solidFill>
                  <a:srgbClr val="6E7C90"/>
                </a:solidFill>
                <a:latin typeface="Calibri"/>
                <a:ea typeface="Calibri"/>
                <a:cs typeface="Calibri"/>
                <a:sym typeface="Calibri"/>
              </a:rPr>
              <a:t>D10 · least deprived</a:t>
            </a:r>
            <a:endParaRPr b="0" i="0" sz="1100" u="none" cap="none" strike="noStrike">
              <a:solidFill>
                <a:schemeClr val="dk1"/>
              </a:solidFill>
              <a:latin typeface="Calibri"/>
              <a:ea typeface="Calibri"/>
              <a:cs typeface="Calibri"/>
              <a:sym typeface="Calibri"/>
            </a:endParaRPr>
          </a:p>
        </p:txBody>
      </p:sp>
      <p:sp>
        <p:nvSpPr>
          <p:cNvPr id="79" name="Google Shape;79;p5"/>
          <p:cNvSpPr/>
          <p:nvPr/>
        </p:nvSpPr>
        <p:spPr>
          <a:xfrm>
            <a:off x="9363456" y="4480560"/>
            <a:ext cx="2194560" cy="274320"/>
          </a:xfrm>
          <a:prstGeom prst="rect">
            <a:avLst/>
          </a:prstGeom>
          <a:noFill/>
          <a:ln>
            <a:noFill/>
          </a:ln>
        </p:spPr>
        <p:txBody>
          <a:bodyPr anchorCtr="0" anchor="b" bIns="0" lIns="0" spcFirstLastPara="1" rIns="0" wrap="square" tIns="0">
            <a:noAutofit/>
          </a:bodyPr>
          <a:lstStyle/>
          <a:p>
            <a:pPr indent="0" lvl="0" marL="0" marR="0" rtl="0" algn="l">
              <a:spcBef>
                <a:spcPts val="0"/>
              </a:spcBef>
              <a:spcAft>
                <a:spcPts val="0"/>
              </a:spcAft>
              <a:buClr>
                <a:srgbClr val="6E7C90"/>
              </a:buClr>
              <a:buSzPts val="1100"/>
              <a:buFont typeface="Calibri"/>
              <a:buNone/>
            </a:pPr>
            <a:r>
              <a:rPr b="0" i="0" lang="en-US" sz="1100" u="none" cap="none" strike="noStrike">
                <a:solidFill>
                  <a:srgbClr val="6E7C90"/>
                </a:solidFill>
                <a:latin typeface="Calibri"/>
                <a:ea typeface="Calibri"/>
                <a:cs typeface="Calibri"/>
                <a:sym typeface="Calibri"/>
              </a:rPr>
              <a:t>D1 · most deprived</a:t>
            </a:r>
            <a:endParaRPr b="0" i="0" sz="1100" u="none" cap="none" strike="noStrike">
              <a:solidFill>
                <a:schemeClr val="dk1"/>
              </a:solidFill>
              <a:latin typeface="Calibri"/>
              <a:ea typeface="Calibri"/>
              <a:cs typeface="Calibri"/>
              <a:sym typeface="Calibri"/>
            </a:endParaRPr>
          </a:p>
        </p:txBody>
      </p:sp>
      <p:sp>
        <p:nvSpPr>
          <p:cNvPr id="80" name="Google Shape;80;p5"/>
          <p:cNvSpPr/>
          <p:nvPr/>
        </p:nvSpPr>
        <p:spPr>
          <a:xfrm>
            <a:off x="10104120" y="2971800"/>
            <a:ext cx="1554480" cy="548640"/>
          </a:xfrm>
          <a:prstGeom prst="roundRect">
            <a:avLst>
              <a:gd fmla="val 13333" name="adj"/>
            </a:avLst>
          </a:prstGeom>
          <a:solidFill>
            <a:srgbClr val="F9E6D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1" name="Google Shape;81;p5"/>
          <p:cNvSpPr/>
          <p:nvPr/>
        </p:nvSpPr>
        <p:spPr>
          <a:xfrm>
            <a:off x="10104120" y="2971800"/>
            <a:ext cx="1554480" cy="54864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C6551A"/>
              </a:buClr>
              <a:buSzPts val="1300"/>
              <a:buFont typeface="Calibri"/>
              <a:buNone/>
            </a:pPr>
            <a:r>
              <a:rPr b="1" i="0" lang="en-US" sz="1300" u="none" cap="none" strike="noStrike">
                <a:solidFill>
                  <a:srgbClr val="C6551A"/>
                </a:solidFill>
                <a:latin typeface="Calibri"/>
                <a:ea typeface="Calibri"/>
                <a:cs typeface="Calibri"/>
                <a:sym typeface="Calibri"/>
              </a:rPr>
              <a:t>FIXED · 2010 IMD</a:t>
            </a:r>
            <a:endParaRPr b="0" i="0" sz="1300" u="none" cap="none" strike="noStrike">
              <a:solidFill>
                <a:schemeClr val="dk1"/>
              </a:solidFill>
              <a:latin typeface="Calibri"/>
              <a:ea typeface="Calibri"/>
              <a:cs typeface="Calibri"/>
              <a:sym typeface="Calibri"/>
            </a:endParaRPr>
          </a:p>
        </p:txBody>
      </p:sp>
      <p:sp>
        <p:nvSpPr>
          <p:cNvPr id="82" name="Google Shape;82;p5"/>
          <p:cNvSpPr/>
          <p:nvPr/>
        </p:nvSpPr>
        <p:spPr>
          <a:xfrm>
            <a:off x="594360" y="5074920"/>
            <a:ext cx="11000232" cy="1143000"/>
          </a:xfrm>
          <a:prstGeom prst="roundRect">
            <a:avLst>
              <a:gd fmla="val 7200" name="adj"/>
            </a:avLst>
          </a:prstGeom>
          <a:solidFill>
            <a:srgbClr val="F3F6FB"/>
          </a:solidFill>
          <a:ln>
            <a:noFill/>
          </a:ln>
          <a:effectLst>
            <a:outerShdw blurRad="101600" rotWithShape="0" algn="bl" dir="5400000" dist="38100">
              <a:srgbClr val="9AA6B8">
                <a:alpha val="27843"/>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3" name="Google Shape;83;p5"/>
          <p:cNvSpPr/>
          <p:nvPr/>
        </p:nvSpPr>
        <p:spPr>
          <a:xfrm>
            <a:off x="850392" y="5193792"/>
            <a:ext cx="10488168" cy="914400"/>
          </a:xfrm>
          <a:prstGeom prst="rect">
            <a:avLst/>
          </a:prstGeom>
          <a:noFill/>
          <a:ln>
            <a:noFill/>
          </a:ln>
        </p:spPr>
        <p:txBody>
          <a:bodyPr anchorCtr="0" anchor="ctr" bIns="0" lIns="0" spcFirstLastPara="1" rIns="0" wrap="square" tIns="0">
            <a:noAutofit/>
          </a:bodyPr>
          <a:lstStyle/>
          <a:p>
            <a:pPr indent="0" lvl="0" marL="0" marR="0" rtl="0" algn="l">
              <a:lnSpc>
                <a:spcPct val="108000"/>
              </a:lnSpc>
              <a:spcBef>
                <a:spcPts val="0"/>
              </a:spcBef>
              <a:spcAft>
                <a:spcPts val="0"/>
              </a:spcAft>
              <a:buClr>
                <a:srgbClr val="16233B"/>
              </a:buClr>
              <a:buSzPts val="1500"/>
              <a:buFont typeface="Calibri"/>
              <a:buNone/>
            </a:pPr>
            <a:r>
              <a:rPr b="1" i="0" lang="en-US" sz="1500" u="none" cap="none" strike="noStrike">
                <a:solidFill>
                  <a:srgbClr val="16233B"/>
                </a:solidFill>
                <a:latin typeface="Calibri"/>
                <a:ea typeface="Calibri"/>
                <a:cs typeface="Calibri"/>
                <a:sym typeface="Calibri"/>
              </a:rPr>
              <a:t>Why fix the ladder?  </a:t>
            </a:r>
            <a:r>
              <a:rPr b="0" i="0" lang="en-US" sz="1500" u="none" cap="none" strike="noStrike">
                <a:solidFill>
                  <a:srgbClr val="2A3547"/>
                </a:solidFill>
                <a:latin typeface="Calibri"/>
                <a:ea typeface="Calibri"/>
                <a:cs typeface="Calibri"/>
                <a:sym typeface="Calibri"/>
              </a:rPr>
              <a:t>So change between censuses reflects </a:t>
            </a:r>
            <a:r>
              <a:rPr b="1" i="0" lang="en-US" sz="1500" u="none" cap="none" strike="noStrike">
                <a:solidFill>
                  <a:srgbClr val="2A3547"/>
                </a:solidFill>
                <a:latin typeface="Calibri"/>
                <a:ea typeface="Calibri"/>
                <a:cs typeface="Calibri"/>
                <a:sym typeface="Calibri"/>
              </a:rPr>
              <a:t>movement, not re-ranking</a:t>
            </a:r>
            <a:r>
              <a:rPr b="0" i="0" lang="en-US" sz="1500" u="none" cap="none" strike="noStrike">
                <a:solidFill>
                  <a:srgbClr val="2A3547"/>
                </a:solidFill>
                <a:latin typeface="Calibri"/>
                <a:ea typeface="Calibri"/>
                <a:cs typeface="Calibri"/>
                <a:sym typeface="Calibri"/>
              </a:rPr>
              <a:t> — and so IMD 2019 stays reserved as an </a:t>
            </a:r>
            <a:r>
              <a:rPr b="1" i="0" lang="en-US" sz="1500" u="none" cap="none" strike="noStrike">
                <a:solidFill>
                  <a:srgbClr val="2A3547"/>
                </a:solidFill>
                <a:latin typeface="Calibri"/>
                <a:ea typeface="Calibri"/>
                <a:cs typeface="Calibri"/>
                <a:sym typeface="Calibri"/>
              </a:rPr>
              <a:t>independent outcome</a:t>
            </a:r>
            <a:r>
              <a:rPr b="0" i="0" lang="en-US" sz="1500" u="none" cap="none" strike="noStrike">
                <a:solidFill>
                  <a:srgbClr val="2A3547"/>
                </a:solidFill>
                <a:latin typeface="Calibri"/>
                <a:ea typeface="Calibri"/>
                <a:cs typeface="Calibri"/>
                <a:sym typeface="Calibri"/>
              </a:rPr>
              <a:t> the typology never sees. The validation is non-circular by construction.</a:t>
            </a:r>
            <a:endParaRPr b="0" i="0" sz="1500" u="none" cap="none" strike="noStrike">
              <a:solidFill>
                <a:schemeClr val="dk1"/>
              </a:solidFill>
              <a:latin typeface="Calibri"/>
              <a:ea typeface="Calibri"/>
              <a:cs typeface="Calibri"/>
              <a:sym typeface="Calibri"/>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88" name="Shape 88"/>
        <p:cNvGrpSpPr/>
        <p:nvPr/>
      </p:nvGrpSpPr>
      <p:grpSpPr>
        <a:xfrm>
          <a:off x="0" y="0"/>
          <a:ext cx="0" cy="0"/>
          <a:chOff x="0" y="0"/>
          <a:chExt cx="0" cy="0"/>
        </a:xfrm>
      </p:grpSpPr>
      <p:sp>
        <p:nvSpPr>
          <p:cNvPr id="89" name="Google Shape;89;p6"/>
          <p:cNvSpPr/>
          <p:nvPr/>
        </p:nvSpPr>
        <p:spPr>
          <a:xfrm>
            <a:off x="594360" y="411480"/>
            <a:ext cx="11000232" cy="29260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E7C90"/>
              </a:buClr>
              <a:buSzPts val="1200"/>
              <a:buFont typeface="Calibri"/>
              <a:buNone/>
            </a:pPr>
            <a:r>
              <a:rPr b="1" i="0" lang="en-US" sz="1200" u="none" cap="none" strike="noStrike">
                <a:solidFill>
                  <a:srgbClr val="6E7C90"/>
                </a:solidFill>
                <a:latin typeface="Calibri"/>
                <a:ea typeface="Calibri"/>
                <a:cs typeface="Calibri"/>
                <a:sym typeface="Calibri"/>
              </a:rPr>
              <a:t>METHODOLOGY · 2 OF 5</a:t>
            </a:r>
            <a:endParaRPr b="0" i="0" sz="1200" u="none" cap="none" strike="noStrike">
              <a:solidFill>
                <a:schemeClr val="dk1"/>
              </a:solidFill>
              <a:latin typeface="Calibri"/>
              <a:ea typeface="Calibri"/>
              <a:cs typeface="Calibri"/>
              <a:sym typeface="Calibri"/>
            </a:endParaRPr>
          </a:p>
        </p:txBody>
      </p:sp>
      <p:sp>
        <p:nvSpPr>
          <p:cNvPr id="90" name="Google Shape;90;p6"/>
          <p:cNvSpPr/>
          <p:nvPr/>
        </p:nvSpPr>
        <p:spPr>
          <a:xfrm>
            <a:off x="11210544" y="365760"/>
            <a:ext cx="384048" cy="384048"/>
          </a:xfrm>
          <a:prstGeom prst="ellipse">
            <a:avLst/>
          </a:prstGeom>
          <a:solidFill>
            <a:srgbClr val="16233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1" name="Google Shape;91;p6"/>
          <p:cNvSpPr/>
          <p:nvPr/>
        </p:nvSpPr>
        <p:spPr>
          <a:xfrm>
            <a:off x="11210544" y="365760"/>
            <a:ext cx="384048" cy="38404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600"/>
              <a:buFont typeface="Calibri"/>
              <a:buNone/>
            </a:pPr>
            <a:r>
              <a:rPr b="1" i="0" lang="en-US" sz="1600" u="none" cap="none" strike="noStrike">
                <a:solidFill>
                  <a:srgbClr val="FFFFFF"/>
                </a:solidFill>
                <a:latin typeface="Calibri"/>
                <a:ea typeface="Calibri"/>
                <a:cs typeface="Calibri"/>
                <a:sym typeface="Calibri"/>
              </a:rPr>
              <a:t>2</a:t>
            </a:r>
            <a:endParaRPr b="0" i="0" sz="1600" u="none" cap="none" strike="noStrike">
              <a:solidFill>
                <a:schemeClr val="dk1"/>
              </a:solidFill>
              <a:latin typeface="Calibri"/>
              <a:ea typeface="Calibri"/>
              <a:cs typeface="Calibri"/>
              <a:sym typeface="Calibri"/>
            </a:endParaRPr>
          </a:p>
        </p:txBody>
      </p:sp>
      <p:sp>
        <p:nvSpPr>
          <p:cNvPr id="92" name="Google Shape;92;p6"/>
          <p:cNvSpPr/>
          <p:nvPr/>
        </p:nvSpPr>
        <p:spPr>
          <a:xfrm>
            <a:off x="594360" y="749808"/>
            <a:ext cx="11000232" cy="822960"/>
          </a:xfrm>
          <a:prstGeom prst="rect">
            <a:avLst/>
          </a:prstGeom>
          <a:noFill/>
          <a:ln>
            <a:noFill/>
          </a:ln>
        </p:spPr>
        <p:txBody>
          <a:bodyPr anchorCtr="0" anchor="t" bIns="0" lIns="0" spcFirstLastPara="1" rIns="0" wrap="square" tIns="0">
            <a:noAutofit/>
          </a:bodyPr>
          <a:lstStyle/>
          <a:p>
            <a:pPr indent="0" lvl="0" marL="0" marR="0" rtl="0" algn="l">
              <a:lnSpc>
                <a:spcPct val="98000"/>
              </a:lnSpc>
              <a:spcBef>
                <a:spcPts val="0"/>
              </a:spcBef>
              <a:spcAft>
                <a:spcPts val="0"/>
              </a:spcAft>
              <a:buClr>
                <a:srgbClr val="16233B"/>
              </a:buClr>
              <a:buSzPts val="3200"/>
              <a:buFont typeface="Cambria"/>
              <a:buNone/>
            </a:pPr>
            <a:r>
              <a:rPr b="1" i="0" lang="en-US" sz="3200" u="none" cap="none" strike="noStrike">
                <a:solidFill>
                  <a:srgbClr val="16233B"/>
                </a:solidFill>
                <a:latin typeface="Cambria"/>
                <a:ea typeface="Cambria"/>
                <a:cs typeface="Cambria"/>
                <a:sym typeface="Cambria"/>
              </a:rPr>
              <a:t>Every cross-decile move becomes one of four flows</a:t>
            </a:r>
            <a:endParaRPr b="0" i="0" sz="3200" u="none" cap="none" strike="noStrike">
              <a:solidFill>
                <a:schemeClr val="dk1"/>
              </a:solidFill>
              <a:latin typeface="Calibri"/>
              <a:ea typeface="Calibri"/>
              <a:cs typeface="Calibri"/>
              <a:sym typeface="Calibri"/>
            </a:endParaRPr>
          </a:p>
        </p:txBody>
      </p:sp>
      <p:sp>
        <p:nvSpPr>
          <p:cNvPr id="93" name="Google Shape;93;p6"/>
          <p:cNvSpPr/>
          <p:nvPr/>
        </p:nvSpPr>
        <p:spPr>
          <a:xfrm>
            <a:off x="5943600" y="1920240"/>
            <a:ext cx="301752" cy="278892"/>
          </a:xfrm>
          <a:prstGeom prst="roundRect">
            <a:avLst>
              <a:gd fmla="val 9836" name="adj"/>
            </a:avLst>
          </a:prstGeom>
          <a:solidFill>
            <a:srgbClr val="3E557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4" name="Google Shape;94;p6"/>
          <p:cNvSpPr/>
          <p:nvPr/>
        </p:nvSpPr>
        <p:spPr>
          <a:xfrm>
            <a:off x="5943600" y="2244852"/>
            <a:ext cx="301752" cy="278892"/>
          </a:xfrm>
          <a:prstGeom prst="roundRect">
            <a:avLst>
              <a:gd fmla="val 9836" name="adj"/>
            </a:avLst>
          </a:prstGeom>
          <a:solidFill>
            <a:srgbClr val="3E557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5" name="Google Shape;95;p6"/>
          <p:cNvSpPr/>
          <p:nvPr/>
        </p:nvSpPr>
        <p:spPr>
          <a:xfrm>
            <a:off x="5943600" y="2569464"/>
            <a:ext cx="301752" cy="278892"/>
          </a:xfrm>
          <a:prstGeom prst="roundRect">
            <a:avLst>
              <a:gd fmla="val 9836" name="adj"/>
            </a:avLst>
          </a:prstGeom>
          <a:solidFill>
            <a:srgbClr val="3E557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6" name="Google Shape;96;p6"/>
          <p:cNvSpPr/>
          <p:nvPr/>
        </p:nvSpPr>
        <p:spPr>
          <a:xfrm>
            <a:off x="5943600" y="2894076"/>
            <a:ext cx="301752" cy="278892"/>
          </a:xfrm>
          <a:prstGeom prst="roundRect">
            <a:avLst>
              <a:gd fmla="val 9836" name="adj"/>
            </a:avLst>
          </a:prstGeom>
          <a:solidFill>
            <a:srgbClr val="3E557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7" name="Google Shape;97;p6"/>
          <p:cNvSpPr/>
          <p:nvPr/>
        </p:nvSpPr>
        <p:spPr>
          <a:xfrm>
            <a:off x="5943600" y="3218688"/>
            <a:ext cx="301752" cy="278892"/>
          </a:xfrm>
          <a:prstGeom prst="roundRect">
            <a:avLst>
              <a:gd fmla="val 9836" name="adj"/>
            </a:avLst>
          </a:prstGeom>
          <a:solidFill>
            <a:srgbClr val="3E557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8" name="Google Shape;98;p6"/>
          <p:cNvSpPr/>
          <p:nvPr/>
        </p:nvSpPr>
        <p:spPr>
          <a:xfrm>
            <a:off x="5943600" y="3543300"/>
            <a:ext cx="301752" cy="278892"/>
          </a:xfrm>
          <a:prstGeom prst="roundRect">
            <a:avLst>
              <a:gd fmla="val 9836" name="adj"/>
            </a:avLst>
          </a:prstGeom>
          <a:solidFill>
            <a:srgbClr val="263A5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9" name="Google Shape;99;p6"/>
          <p:cNvSpPr/>
          <p:nvPr/>
        </p:nvSpPr>
        <p:spPr>
          <a:xfrm>
            <a:off x="5943600" y="3867912"/>
            <a:ext cx="301752" cy="278892"/>
          </a:xfrm>
          <a:prstGeom prst="roundRect">
            <a:avLst>
              <a:gd fmla="val 9836" name="adj"/>
            </a:avLst>
          </a:prstGeom>
          <a:solidFill>
            <a:srgbClr val="263A5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0" name="Google Shape;100;p6"/>
          <p:cNvSpPr/>
          <p:nvPr/>
        </p:nvSpPr>
        <p:spPr>
          <a:xfrm>
            <a:off x="5943600" y="4192524"/>
            <a:ext cx="301752" cy="278892"/>
          </a:xfrm>
          <a:prstGeom prst="roundRect">
            <a:avLst>
              <a:gd fmla="val 9836" name="adj"/>
            </a:avLst>
          </a:prstGeom>
          <a:solidFill>
            <a:srgbClr val="263A5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1" name="Google Shape;101;p6"/>
          <p:cNvSpPr/>
          <p:nvPr/>
        </p:nvSpPr>
        <p:spPr>
          <a:xfrm>
            <a:off x="5943600" y="4517136"/>
            <a:ext cx="301752" cy="278892"/>
          </a:xfrm>
          <a:prstGeom prst="roundRect">
            <a:avLst>
              <a:gd fmla="val 9836" name="adj"/>
            </a:avLst>
          </a:prstGeom>
          <a:solidFill>
            <a:srgbClr val="263A5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2" name="Google Shape;102;p6"/>
          <p:cNvSpPr/>
          <p:nvPr/>
        </p:nvSpPr>
        <p:spPr>
          <a:xfrm>
            <a:off x="5943600" y="4841748"/>
            <a:ext cx="301752" cy="278892"/>
          </a:xfrm>
          <a:prstGeom prst="roundRect">
            <a:avLst>
              <a:gd fmla="val 9836" name="adj"/>
            </a:avLst>
          </a:prstGeom>
          <a:solidFill>
            <a:srgbClr val="263A5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3" name="Google Shape;103;p6"/>
          <p:cNvSpPr/>
          <p:nvPr/>
        </p:nvSpPr>
        <p:spPr>
          <a:xfrm>
            <a:off x="5532120" y="3246120"/>
            <a:ext cx="1143000" cy="566928"/>
          </a:xfrm>
          <a:prstGeom prst="ellipse">
            <a:avLst/>
          </a:prstGeom>
          <a:solidFill>
            <a:srgbClr val="16233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4" name="Google Shape;104;p6"/>
          <p:cNvSpPr/>
          <p:nvPr/>
        </p:nvSpPr>
        <p:spPr>
          <a:xfrm>
            <a:off x="5532120" y="3246120"/>
            <a:ext cx="1143000" cy="56692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200"/>
              <a:buFont typeface="Calibri"/>
              <a:buNone/>
            </a:pPr>
            <a:r>
              <a:rPr b="1" i="0" lang="en-US" sz="1200" u="none" cap="none" strike="noStrike">
                <a:solidFill>
                  <a:srgbClr val="FFFFFF"/>
                </a:solidFill>
                <a:latin typeface="Calibri"/>
                <a:ea typeface="Calibri"/>
                <a:cs typeface="Calibri"/>
                <a:sym typeface="Calibri"/>
              </a:rPr>
              <a:t>MSOA</a:t>
            </a:r>
            <a:endParaRPr b="0" i="0" sz="1200" u="none" cap="none" strike="noStrike">
              <a:solidFill>
                <a:schemeClr val="dk1"/>
              </a:solidFill>
              <a:latin typeface="Calibri"/>
              <a:ea typeface="Calibri"/>
              <a:cs typeface="Calibri"/>
              <a:sym typeface="Calibri"/>
            </a:endParaRPr>
          </a:p>
        </p:txBody>
      </p:sp>
      <p:sp>
        <p:nvSpPr>
          <p:cNvPr id="105" name="Google Shape;105;p6"/>
          <p:cNvSpPr/>
          <p:nvPr/>
        </p:nvSpPr>
        <p:spPr>
          <a:xfrm>
            <a:off x="594360" y="2057400"/>
            <a:ext cx="3108960" cy="841248"/>
          </a:xfrm>
          <a:prstGeom prst="roundRect">
            <a:avLst>
              <a:gd fmla="val 8696" name="adj"/>
            </a:avLst>
          </a:prstGeom>
          <a:solidFill>
            <a:srgbClr val="F9E6D6"/>
          </a:solidFill>
          <a:ln>
            <a:noFill/>
          </a:ln>
          <a:effectLst>
            <a:outerShdw blurRad="101600" rotWithShape="0" algn="bl" dir="5400000" dist="38100">
              <a:srgbClr val="9AA6B8">
                <a:alpha val="27843"/>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6" name="Google Shape;106;p6"/>
          <p:cNvSpPr/>
          <p:nvPr/>
        </p:nvSpPr>
        <p:spPr>
          <a:xfrm>
            <a:off x="704088" y="2057400"/>
            <a:ext cx="457200" cy="84124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C6551A"/>
              </a:buClr>
              <a:buSzPts val="2400"/>
              <a:buFont typeface="Calibri"/>
              <a:buNone/>
            </a:pPr>
            <a:r>
              <a:rPr b="1" i="0" lang="en-US" sz="2400" u="none" cap="none" strike="noStrike">
                <a:solidFill>
                  <a:srgbClr val="C6551A"/>
                </a:solidFill>
                <a:latin typeface="Calibri"/>
                <a:ea typeface="Calibri"/>
                <a:cs typeface="Calibri"/>
                <a:sym typeface="Calibri"/>
              </a:rPr>
              <a:t>↘</a:t>
            </a:r>
            <a:endParaRPr b="0" i="0" sz="2400" u="none" cap="none" strike="noStrike">
              <a:solidFill>
                <a:schemeClr val="dk1"/>
              </a:solidFill>
              <a:latin typeface="Calibri"/>
              <a:ea typeface="Calibri"/>
              <a:cs typeface="Calibri"/>
              <a:sym typeface="Calibri"/>
            </a:endParaRPr>
          </a:p>
        </p:txBody>
      </p:sp>
      <p:sp>
        <p:nvSpPr>
          <p:cNvPr id="107" name="Google Shape;107;p6"/>
          <p:cNvSpPr/>
          <p:nvPr/>
        </p:nvSpPr>
        <p:spPr>
          <a:xfrm>
            <a:off x="1161288" y="2130552"/>
            <a:ext cx="2423160" cy="713232"/>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C6551A"/>
              </a:buClr>
              <a:buSzPts val="1350"/>
              <a:buFont typeface="Calibri"/>
              <a:buNone/>
            </a:pPr>
            <a:r>
              <a:rPr b="1" i="0" lang="en-US" sz="1350" u="none" cap="none" strike="noStrike">
                <a:solidFill>
                  <a:srgbClr val="C6551A"/>
                </a:solidFill>
                <a:latin typeface="Calibri"/>
                <a:ea typeface="Calibri"/>
                <a:cs typeface="Calibri"/>
                <a:sym typeface="Calibri"/>
              </a:rPr>
              <a:t>IW — Inflow from Wealthier</a:t>
            </a:r>
            <a:endParaRPr b="0" i="0" sz="135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2A3547"/>
              </a:buClr>
              <a:buSzPts val="1200"/>
              <a:buFont typeface="Calibri"/>
              <a:buNone/>
            </a:pPr>
            <a:r>
              <a:rPr b="0" i="0" lang="en-US" sz="1200" u="none" cap="none" strike="noStrike">
                <a:solidFill>
                  <a:srgbClr val="2A3547"/>
                </a:solidFill>
                <a:latin typeface="Calibri"/>
                <a:ea typeface="Calibri"/>
                <a:cs typeface="Calibri"/>
                <a:sym typeface="Calibri"/>
              </a:rPr>
              <a:t>arriving from a less-deprived decile</a:t>
            </a:r>
            <a:endParaRPr b="0" i="0" sz="1350" u="none" cap="none" strike="noStrike">
              <a:solidFill>
                <a:schemeClr val="dk1"/>
              </a:solidFill>
              <a:latin typeface="Calibri"/>
              <a:ea typeface="Calibri"/>
              <a:cs typeface="Calibri"/>
              <a:sym typeface="Calibri"/>
            </a:endParaRPr>
          </a:p>
        </p:txBody>
      </p:sp>
      <p:sp>
        <p:nvSpPr>
          <p:cNvPr id="108" name="Google Shape;108;p6"/>
          <p:cNvSpPr/>
          <p:nvPr/>
        </p:nvSpPr>
        <p:spPr>
          <a:xfrm>
            <a:off x="594360" y="3063240"/>
            <a:ext cx="3108960" cy="841248"/>
          </a:xfrm>
          <a:prstGeom prst="roundRect">
            <a:avLst>
              <a:gd fmla="val 8696" name="adj"/>
            </a:avLst>
          </a:prstGeom>
          <a:solidFill>
            <a:srgbClr val="F9E6D6"/>
          </a:solidFill>
          <a:ln>
            <a:noFill/>
          </a:ln>
          <a:effectLst>
            <a:outerShdw blurRad="101600" rotWithShape="0" algn="bl" dir="5400000" dist="38100">
              <a:srgbClr val="9AA6B8">
                <a:alpha val="27843"/>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9" name="Google Shape;109;p6"/>
          <p:cNvSpPr/>
          <p:nvPr/>
        </p:nvSpPr>
        <p:spPr>
          <a:xfrm>
            <a:off x="704088" y="3063240"/>
            <a:ext cx="457200" cy="84124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C6551A"/>
              </a:buClr>
              <a:buSzPts val="2400"/>
              <a:buFont typeface="Calibri"/>
              <a:buNone/>
            </a:pPr>
            <a:r>
              <a:rPr b="1" i="0" lang="en-US" sz="2400" u="none" cap="none" strike="noStrike">
                <a:solidFill>
                  <a:srgbClr val="C6551A"/>
                </a:solidFill>
                <a:latin typeface="Calibri"/>
                <a:ea typeface="Calibri"/>
                <a:cs typeface="Calibri"/>
                <a:sym typeface="Calibri"/>
              </a:rPr>
              <a:t>↓</a:t>
            </a:r>
            <a:endParaRPr b="0" i="0" sz="2400" u="none" cap="none" strike="noStrike">
              <a:solidFill>
                <a:schemeClr val="dk1"/>
              </a:solidFill>
              <a:latin typeface="Calibri"/>
              <a:ea typeface="Calibri"/>
              <a:cs typeface="Calibri"/>
              <a:sym typeface="Calibri"/>
            </a:endParaRPr>
          </a:p>
        </p:txBody>
      </p:sp>
      <p:sp>
        <p:nvSpPr>
          <p:cNvPr id="110" name="Google Shape;110;p6"/>
          <p:cNvSpPr/>
          <p:nvPr/>
        </p:nvSpPr>
        <p:spPr>
          <a:xfrm>
            <a:off x="1161288" y="3136392"/>
            <a:ext cx="2423160" cy="713232"/>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C6551A"/>
              </a:buClr>
              <a:buSzPts val="1350"/>
              <a:buFont typeface="Calibri"/>
              <a:buNone/>
            </a:pPr>
            <a:r>
              <a:rPr b="1" i="0" lang="en-US" sz="1350" u="none" cap="none" strike="noStrike">
                <a:solidFill>
                  <a:srgbClr val="C6551A"/>
                </a:solidFill>
                <a:latin typeface="Calibri"/>
                <a:ea typeface="Calibri"/>
                <a:cs typeface="Calibri"/>
                <a:sym typeface="Calibri"/>
              </a:rPr>
              <a:t>OP — Outflow to Poorer</a:t>
            </a:r>
            <a:endParaRPr b="0" i="0" sz="135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2A3547"/>
              </a:buClr>
              <a:buSzPts val="1200"/>
              <a:buFont typeface="Calibri"/>
              <a:buNone/>
            </a:pPr>
            <a:r>
              <a:rPr b="0" i="0" lang="en-US" sz="1200" u="none" cap="none" strike="noStrike">
                <a:solidFill>
                  <a:srgbClr val="2A3547"/>
                </a:solidFill>
                <a:latin typeface="Calibri"/>
                <a:ea typeface="Calibri"/>
                <a:cs typeface="Calibri"/>
                <a:sym typeface="Calibri"/>
              </a:rPr>
              <a:t>leaving to a more-deprived decile</a:t>
            </a:r>
            <a:endParaRPr b="0" i="0" sz="1350" u="none" cap="none" strike="noStrike">
              <a:solidFill>
                <a:schemeClr val="dk1"/>
              </a:solidFill>
              <a:latin typeface="Calibri"/>
              <a:ea typeface="Calibri"/>
              <a:cs typeface="Calibri"/>
              <a:sym typeface="Calibri"/>
            </a:endParaRPr>
          </a:p>
        </p:txBody>
      </p:sp>
      <p:sp>
        <p:nvSpPr>
          <p:cNvPr id="111" name="Google Shape;111;p6"/>
          <p:cNvSpPr/>
          <p:nvPr/>
        </p:nvSpPr>
        <p:spPr>
          <a:xfrm>
            <a:off x="8549640" y="2057400"/>
            <a:ext cx="3108960" cy="841248"/>
          </a:xfrm>
          <a:prstGeom prst="roundRect">
            <a:avLst>
              <a:gd fmla="val 8696" name="adj"/>
            </a:avLst>
          </a:prstGeom>
          <a:solidFill>
            <a:srgbClr val="DCE8F4"/>
          </a:solidFill>
          <a:ln>
            <a:noFill/>
          </a:ln>
          <a:effectLst>
            <a:outerShdw blurRad="101600" rotWithShape="0" algn="bl" dir="5400000" dist="38100">
              <a:srgbClr val="9AA6B8">
                <a:alpha val="27843"/>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2" name="Google Shape;112;p6"/>
          <p:cNvSpPr/>
          <p:nvPr/>
        </p:nvSpPr>
        <p:spPr>
          <a:xfrm>
            <a:off x="8659368" y="2057400"/>
            <a:ext cx="457200" cy="84124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245C99"/>
              </a:buClr>
              <a:buSzPts val="2400"/>
              <a:buFont typeface="Calibri"/>
              <a:buNone/>
            </a:pPr>
            <a:r>
              <a:rPr b="1" i="0" lang="en-US" sz="2400" u="none" cap="none" strike="noStrike">
                <a:solidFill>
                  <a:srgbClr val="245C99"/>
                </a:solidFill>
                <a:latin typeface="Calibri"/>
                <a:ea typeface="Calibri"/>
                <a:cs typeface="Calibri"/>
                <a:sym typeface="Calibri"/>
              </a:rPr>
              <a:t>↗</a:t>
            </a:r>
            <a:endParaRPr b="0" i="0" sz="2400" u="none" cap="none" strike="noStrike">
              <a:solidFill>
                <a:schemeClr val="dk1"/>
              </a:solidFill>
              <a:latin typeface="Calibri"/>
              <a:ea typeface="Calibri"/>
              <a:cs typeface="Calibri"/>
              <a:sym typeface="Calibri"/>
            </a:endParaRPr>
          </a:p>
        </p:txBody>
      </p:sp>
      <p:sp>
        <p:nvSpPr>
          <p:cNvPr id="113" name="Google Shape;113;p6"/>
          <p:cNvSpPr/>
          <p:nvPr/>
        </p:nvSpPr>
        <p:spPr>
          <a:xfrm>
            <a:off x="9116568" y="2130552"/>
            <a:ext cx="2423160" cy="713232"/>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245C99"/>
              </a:buClr>
              <a:buSzPts val="1350"/>
              <a:buFont typeface="Calibri"/>
              <a:buNone/>
            </a:pPr>
            <a:r>
              <a:rPr b="1" i="0" lang="en-US" sz="1350" u="none" cap="none" strike="noStrike">
                <a:solidFill>
                  <a:srgbClr val="245C99"/>
                </a:solidFill>
                <a:latin typeface="Calibri"/>
                <a:ea typeface="Calibri"/>
                <a:cs typeface="Calibri"/>
                <a:sym typeface="Calibri"/>
              </a:rPr>
              <a:t>OW — Outflow to Wealthier</a:t>
            </a:r>
            <a:endParaRPr b="0" i="0" sz="135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2A3547"/>
              </a:buClr>
              <a:buSzPts val="1200"/>
              <a:buFont typeface="Calibri"/>
              <a:buNone/>
            </a:pPr>
            <a:r>
              <a:rPr b="0" i="0" lang="en-US" sz="1200" u="none" cap="none" strike="noStrike">
                <a:solidFill>
                  <a:srgbClr val="2A3547"/>
                </a:solidFill>
                <a:latin typeface="Calibri"/>
                <a:ea typeface="Calibri"/>
                <a:cs typeface="Calibri"/>
                <a:sym typeface="Calibri"/>
              </a:rPr>
              <a:t>leaving to a less-deprived decile</a:t>
            </a:r>
            <a:endParaRPr b="0" i="0" sz="1350" u="none" cap="none" strike="noStrike">
              <a:solidFill>
                <a:schemeClr val="dk1"/>
              </a:solidFill>
              <a:latin typeface="Calibri"/>
              <a:ea typeface="Calibri"/>
              <a:cs typeface="Calibri"/>
              <a:sym typeface="Calibri"/>
            </a:endParaRPr>
          </a:p>
        </p:txBody>
      </p:sp>
      <p:sp>
        <p:nvSpPr>
          <p:cNvPr id="114" name="Google Shape;114;p6"/>
          <p:cNvSpPr/>
          <p:nvPr/>
        </p:nvSpPr>
        <p:spPr>
          <a:xfrm>
            <a:off x="8549640" y="3063240"/>
            <a:ext cx="3108960" cy="841248"/>
          </a:xfrm>
          <a:prstGeom prst="roundRect">
            <a:avLst>
              <a:gd fmla="val 8696" name="adj"/>
            </a:avLst>
          </a:prstGeom>
          <a:solidFill>
            <a:srgbClr val="DCE8F4"/>
          </a:solidFill>
          <a:ln>
            <a:noFill/>
          </a:ln>
          <a:effectLst>
            <a:outerShdw blurRad="101600" rotWithShape="0" algn="bl" dir="5400000" dist="38100">
              <a:srgbClr val="9AA6B8">
                <a:alpha val="27843"/>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5" name="Google Shape;115;p6"/>
          <p:cNvSpPr/>
          <p:nvPr/>
        </p:nvSpPr>
        <p:spPr>
          <a:xfrm>
            <a:off x="8659368" y="3063240"/>
            <a:ext cx="457200" cy="84124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245C99"/>
              </a:buClr>
              <a:buSzPts val="2400"/>
              <a:buFont typeface="Calibri"/>
              <a:buNone/>
            </a:pPr>
            <a:r>
              <a:rPr b="1" i="0" lang="en-US" sz="2400" u="none" cap="none" strike="noStrike">
                <a:solidFill>
                  <a:srgbClr val="245C99"/>
                </a:solidFill>
                <a:latin typeface="Calibri"/>
                <a:ea typeface="Calibri"/>
                <a:cs typeface="Calibri"/>
                <a:sym typeface="Calibri"/>
              </a:rPr>
              <a:t>↑</a:t>
            </a:r>
            <a:endParaRPr b="0" i="0" sz="2400" u="none" cap="none" strike="noStrike">
              <a:solidFill>
                <a:schemeClr val="dk1"/>
              </a:solidFill>
              <a:latin typeface="Calibri"/>
              <a:ea typeface="Calibri"/>
              <a:cs typeface="Calibri"/>
              <a:sym typeface="Calibri"/>
            </a:endParaRPr>
          </a:p>
        </p:txBody>
      </p:sp>
      <p:sp>
        <p:nvSpPr>
          <p:cNvPr id="116" name="Google Shape;116;p6"/>
          <p:cNvSpPr/>
          <p:nvPr/>
        </p:nvSpPr>
        <p:spPr>
          <a:xfrm>
            <a:off x="9116568" y="3136392"/>
            <a:ext cx="2423160" cy="713232"/>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245C99"/>
              </a:buClr>
              <a:buSzPts val="1350"/>
              <a:buFont typeface="Calibri"/>
              <a:buNone/>
            </a:pPr>
            <a:r>
              <a:rPr b="1" i="0" lang="en-US" sz="1350" u="none" cap="none" strike="noStrike">
                <a:solidFill>
                  <a:srgbClr val="245C99"/>
                </a:solidFill>
                <a:latin typeface="Calibri"/>
                <a:ea typeface="Calibri"/>
                <a:cs typeface="Calibri"/>
                <a:sym typeface="Calibri"/>
              </a:rPr>
              <a:t>IP — Inflow from Poorer</a:t>
            </a:r>
            <a:endParaRPr b="0" i="0" sz="135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2A3547"/>
              </a:buClr>
              <a:buSzPts val="1200"/>
              <a:buFont typeface="Calibri"/>
              <a:buNone/>
            </a:pPr>
            <a:r>
              <a:rPr b="0" i="0" lang="en-US" sz="1200" u="none" cap="none" strike="noStrike">
                <a:solidFill>
                  <a:srgbClr val="2A3547"/>
                </a:solidFill>
                <a:latin typeface="Calibri"/>
                <a:ea typeface="Calibri"/>
                <a:cs typeface="Calibri"/>
                <a:sym typeface="Calibri"/>
              </a:rPr>
              <a:t>arriving from a more-deprived decile</a:t>
            </a:r>
            <a:endParaRPr b="0" i="0" sz="1350" u="none" cap="none" strike="noStrike">
              <a:solidFill>
                <a:schemeClr val="dk1"/>
              </a:solidFill>
              <a:latin typeface="Calibri"/>
              <a:ea typeface="Calibri"/>
              <a:cs typeface="Calibri"/>
              <a:sym typeface="Calibri"/>
            </a:endParaRPr>
          </a:p>
        </p:txBody>
      </p:sp>
      <p:sp>
        <p:nvSpPr>
          <p:cNvPr id="117" name="Google Shape;117;p6"/>
          <p:cNvSpPr/>
          <p:nvPr/>
        </p:nvSpPr>
        <p:spPr>
          <a:xfrm>
            <a:off x="594360" y="4160520"/>
            <a:ext cx="3108960" cy="868680"/>
          </a:xfrm>
          <a:prstGeom prst="roundRect">
            <a:avLst>
              <a:gd fmla="val 8421" name="adj"/>
            </a:avLst>
          </a:prstGeom>
          <a:solidFill>
            <a:srgbClr val="C6551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8" name="Google Shape;118;p6"/>
          <p:cNvSpPr/>
          <p:nvPr/>
        </p:nvSpPr>
        <p:spPr>
          <a:xfrm>
            <a:off x="777240" y="4160520"/>
            <a:ext cx="2743200" cy="868680"/>
          </a:xfrm>
          <a:prstGeom prst="rect">
            <a:avLst/>
          </a:prstGeom>
          <a:noFill/>
          <a:ln>
            <a:noFill/>
          </a:ln>
        </p:spPr>
        <p:txBody>
          <a:bodyPr anchorCtr="0" anchor="ctr" bIns="0" lIns="0" spcFirstLastPara="1" rIns="0" wrap="square" tIns="0">
            <a:noAutofit/>
          </a:bodyPr>
          <a:lstStyle/>
          <a:p>
            <a:pPr indent="0" lvl="0" marL="0" marR="0" rtl="0" algn="l">
              <a:lnSpc>
                <a:spcPct val="102000"/>
              </a:lnSpc>
              <a:spcBef>
                <a:spcPts val="0"/>
              </a:spcBef>
              <a:spcAft>
                <a:spcPts val="0"/>
              </a:spcAft>
              <a:buClr>
                <a:srgbClr val="FFFFFF"/>
              </a:buClr>
              <a:buSzPts val="1500"/>
              <a:buFont typeface="Calibri"/>
              <a:buNone/>
            </a:pPr>
            <a:r>
              <a:rPr b="1" i="0" lang="en-US" sz="1500" u="none" cap="none" strike="noStrike">
                <a:solidFill>
                  <a:srgbClr val="FFFFFF"/>
                </a:solidFill>
                <a:latin typeface="Calibri"/>
                <a:ea typeface="Calibri"/>
                <a:cs typeface="Calibri"/>
                <a:sym typeface="Calibri"/>
              </a:rPr>
              <a:t>CASCADE  =  IW + OP</a:t>
            </a:r>
            <a:endParaRPr b="0" i="0" sz="1500" u="none" cap="none" strike="noStrike">
              <a:solidFill>
                <a:schemeClr val="dk1"/>
              </a:solidFill>
              <a:latin typeface="Calibri"/>
              <a:ea typeface="Calibri"/>
              <a:cs typeface="Calibri"/>
              <a:sym typeface="Calibri"/>
            </a:endParaRPr>
          </a:p>
          <a:p>
            <a:pPr indent="0" lvl="0" marL="0" marR="0" rtl="0" algn="l">
              <a:lnSpc>
                <a:spcPct val="102000"/>
              </a:lnSpc>
              <a:spcBef>
                <a:spcPts val="0"/>
              </a:spcBef>
              <a:spcAft>
                <a:spcPts val="0"/>
              </a:spcAft>
              <a:buClr>
                <a:srgbClr val="FFFFFF"/>
              </a:buClr>
              <a:buSzPts val="1200"/>
              <a:buFont typeface="Calibri"/>
              <a:buNone/>
            </a:pPr>
            <a:r>
              <a:rPr b="0" i="0" lang="en-US" sz="1200" u="none" cap="none" strike="noStrike">
                <a:solidFill>
                  <a:srgbClr val="FFFFFF"/>
                </a:solidFill>
                <a:latin typeface="Calibri"/>
                <a:ea typeface="Calibri"/>
                <a:cs typeface="Calibri"/>
                <a:sym typeface="Calibri"/>
              </a:rPr>
              <a:t>wealthier in, poorer out-and-down</a:t>
            </a:r>
            <a:endParaRPr b="0" i="0" sz="1500" u="none" cap="none" strike="noStrike">
              <a:solidFill>
                <a:schemeClr val="dk1"/>
              </a:solidFill>
              <a:latin typeface="Calibri"/>
              <a:ea typeface="Calibri"/>
              <a:cs typeface="Calibri"/>
              <a:sym typeface="Calibri"/>
            </a:endParaRPr>
          </a:p>
        </p:txBody>
      </p:sp>
      <p:sp>
        <p:nvSpPr>
          <p:cNvPr id="119" name="Google Shape;119;p6"/>
          <p:cNvSpPr/>
          <p:nvPr/>
        </p:nvSpPr>
        <p:spPr>
          <a:xfrm>
            <a:off x="8549640" y="4160520"/>
            <a:ext cx="3108960" cy="868680"/>
          </a:xfrm>
          <a:prstGeom prst="roundRect">
            <a:avLst>
              <a:gd fmla="val 8421" name="adj"/>
            </a:avLst>
          </a:prstGeom>
          <a:solidFill>
            <a:srgbClr val="245C9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0" name="Google Shape;120;p6"/>
          <p:cNvSpPr/>
          <p:nvPr/>
        </p:nvSpPr>
        <p:spPr>
          <a:xfrm>
            <a:off x="8732520" y="4160520"/>
            <a:ext cx="2743200" cy="868680"/>
          </a:xfrm>
          <a:prstGeom prst="rect">
            <a:avLst/>
          </a:prstGeom>
          <a:noFill/>
          <a:ln>
            <a:noFill/>
          </a:ln>
        </p:spPr>
        <p:txBody>
          <a:bodyPr anchorCtr="0" anchor="ctr" bIns="0" lIns="0" spcFirstLastPara="1" rIns="0" wrap="square" tIns="0">
            <a:noAutofit/>
          </a:bodyPr>
          <a:lstStyle/>
          <a:p>
            <a:pPr indent="0" lvl="0" marL="0" marR="0" rtl="0" algn="l">
              <a:lnSpc>
                <a:spcPct val="102000"/>
              </a:lnSpc>
              <a:spcBef>
                <a:spcPts val="0"/>
              </a:spcBef>
              <a:spcAft>
                <a:spcPts val="0"/>
              </a:spcAft>
              <a:buClr>
                <a:srgbClr val="FFFFFF"/>
              </a:buClr>
              <a:buSzPts val="1500"/>
              <a:buFont typeface="Calibri"/>
              <a:buNone/>
            </a:pPr>
            <a:r>
              <a:rPr b="1" i="0" lang="en-US" sz="1500" u="none" cap="none" strike="noStrike">
                <a:solidFill>
                  <a:srgbClr val="FFFFFF"/>
                </a:solidFill>
                <a:latin typeface="Calibri"/>
                <a:ea typeface="Calibri"/>
                <a:cs typeface="Calibri"/>
                <a:sym typeface="Calibri"/>
              </a:rPr>
              <a:t>COUNTER-CASCADE  =  OW + IP</a:t>
            </a:r>
            <a:endParaRPr b="0" i="0" sz="1500" u="none" cap="none" strike="noStrike">
              <a:solidFill>
                <a:schemeClr val="dk1"/>
              </a:solidFill>
              <a:latin typeface="Calibri"/>
              <a:ea typeface="Calibri"/>
              <a:cs typeface="Calibri"/>
              <a:sym typeface="Calibri"/>
            </a:endParaRPr>
          </a:p>
          <a:p>
            <a:pPr indent="0" lvl="0" marL="0" marR="0" rtl="0" algn="l">
              <a:lnSpc>
                <a:spcPct val="102000"/>
              </a:lnSpc>
              <a:spcBef>
                <a:spcPts val="0"/>
              </a:spcBef>
              <a:spcAft>
                <a:spcPts val="0"/>
              </a:spcAft>
              <a:buClr>
                <a:srgbClr val="FFFFFF"/>
              </a:buClr>
              <a:buSzPts val="1200"/>
              <a:buFont typeface="Calibri"/>
              <a:buNone/>
            </a:pPr>
            <a:r>
              <a:rPr b="0" i="0" lang="en-US" sz="1200" u="none" cap="none" strike="noStrike">
                <a:solidFill>
                  <a:srgbClr val="FFFFFF"/>
                </a:solidFill>
                <a:latin typeface="Calibri"/>
                <a:ea typeface="Calibri"/>
                <a:cs typeface="Calibri"/>
                <a:sym typeface="Calibri"/>
              </a:rPr>
              <a:t>the reverse direction</a:t>
            </a:r>
            <a:endParaRPr b="0" i="0" sz="1500" u="none" cap="none" strike="noStrike">
              <a:solidFill>
                <a:schemeClr val="dk1"/>
              </a:solidFill>
              <a:latin typeface="Calibri"/>
              <a:ea typeface="Calibri"/>
              <a:cs typeface="Calibri"/>
              <a:sym typeface="Calibri"/>
            </a:endParaRPr>
          </a:p>
        </p:txBody>
      </p:sp>
      <p:sp>
        <p:nvSpPr>
          <p:cNvPr id="121" name="Google Shape;121;p6"/>
          <p:cNvSpPr/>
          <p:nvPr/>
        </p:nvSpPr>
        <p:spPr>
          <a:xfrm>
            <a:off x="594360" y="5806440"/>
            <a:ext cx="11000232" cy="4572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6E7C90"/>
              </a:buClr>
              <a:buSzPts val="1350"/>
              <a:buFont typeface="Calibri"/>
              <a:buNone/>
            </a:pPr>
            <a:r>
              <a:rPr b="0" i="1" lang="en-US" sz="1350" u="none" cap="none" strike="noStrike">
                <a:solidFill>
                  <a:srgbClr val="6E7C90"/>
                </a:solidFill>
                <a:latin typeface="Calibri"/>
                <a:ea typeface="Calibri"/>
                <a:cs typeface="Calibri"/>
                <a:sym typeface="Calibri"/>
              </a:rPr>
              <a:t>These are area-to-area flows across the ladder — not statements about individual movers.</a:t>
            </a:r>
            <a:endParaRPr b="0" i="0" sz="1350" u="none" cap="none" strike="noStrike">
              <a:solidFill>
                <a:schemeClr val="dk1"/>
              </a:solidFill>
              <a:latin typeface="Calibri"/>
              <a:ea typeface="Calibri"/>
              <a:cs typeface="Calibri"/>
              <a:sym typeface="Calibri"/>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26" name="Shape 126"/>
        <p:cNvGrpSpPr/>
        <p:nvPr/>
      </p:nvGrpSpPr>
      <p:grpSpPr>
        <a:xfrm>
          <a:off x="0" y="0"/>
          <a:ext cx="0" cy="0"/>
          <a:chOff x="0" y="0"/>
          <a:chExt cx="0" cy="0"/>
        </a:xfrm>
      </p:grpSpPr>
      <p:sp>
        <p:nvSpPr>
          <p:cNvPr id="127" name="Google Shape;127;p7"/>
          <p:cNvSpPr/>
          <p:nvPr/>
        </p:nvSpPr>
        <p:spPr>
          <a:xfrm>
            <a:off x="594360" y="411480"/>
            <a:ext cx="11000232" cy="29260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E7C90"/>
              </a:buClr>
              <a:buSzPts val="1200"/>
              <a:buFont typeface="Calibri"/>
              <a:buNone/>
            </a:pPr>
            <a:r>
              <a:rPr b="1" i="0" lang="en-US" sz="1200" u="none" cap="none" strike="noStrike">
                <a:solidFill>
                  <a:srgbClr val="6E7C90"/>
                </a:solidFill>
                <a:latin typeface="Calibri"/>
                <a:ea typeface="Calibri"/>
                <a:cs typeface="Calibri"/>
                <a:sym typeface="Calibri"/>
              </a:rPr>
              <a:t>METHODOLOGY · 3 OF 5</a:t>
            </a:r>
            <a:endParaRPr b="0" i="0" sz="1200" u="none" cap="none" strike="noStrike">
              <a:solidFill>
                <a:schemeClr val="dk1"/>
              </a:solidFill>
              <a:latin typeface="Calibri"/>
              <a:ea typeface="Calibri"/>
              <a:cs typeface="Calibri"/>
              <a:sym typeface="Calibri"/>
            </a:endParaRPr>
          </a:p>
        </p:txBody>
      </p:sp>
      <p:sp>
        <p:nvSpPr>
          <p:cNvPr id="128" name="Google Shape;128;p7"/>
          <p:cNvSpPr/>
          <p:nvPr/>
        </p:nvSpPr>
        <p:spPr>
          <a:xfrm>
            <a:off x="11210544" y="365760"/>
            <a:ext cx="384048" cy="384048"/>
          </a:xfrm>
          <a:prstGeom prst="ellipse">
            <a:avLst/>
          </a:prstGeom>
          <a:solidFill>
            <a:srgbClr val="16233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9" name="Google Shape;129;p7"/>
          <p:cNvSpPr/>
          <p:nvPr/>
        </p:nvSpPr>
        <p:spPr>
          <a:xfrm>
            <a:off x="11210544" y="365760"/>
            <a:ext cx="384048" cy="38404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600"/>
              <a:buFont typeface="Calibri"/>
              <a:buNone/>
            </a:pPr>
            <a:r>
              <a:rPr b="1" i="0" lang="en-US" sz="1600" u="none" cap="none" strike="noStrike">
                <a:solidFill>
                  <a:srgbClr val="FFFFFF"/>
                </a:solidFill>
                <a:latin typeface="Calibri"/>
                <a:ea typeface="Calibri"/>
                <a:cs typeface="Calibri"/>
                <a:sym typeface="Calibri"/>
              </a:rPr>
              <a:t>3</a:t>
            </a:r>
            <a:endParaRPr b="0" i="0" sz="1600" u="none" cap="none" strike="noStrike">
              <a:solidFill>
                <a:schemeClr val="dk1"/>
              </a:solidFill>
              <a:latin typeface="Calibri"/>
              <a:ea typeface="Calibri"/>
              <a:cs typeface="Calibri"/>
              <a:sym typeface="Calibri"/>
            </a:endParaRPr>
          </a:p>
        </p:txBody>
      </p:sp>
      <p:sp>
        <p:nvSpPr>
          <p:cNvPr id="130" name="Google Shape;130;p7"/>
          <p:cNvSpPr/>
          <p:nvPr/>
        </p:nvSpPr>
        <p:spPr>
          <a:xfrm>
            <a:off x="594360" y="749808"/>
            <a:ext cx="11000232" cy="822960"/>
          </a:xfrm>
          <a:prstGeom prst="rect">
            <a:avLst/>
          </a:prstGeom>
          <a:noFill/>
          <a:ln>
            <a:noFill/>
          </a:ln>
        </p:spPr>
        <p:txBody>
          <a:bodyPr anchorCtr="0" anchor="t" bIns="0" lIns="0" spcFirstLastPara="1" rIns="0" wrap="square" tIns="0">
            <a:noAutofit/>
          </a:bodyPr>
          <a:lstStyle/>
          <a:p>
            <a:pPr indent="0" lvl="0" marL="0" marR="0" rtl="0" algn="l">
              <a:lnSpc>
                <a:spcPct val="98000"/>
              </a:lnSpc>
              <a:spcBef>
                <a:spcPts val="0"/>
              </a:spcBef>
              <a:spcAft>
                <a:spcPts val="0"/>
              </a:spcAft>
              <a:buClr>
                <a:srgbClr val="16233B"/>
              </a:buClr>
              <a:buSzPts val="3200"/>
              <a:buFont typeface="Cambria"/>
              <a:buNone/>
            </a:pPr>
            <a:r>
              <a:rPr b="1" i="0" lang="en-US" sz="3200" u="none" cap="none" strike="noStrike">
                <a:solidFill>
                  <a:srgbClr val="16233B"/>
                </a:solidFill>
                <a:latin typeface="Cambria"/>
                <a:ea typeface="Cambria"/>
                <a:cs typeface="Cambria"/>
                <a:sym typeface="Cambria"/>
              </a:rPr>
              <a:t>From flows to a typology: balance × intensity</a:t>
            </a:r>
            <a:endParaRPr b="0" i="0" sz="3200" u="none" cap="none" strike="noStrike">
              <a:solidFill>
                <a:schemeClr val="dk1"/>
              </a:solidFill>
              <a:latin typeface="Calibri"/>
              <a:ea typeface="Calibri"/>
              <a:cs typeface="Calibri"/>
              <a:sym typeface="Calibri"/>
            </a:endParaRPr>
          </a:p>
        </p:txBody>
      </p:sp>
      <p:sp>
        <p:nvSpPr>
          <p:cNvPr id="131" name="Google Shape;131;p7"/>
          <p:cNvSpPr/>
          <p:nvPr/>
        </p:nvSpPr>
        <p:spPr>
          <a:xfrm>
            <a:off x="594360" y="1783080"/>
            <a:ext cx="5074920" cy="1234440"/>
          </a:xfrm>
          <a:prstGeom prst="roundRect">
            <a:avLst>
              <a:gd fmla="val 6667" name="adj"/>
            </a:avLst>
          </a:prstGeom>
          <a:solidFill>
            <a:srgbClr val="F3F6FB"/>
          </a:solidFill>
          <a:ln>
            <a:noFill/>
          </a:ln>
          <a:effectLst>
            <a:outerShdw blurRad="101600" rotWithShape="0" algn="bl" dir="5400000" dist="38100">
              <a:srgbClr val="9AA6B8">
                <a:alpha val="27843"/>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2" name="Google Shape;132;p7"/>
          <p:cNvSpPr/>
          <p:nvPr/>
        </p:nvSpPr>
        <p:spPr>
          <a:xfrm>
            <a:off x="822960" y="1901952"/>
            <a:ext cx="4617720" cy="1005840"/>
          </a:xfrm>
          <a:prstGeom prst="rect">
            <a:avLst/>
          </a:prstGeom>
          <a:noFill/>
          <a:ln>
            <a:noFill/>
          </a:ln>
        </p:spPr>
        <p:txBody>
          <a:bodyPr anchorCtr="0" anchor="ctr" bIns="0" lIns="0" spcFirstLastPara="1" rIns="0" wrap="square" tIns="0">
            <a:noAutofit/>
          </a:bodyPr>
          <a:lstStyle/>
          <a:p>
            <a:pPr indent="0" lvl="0" marL="0" marR="0" rtl="0" algn="l">
              <a:lnSpc>
                <a:spcPct val="105000"/>
              </a:lnSpc>
              <a:spcBef>
                <a:spcPts val="0"/>
              </a:spcBef>
              <a:spcAft>
                <a:spcPts val="0"/>
              </a:spcAft>
              <a:buClr>
                <a:srgbClr val="16233B"/>
              </a:buClr>
              <a:buSzPts val="1450"/>
              <a:buFont typeface="Calibri"/>
              <a:buNone/>
            </a:pPr>
            <a:r>
              <a:rPr b="1" i="0" lang="en-US" sz="1450" u="none" cap="none" strike="noStrike">
                <a:solidFill>
                  <a:srgbClr val="16233B"/>
                </a:solidFill>
                <a:latin typeface="Calibri"/>
                <a:ea typeface="Calibri"/>
                <a:cs typeface="Calibri"/>
                <a:sym typeface="Calibri"/>
              </a:rPr>
              <a:t>NET  (subtraction) → balance</a:t>
            </a:r>
            <a:endParaRPr b="0" i="0" sz="1450" u="none" cap="none" strike="noStrike">
              <a:solidFill>
                <a:schemeClr val="dk1"/>
              </a:solidFill>
              <a:latin typeface="Calibri"/>
              <a:ea typeface="Calibri"/>
              <a:cs typeface="Calibri"/>
              <a:sym typeface="Calibri"/>
            </a:endParaRPr>
          </a:p>
          <a:p>
            <a:pPr indent="0" lvl="0" marL="0" marR="0" rtl="0" algn="l">
              <a:lnSpc>
                <a:spcPct val="105000"/>
              </a:lnSpc>
              <a:spcBef>
                <a:spcPts val="300"/>
              </a:spcBef>
              <a:spcAft>
                <a:spcPts val="0"/>
              </a:spcAft>
              <a:buClr>
                <a:srgbClr val="C6551A"/>
              </a:buClr>
              <a:buSzPts val="1400"/>
              <a:buFont typeface="Calibri"/>
              <a:buNone/>
            </a:pPr>
            <a:r>
              <a:rPr b="1" i="0" lang="en-US" sz="1400" u="none" cap="none" strike="noStrike">
                <a:solidFill>
                  <a:srgbClr val="C6551A"/>
                </a:solidFill>
                <a:latin typeface="Calibri"/>
                <a:ea typeface="Calibri"/>
                <a:cs typeface="Calibri"/>
                <a:sym typeface="Calibri"/>
              </a:rPr>
              <a:t>Net_Cascade = IW − OP</a:t>
            </a:r>
            <a:endParaRPr b="0" i="0" sz="1450" u="none" cap="none" strike="noStrike">
              <a:solidFill>
                <a:schemeClr val="dk1"/>
              </a:solidFill>
              <a:latin typeface="Calibri"/>
              <a:ea typeface="Calibri"/>
              <a:cs typeface="Calibri"/>
              <a:sym typeface="Calibri"/>
            </a:endParaRPr>
          </a:p>
          <a:p>
            <a:pPr indent="0" lvl="0" marL="0" marR="0" rtl="0" algn="l">
              <a:lnSpc>
                <a:spcPct val="105000"/>
              </a:lnSpc>
              <a:spcBef>
                <a:spcPts val="300"/>
              </a:spcBef>
              <a:spcAft>
                <a:spcPts val="0"/>
              </a:spcAft>
              <a:buClr>
                <a:srgbClr val="6E7C90"/>
              </a:buClr>
              <a:buSzPts val="1200"/>
              <a:buFont typeface="Calibri"/>
              <a:buNone/>
            </a:pPr>
            <a:r>
              <a:rPr b="0" i="0" lang="en-US" sz="1200" u="none" cap="none" strike="noStrike">
                <a:solidFill>
                  <a:srgbClr val="6E7C90"/>
                </a:solidFill>
                <a:latin typeface="Calibri"/>
                <a:ea typeface="Calibri"/>
                <a:cs typeface="Calibri"/>
                <a:sym typeface="Calibri"/>
              </a:rPr>
              <a:t>which direction wins</a:t>
            </a:r>
            <a:endParaRPr b="0" i="0" sz="1450" u="none" cap="none" strike="noStrike">
              <a:solidFill>
                <a:schemeClr val="dk1"/>
              </a:solidFill>
              <a:latin typeface="Calibri"/>
              <a:ea typeface="Calibri"/>
              <a:cs typeface="Calibri"/>
              <a:sym typeface="Calibri"/>
            </a:endParaRPr>
          </a:p>
        </p:txBody>
      </p:sp>
      <p:sp>
        <p:nvSpPr>
          <p:cNvPr id="133" name="Google Shape;133;p7"/>
          <p:cNvSpPr/>
          <p:nvPr/>
        </p:nvSpPr>
        <p:spPr>
          <a:xfrm>
            <a:off x="6492240" y="1783080"/>
            <a:ext cx="5074920" cy="1234440"/>
          </a:xfrm>
          <a:prstGeom prst="roundRect">
            <a:avLst>
              <a:gd fmla="val 6667" name="adj"/>
            </a:avLst>
          </a:prstGeom>
          <a:solidFill>
            <a:srgbClr val="F3F6FB"/>
          </a:solidFill>
          <a:ln>
            <a:noFill/>
          </a:ln>
          <a:effectLst>
            <a:outerShdw blurRad="101600" rotWithShape="0" algn="bl" dir="5400000" dist="38100">
              <a:srgbClr val="9AA6B8">
                <a:alpha val="27843"/>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4" name="Google Shape;134;p7"/>
          <p:cNvSpPr/>
          <p:nvPr/>
        </p:nvSpPr>
        <p:spPr>
          <a:xfrm>
            <a:off x="6720840" y="1901952"/>
            <a:ext cx="4617720" cy="1005840"/>
          </a:xfrm>
          <a:prstGeom prst="rect">
            <a:avLst/>
          </a:prstGeom>
          <a:noFill/>
          <a:ln>
            <a:noFill/>
          </a:ln>
        </p:spPr>
        <p:txBody>
          <a:bodyPr anchorCtr="0" anchor="ctr" bIns="0" lIns="0" spcFirstLastPara="1" rIns="0" wrap="square" tIns="0">
            <a:noAutofit/>
          </a:bodyPr>
          <a:lstStyle/>
          <a:p>
            <a:pPr indent="0" lvl="0" marL="0" marR="0" rtl="0" algn="l">
              <a:lnSpc>
                <a:spcPct val="105000"/>
              </a:lnSpc>
              <a:spcBef>
                <a:spcPts val="0"/>
              </a:spcBef>
              <a:spcAft>
                <a:spcPts val="0"/>
              </a:spcAft>
              <a:buClr>
                <a:srgbClr val="16233B"/>
              </a:buClr>
              <a:buSzPts val="1450"/>
              <a:buFont typeface="Calibri"/>
              <a:buNone/>
            </a:pPr>
            <a:r>
              <a:rPr b="1" i="0" lang="en-US" sz="1450" u="none" cap="none" strike="noStrike">
                <a:solidFill>
                  <a:srgbClr val="16233B"/>
                </a:solidFill>
                <a:latin typeface="Calibri"/>
                <a:ea typeface="Calibri"/>
                <a:cs typeface="Calibri"/>
                <a:sym typeface="Calibri"/>
              </a:rPr>
              <a:t>CHURN  (addition) → intensity</a:t>
            </a:r>
            <a:endParaRPr b="0" i="0" sz="1450" u="none" cap="none" strike="noStrike">
              <a:solidFill>
                <a:schemeClr val="dk1"/>
              </a:solidFill>
              <a:latin typeface="Calibri"/>
              <a:ea typeface="Calibri"/>
              <a:cs typeface="Calibri"/>
              <a:sym typeface="Calibri"/>
            </a:endParaRPr>
          </a:p>
          <a:p>
            <a:pPr indent="0" lvl="0" marL="0" marR="0" rtl="0" algn="l">
              <a:lnSpc>
                <a:spcPct val="105000"/>
              </a:lnSpc>
              <a:spcBef>
                <a:spcPts val="300"/>
              </a:spcBef>
              <a:spcAft>
                <a:spcPts val="0"/>
              </a:spcAft>
              <a:buClr>
                <a:srgbClr val="C6551A"/>
              </a:buClr>
              <a:buSzPts val="1400"/>
              <a:buFont typeface="Calibri"/>
              <a:buNone/>
            </a:pPr>
            <a:r>
              <a:rPr b="1" i="0" lang="en-US" sz="1400" u="none" cap="none" strike="noStrike">
                <a:solidFill>
                  <a:srgbClr val="C6551A"/>
                </a:solidFill>
                <a:latin typeface="Calibri"/>
                <a:ea typeface="Calibri"/>
                <a:cs typeface="Calibri"/>
                <a:sym typeface="Calibri"/>
              </a:rPr>
              <a:t>C</a:t>
            </a:r>
            <a:r>
              <a:rPr b="1" lang="en-US">
                <a:solidFill>
                  <a:srgbClr val="C6551A"/>
                </a:solidFill>
                <a:latin typeface="Calibri"/>
                <a:ea typeface="Calibri"/>
                <a:cs typeface="Calibri"/>
                <a:sym typeface="Calibri"/>
              </a:rPr>
              <a:t>ascade</a:t>
            </a:r>
            <a:r>
              <a:rPr b="1" i="0" lang="en-US" sz="1400" u="none" cap="none" strike="noStrike">
                <a:solidFill>
                  <a:srgbClr val="C6551A"/>
                </a:solidFill>
                <a:latin typeface="Calibri"/>
                <a:ea typeface="Calibri"/>
                <a:cs typeface="Calibri"/>
                <a:sym typeface="Calibri"/>
              </a:rPr>
              <a:t>_Churn = IW + OP</a:t>
            </a:r>
            <a:endParaRPr b="0" i="0" sz="1450" u="none" cap="none" strike="noStrike">
              <a:solidFill>
                <a:schemeClr val="dk1"/>
              </a:solidFill>
              <a:latin typeface="Calibri"/>
              <a:ea typeface="Calibri"/>
              <a:cs typeface="Calibri"/>
              <a:sym typeface="Calibri"/>
            </a:endParaRPr>
          </a:p>
          <a:p>
            <a:pPr indent="0" lvl="0" marL="0" marR="0" rtl="0" algn="l">
              <a:lnSpc>
                <a:spcPct val="105000"/>
              </a:lnSpc>
              <a:spcBef>
                <a:spcPts val="300"/>
              </a:spcBef>
              <a:spcAft>
                <a:spcPts val="0"/>
              </a:spcAft>
              <a:buClr>
                <a:srgbClr val="6E7C90"/>
              </a:buClr>
              <a:buSzPts val="1200"/>
              <a:buFont typeface="Calibri"/>
              <a:buNone/>
            </a:pPr>
            <a:r>
              <a:rPr b="0" i="0" lang="en-US" sz="1200" u="none" cap="none" strike="noStrike">
                <a:solidFill>
                  <a:srgbClr val="6E7C90"/>
                </a:solidFill>
                <a:latin typeface="Calibri"/>
                <a:ea typeface="Calibri"/>
                <a:cs typeface="Calibri"/>
                <a:sym typeface="Calibri"/>
              </a:rPr>
              <a:t>volume of reshuffling — after Dennett &amp; Stillwell (2008)</a:t>
            </a:r>
            <a:endParaRPr b="0" i="0" sz="1450" u="none" cap="none" strike="noStrike">
              <a:solidFill>
                <a:schemeClr val="dk1"/>
              </a:solidFill>
              <a:latin typeface="Calibri"/>
              <a:ea typeface="Calibri"/>
              <a:cs typeface="Calibri"/>
              <a:sym typeface="Calibri"/>
            </a:endParaRPr>
          </a:p>
        </p:txBody>
      </p:sp>
      <p:sp>
        <p:nvSpPr>
          <p:cNvPr id="135" name="Google Shape;135;p7"/>
          <p:cNvSpPr/>
          <p:nvPr/>
        </p:nvSpPr>
        <p:spPr>
          <a:xfrm>
            <a:off x="594350" y="3044950"/>
            <a:ext cx="11000400" cy="822900"/>
          </a:xfrm>
          <a:prstGeom prst="rect">
            <a:avLst/>
          </a:prstGeom>
          <a:noFill/>
          <a:ln>
            <a:noFill/>
          </a:ln>
        </p:spPr>
        <p:txBody>
          <a:bodyPr anchorCtr="0" anchor="ctr" bIns="0" lIns="0" spcFirstLastPara="1" rIns="0" wrap="square" tIns="0">
            <a:noAutofit/>
          </a:bodyPr>
          <a:lstStyle/>
          <a:p>
            <a:pPr indent="0" lvl="0" marL="0" marR="0" rtl="0" algn="l">
              <a:lnSpc>
                <a:spcPct val="105000"/>
              </a:lnSpc>
              <a:spcBef>
                <a:spcPts val="0"/>
              </a:spcBef>
              <a:spcAft>
                <a:spcPts val="0"/>
              </a:spcAft>
              <a:buClr>
                <a:srgbClr val="2A3547"/>
              </a:buClr>
              <a:buSzPts val="1350"/>
              <a:buFont typeface="Calibri"/>
              <a:buNone/>
            </a:pPr>
            <a:r>
              <a:rPr b="0" i="0" lang="en-US" sz="1350" u="none" cap="none" strike="noStrike">
                <a:solidFill>
                  <a:srgbClr val="2A3547"/>
                </a:solidFill>
                <a:latin typeface="Calibri"/>
                <a:ea typeface="Calibri"/>
                <a:cs typeface="Calibri"/>
                <a:sym typeface="Calibri"/>
              </a:rPr>
              <a:t>Two axes build the typology:   </a:t>
            </a:r>
            <a:endParaRPr b="0" i="0" sz="1350" u="none" cap="none" strike="noStrike">
              <a:solidFill>
                <a:srgbClr val="2A3547"/>
              </a:solidFill>
              <a:latin typeface="Calibri"/>
              <a:ea typeface="Calibri"/>
              <a:cs typeface="Calibri"/>
              <a:sym typeface="Calibri"/>
            </a:endParaRPr>
          </a:p>
          <a:p>
            <a:pPr indent="0" lvl="0" marL="0" marR="0" rtl="0" algn="l">
              <a:lnSpc>
                <a:spcPct val="105000"/>
              </a:lnSpc>
              <a:spcBef>
                <a:spcPts val="0"/>
              </a:spcBef>
              <a:spcAft>
                <a:spcPts val="0"/>
              </a:spcAft>
              <a:buClr>
                <a:srgbClr val="2A3547"/>
              </a:buClr>
              <a:buSzPts val="1350"/>
              <a:buFont typeface="Calibri"/>
              <a:buNone/>
            </a:pPr>
            <a:r>
              <a:rPr b="1" i="0" lang="en-US" sz="1350" u="none" cap="none" strike="noStrike">
                <a:solidFill>
                  <a:srgbClr val="16233B"/>
                </a:solidFill>
                <a:latin typeface="Calibri"/>
                <a:ea typeface="Calibri"/>
                <a:cs typeface="Calibri"/>
                <a:sym typeface="Calibri"/>
              </a:rPr>
              <a:t>Cascade Dominance</a:t>
            </a:r>
            <a:r>
              <a:rPr b="0" i="0" lang="en-US" sz="1350" u="none" cap="none" strike="noStrike">
                <a:solidFill>
                  <a:srgbClr val="2A3547"/>
                </a:solidFill>
                <a:latin typeface="Calibri"/>
                <a:ea typeface="Calibri"/>
                <a:cs typeface="Calibri"/>
                <a:sym typeface="Calibri"/>
              </a:rPr>
              <a:t> = </a:t>
            </a:r>
            <a:r>
              <a:rPr lang="en-US" sz="1350">
                <a:solidFill>
                  <a:srgbClr val="2A3547"/>
                </a:solidFill>
                <a:latin typeface="Calibri"/>
                <a:ea typeface="Calibri"/>
                <a:cs typeface="Calibri"/>
                <a:sym typeface="Calibri"/>
              </a:rPr>
              <a:t>Cascade_Churn</a:t>
            </a:r>
            <a:r>
              <a:rPr b="0" i="0" lang="en-US" sz="1350" u="none" cap="none" strike="noStrike">
                <a:solidFill>
                  <a:srgbClr val="2A3547"/>
                </a:solidFill>
                <a:latin typeface="Calibri"/>
                <a:ea typeface="Calibri"/>
                <a:cs typeface="Calibri"/>
                <a:sym typeface="Calibri"/>
              </a:rPr>
              <a:t> ⁄ (</a:t>
            </a:r>
            <a:r>
              <a:rPr lang="en-US" sz="1350">
                <a:solidFill>
                  <a:srgbClr val="2A3547"/>
                </a:solidFill>
                <a:latin typeface="Calibri"/>
                <a:ea typeface="Calibri"/>
                <a:cs typeface="Calibri"/>
                <a:sym typeface="Calibri"/>
              </a:rPr>
              <a:t>Cascade_Churn</a:t>
            </a:r>
            <a:r>
              <a:rPr b="0" i="0" lang="en-US" sz="1350" u="none" cap="none" strike="noStrike">
                <a:solidFill>
                  <a:srgbClr val="2A3547"/>
                </a:solidFill>
                <a:latin typeface="Calibri"/>
                <a:ea typeface="Calibri"/>
                <a:cs typeface="Calibri"/>
                <a:sym typeface="Calibri"/>
              </a:rPr>
              <a:t> + </a:t>
            </a:r>
            <a:r>
              <a:rPr lang="en-US" sz="1350">
                <a:solidFill>
                  <a:srgbClr val="2A3547"/>
                </a:solidFill>
                <a:latin typeface="Calibri"/>
                <a:ea typeface="Calibri"/>
                <a:cs typeface="Calibri"/>
                <a:sym typeface="Calibri"/>
              </a:rPr>
              <a:t>Counter_Churn</a:t>
            </a:r>
            <a:r>
              <a:rPr b="0" i="0" lang="en-US" sz="1350" u="none" cap="none" strike="noStrike">
                <a:solidFill>
                  <a:srgbClr val="2A3547"/>
                </a:solidFill>
                <a:latin typeface="Calibri"/>
                <a:ea typeface="Calibri"/>
                <a:cs typeface="Calibri"/>
                <a:sym typeface="Calibri"/>
              </a:rPr>
              <a:t>)</a:t>
            </a:r>
            <a:endParaRPr sz="1350">
              <a:solidFill>
                <a:srgbClr val="2A3547"/>
              </a:solidFill>
              <a:latin typeface="Calibri"/>
              <a:ea typeface="Calibri"/>
              <a:cs typeface="Calibri"/>
              <a:sym typeface="Calibri"/>
            </a:endParaRPr>
          </a:p>
          <a:p>
            <a:pPr indent="0" lvl="0" marL="0" marR="0" rtl="0" algn="l">
              <a:lnSpc>
                <a:spcPct val="105000"/>
              </a:lnSpc>
              <a:spcBef>
                <a:spcPts val="0"/>
              </a:spcBef>
              <a:spcAft>
                <a:spcPts val="0"/>
              </a:spcAft>
              <a:buClr>
                <a:srgbClr val="2A3547"/>
              </a:buClr>
              <a:buSzPts val="1350"/>
              <a:buFont typeface="Calibri"/>
              <a:buNone/>
            </a:pPr>
            <a:r>
              <a:rPr b="1" i="0" lang="en-US" sz="1350" u="none" cap="none" strike="noStrike">
                <a:solidFill>
                  <a:srgbClr val="16233B"/>
                </a:solidFill>
                <a:latin typeface="Calibri"/>
                <a:ea typeface="Calibri"/>
                <a:cs typeface="Calibri"/>
                <a:sym typeface="Calibri"/>
              </a:rPr>
              <a:t>Cross-Decile Share</a:t>
            </a:r>
            <a:r>
              <a:rPr b="0" i="0" lang="en-US" sz="1350" u="none" cap="none" strike="noStrike">
                <a:solidFill>
                  <a:srgbClr val="2A3547"/>
                </a:solidFill>
                <a:latin typeface="Calibri"/>
                <a:ea typeface="Calibri"/>
                <a:cs typeface="Calibri"/>
                <a:sym typeface="Calibri"/>
              </a:rPr>
              <a:t> = how much churn crosses the hierarchy at all.</a:t>
            </a:r>
            <a:endParaRPr b="0" i="0" sz="1350" u="none" cap="none" strike="noStrike">
              <a:solidFill>
                <a:schemeClr val="dk1"/>
              </a:solidFill>
              <a:latin typeface="Calibri"/>
              <a:ea typeface="Calibri"/>
              <a:cs typeface="Calibri"/>
              <a:sym typeface="Calibri"/>
            </a:endParaRPr>
          </a:p>
        </p:txBody>
      </p:sp>
      <p:sp>
        <p:nvSpPr>
          <p:cNvPr id="136" name="Google Shape;136;p7"/>
          <p:cNvSpPr/>
          <p:nvPr/>
        </p:nvSpPr>
        <p:spPr>
          <a:xfrm>
            <a:off x="594360" y="3886200"/>
            <a:ext cx="3544824" cy="1417320"/>
          </a:xfrm>
          <a:prstGeom prst="roundRect">
            <a:avLst>
              <a:gd fmla="val 5161" name="adj"/>
            </a:avLst>
          </a:prstGeom>
          <a:solidFill>
            <a:srgbClr val="245C99"/>
          </a:solidFill>
          <a:ln>
            <a:noFill/>
          </a:ln>
          <a:effectLst>
            <a:outerShdw blurRad="101600" rotWithShape="0" algn="bl" dir="5400000" dist="38100">
              <a:srgbClr val="9AA6B8">
                <a:alpha val="27843"/>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7" name="Google Shape;137;p7"/>
          <p:cNvSpPr/>
          <p:nvPr/>
        </p:nvSpPr>
        <p:spPr>
          <a:xfrm>
            <a:off x="594360" y="3886200"/>
            <a:ext cx="3544824" cy="1417320"/>
          </a:xfrm>
          <a:prstGeom prst="rect">
            <a:avLst/>
          </a:prstGeom>
          <a:noFill/>
          <a:ln>
            <a:noFill/>
          </a:ln>
        </p:spPr>
        <p:txBody>
          <a:bodyPr anchorCtr="0" anchor="ctr" bIns="0" lIns="0" spcFirstLastPara="1" rIns="0" wrap="square" tIns="0">
            <a:noAutofit/>
          </a:bodyPr>
          <a:lstStyle/>
          <a:p>
            <a:pPr indent="0" lvl="0" marL="0" marR="0" rtl="0" algn="ctr">
              <a:lnSpc>
                <a:spcPct val="110000"/>
              </a:lnSpc>
              <a:spcBef>
                <a:spcPts val="0"/>
              </a:spcBef>
              <a:spcAft>
                <a:spcPts val="0"/>
              </a:spcAft>
              <a:buClr>
                <a:srgbClr val="FFFFFF"/>
              </a:buClr>
              <a:buSzPts val="1700"/>
              <a:buFont typeface="Calibri"/>
              <a:buNone/>
            </a:pPr>
            <a:r>
              <a:rPr b="1" i="0" lang="en-US" sz="1700" u="none" cap="none" strike="noStrike">
                <a:solidFill>
                  <a:srgbClr val="FFFFFF"/>
                </a:solidFill>
                <a:latin typeface="Calibri"/>
                <a:ea typeface="Calibri"/>
                <a:cs typeface="Calibri"/>
                <a:sym typeface="Calibri"/>
              </a:rPr>
              <a:t>Counter-led</a:t>
            </a:r>
            <a:endParaRPr b="0" i="0" sz="1700" u="none" cap="none" strike="noStrike">
              <a:solidFill>
                <a:schemeClr val="dk1"/>
              </a:solidFill>
              <a:latin typeface="Calibri"/>
              <a:ea typeface="Calibri"/>
              <a:cs typeface="Calibri"/>
              <a:sym typeface="Calibri"/>
            </a:endParaRPr>
          </a:p>
          <a:p>
            <a:pPr indent="0" lvl="0" marL="0" marR="0" rtl="0" algn="ctr">
              <a:lnSpc>
                <a:spcPct val="110000"/>
              </a:lnSpc>
              <a:spcBef>
                <a:spcPts val="0"/>
              </a:spcBef>
              <a:spcAft>
                <a:spcPts val="0"/>
              </a:spcAft>
              <a:buClr>
                <a:srgbClr val="F0F4FA"/>
              </a:buClr>
              <a:buSzPts val="1250"/>
              <a:buFont typeface="Calibri"/>
              <a:buNone/>
            </a:pPr>
            <a:r>
              <a:rPr b="0" i="0" lang="en-US" sz="1250" u="none" cap="none" strike="noStrike">
                <a:solidFill>
                  <a:srgbClr val="F0F4FA"/>
                </a:solidFill>
                <a:latin typeface="Calibri"/>
                <a:ea typeface="Calibri"/>
                <a:cs typeface="Calibri"/>
                <a:sym typeface="Calibri"/>
              </a:rPr>
              <a:t>Dominance &lt; 0.48</a:t>
            </a:r>
            <a:endParaRPr b="0" i="0" sz="1700" u="none" cap="none" strike="noStrike">
              <a:solidFill>
                <a:schemeClr val="dk1"/>
              </a:solidFill>
              <a:latin typeface="Calibri"/>
              <a:ea typeface="Calibri"/>
              <a:cs typeface="Calibri"/>
              <a:sym typeface="Calibri"/>
            </a:endParaRPr>
          </a:p>
        </p:txBody>
      </p:sp>
      <p:sp>
        <p:nvSpPr>
          <p:cNvPr id="138" name="Google Shape;138;p7"/>
          <p:cNvSpPr/>
          <p:nvPr/>
        </p:nvSpPr>
        <p:spPr>
          <a:xfrm>
            <a:off x="4322064" y="3886200"/>
            <a:ext cx="3544824" cy="1417320"/>
          </a:xfrm>
          <a:prstGeom prst="roundRect">
            <a:avLst>
              <a:gd fmla="val 5161" name="adj"/>
            </a:avLst>
          </a:prstGeom>
          <a:solidFill>
            <a:srgbClr val="C3CAD5"/>
          </a:solidFill>
          <a:ln>
            <a:noFill/>
          </a:ln>
          <a:effectLst>
            <a:outerShdw blurRad="101600" rotWithShape="0" algn="bl" dir="5400000" dist="38100">
              <a:srgbClr val="9AA6B8">
                <a:alpha val="27843"/>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9" name="Google Shape;139;p7"/>
          <p:cNvSpPr/>
          <p:nvPr/>
        </p:nvSpPr>
        <p:spPr>
          <a:xfrm>
            <a:off x="4322064" y="3886200"/>
            <a:ext cx="3544824" cy="1417320"/>
          </a:xfrm>
          <a:prstGeom prst="rect">
            <a:avLst/>
          </a:prstGeom>
          <a:noFill/>
          <a:ln>
            <a:noFill/>
          </a:ln>
        </p:spPr>
        <p:txBody>
          <a:bodyPr anchorCtr="0" anchor="ctr" bIns="0" lIns="0" spcFirstLastPara="1" rIns="0" wrap="square" tIns="0">
            <a:noAutofit/>
          </a:bodyPr>
          <a:lstStyle/>
          <a:p>
            <a:pPr indent="0" lvl="0" marL="0" marR="0" rtl="0" algn="ctr">
              <a:lnSpc>
                <a:spcPct val="110000"/>
              </a:lnSpc>
              <a:spcBef>
                <a:spcPts val="0"/>
              </a:spcBef>
              <a:spcAft>
                <a:spcPts val="0"/>
              </a:spcAft>
              <a:buClr>
                <a:srgbClr val="16233B"/>
              </a:buClr>
              <a:buSzPts val="1700"/>
              <a:buFont typeface="Calibri"/>
              <a:buNone/>
            </a:pPr>
            <a:r>
              <a:rPr b="1" i="0" lang="en-US" sz="1700" u="none" cap="none" strike="noStrike">
                <a:solidFill>
                  <a:srgbClr val="16233B"/>
                </a:solidFill>
                <a:latin typeface="Calibri"/>
                <a:ea typeface="Calibri"/>
                <a:cs typeface="Calibri"/>
                <a:sym typeface="Calibri"/>
              </a:rPr>
              <a:t>Symmetric</a:t>
            </a:r>
            <a:endParaRPr b="0" i="0" sz="1700" u="none" cap="none" strike="noStrike">
              <a:solidFill>
                <a:schemeClr val="dk1"/>
              </a:solidFill>
              <a:latin typeface="Calibri"/>
              <a:ea typeface="Calibri"/>
              <a:cs typeface="Calibri"/>
              <a:sym typeface="Calibri"/>
            </a:endParaRPr>
          </a:p>
          <a:p>
            <a:pPr indent="0" lvl="0" marL="0" marR="0" rtl="0" algn="ctr">
              <a:lnSpc>
                <a:spcPct val="110000"/>
              </a:lnSpc>
              <a:spcBef>
                <a:spcPts val="0"/>
              </a:spcBef>
              <a:spcAft>
                <a:spcPts val="0"/>
              </a:spcAft>
              <a:buClr>
                <a:srgbClr val="55606F"/>
              </a:buClr>
              <a:buSzPts val="1250"/>
              <a:buFont typeface="Calibri"/>
              <a:buNone/>
            </a:pPr>
            <a:r>
              <a:rPr b="0" i="0" lang="en-US" sz="1250" u="none" cap="none" strike="noStrike">
                <a:solidFill>
                  <a:srgbClr val="55606F"/>
                </a:solidFill>
                <a:latin typeface="Calibri"/>
                <a:ea typeface="Calibri"/>
                <a:cs typeface="Calibri"/>
                <a:sym typeface="Calibri"/>
              </a:rPr>
              <a:t>0.48 – 0.52</a:t>
            </a:r>
            <a:endParaRPr b="0" i="0" sz="1700" u="none" cap="none" strike="noStrike">
              <a:solidFill>
                <a:schemeClr val="dk1"/>
              </a:solidFill>
              <a:latin typeface="Calibri"/>
              <a:ea typeface="Calibri"/>
              <a:cs typeface="Calibri"/>
              <a:sym typeface="Calibri"/>
            </a:endParaRPr>
          </a:p>
        </p:txBody>
      </p:sp>
      <p:sp>
        <p:nvSpPr>
          <p:cNvPr id="140" name="Google Shape;140;p7"/>
          <p:cNvSpPr/>
          <p:nvPr/>
        </p:nvSpPr>
        <p:spPr>
          <a:xfrm>
            <a:off x="8049768" y="3886200"/>
            <a:ext cx="3544824" cy="1417320"/>
          </a:xfrm>
          <a:prstGeom prst="roundRect">
            <a:avLst>
              <a:gd fmla="val 5161" name="adj"/>
            </a:avLst>
          </a:prstGeom>
          <a:solidFill>
            <a:srgbClr val="C6551A"/>
          </a:solidFill>
          <a:ln>
            <a:noFill/>
          </a:ln>
          <a:effectLst>
            <a:outerShdw blurRad="101600" rotWithShape="0" algn="bl" dir="5400000" dist="38100">
              <a:srgbClr val="9AA6B8">
                <a:alpha val="27843"/>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1" name="Google Shape;141;p7"/>
          <p:cNvSpPr/>
          <p:nvPr/>
        </p:nvSpPr>
        <p:spPr>
          <a:xfrm>
            <a:off x="8049768" y="3886200"/>
            <a:ext cx="3544824" cy="1417320"/>
          </a:xfrm>
          <a:prstGeom prst="rect">
            <a:avLst/>
          </a:prstGeom>
          <a:noFill/>
          <a:ln>
            <a:noFill/>
          </a:ln>
        </p:spPr>
        <p:txBody>
          <a:bodyPr anchorCtr="0" anchor="ctr" bIns="0" lIns="0" spcFirstLastPara="1" rIns="0" wrap="square" tIns="0">
            <a:noAutofit/>
          </a:bodyPr>
          <a:lstStyle/>
          <a:p>
            <a:pPr indent="0" lvl="0" marL="0" marR="0" rtl="0" algn="ctr">
              <a:lnSpc>
                <a:spcPct val="110000"/>
              </a:lnSpc>
              <a:spcBef>
                <a:spcPts val="0"/>
              </a:spcBef>
              <a:spcAft>
                <a:spcPts val="0"/>
              </a:spcAft>
              <a:buClr>
                <a:srgbClr val="FFFFFF"/>
              </a:buClr>
              <a:buSzPts val="1700"/>
              <a:buFont typeface="Calibri"/>
              <a:buNone/>
            </a:pPr>
            <a:r>
              <a:rPr b="1" i="0" lang="en-US" sz="1700" u="none" cap="none" strike="noStrike">
                <a:solidFill>
                  <a:srgbClr val="FFFFFF"/>
                </a:solidFill>
                <a:latin typeface="Calibri"/>
                <a:ea typeface="Calibri"/>
                <a:cs typeface="Calibri"/>
                <a:sym typeface="Calibri"/>
              </a:rPr>
              <a:t>Cascade-led</a:t>
            </a:r>
            <a:endParaRPr b="0" i="0" sz="1700" u="none" cap="none" strike="noStrike">
              <a:solidFill>
                <a:schemeClr val="dk1"/>
              </a:solidFill>
              <a:latin typeface="Calibri"/>
              <a:ea typeface="Calibri"/>
              <a:cs typeface="Calibri"/>
              <a:sym typeface="Calibri"/>
            </a:endParaRPr>
          </a:p>
          <a:p>
            <a:pPr indent="0" lvl="0" marL="0" marR="0" rtl="0" algn="ctr">
              <a:lnSpc>
                <a:spcPct val="110000"/>
              </a:lnSpc>
              <a:spcBef>
                <a:spcPts val="0"/>
              </a:spcBef>
              <a:spcAft>
                <a:spcPts val="0"/>
              </a:spcAft>
              <a:buClr>
                <a:srgbClr val="F0F4FA"/>
              </a:buClr>
              <a:buSzPts val="1250"/>
              <a:buFont typeface="Calibri"/>
              <a:buNone/>
            </a:pPr>
            <a:r>
              <a:rPr b="0" i="0" lang="en-US" sz="1250" u="none" cap="none" strike="noStrike">
                <a:solidFill>
                  <a:srgbClr val="F0F4FA"/>
                </a:solidFill>
                <a:latin typeface="Calibri"/>
                <a:ea typeface="Calibri"/>
                <a:cs typeface="Calibri"/>
                <a:sym typeface="Calibri"/>
              </a:rPr>
              <a:t>Dominance &gt; 0.52</a:t>
            </a:r>
            <a:endParaRPr b="0" i="0" sz="1700" u="none" cap="none" strike="noStrike">
              <a:solidFill>
                <a:schemeClr val="dk1"/>
              </a:solidFill>
              <a:latin typeface="Calibri"/>
              <a:ea typeface="Calibri"/>
              <a:cs typeface="Calibri"/>
              <a:sym typeface="Calibri"/>
            </a:endParaRPr>
          </a:p>
        </p:txBody>
      </p:sp>
      <p:sp>
        <p:nvSpPr>
          <p:cNvPr id="142" name="Google Shape;142;p7"/>
          <p:cNvSpPr/>
          <p:nvPr/>
        </p:nvSpPr>
        <p:spPr>
          <a:xfrm>
            <a:off x="594360" y="5468112"/>
            <a:ext cx="11000232" cy="658368"/>
          </a:xfrm>
          <a:prstGeom prst="roundRect">
            <a:avLst>
              <a:gd fmla="val 11111" name="adj"/>
            </a:avLst>
          </a:prstGeom>
          <a:solidFill>
            <a:srgbClr val="E7EDF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3" name="Google Shape;143;p7"/>
          <p:cNvSpPr/>
          <p:nvPr/>
        </p:nvSpPr>
        <p:spPr>
          <a:xfrm>
            <a:off x="822960" y="5468112"/>
            <a:ext cx="10543032" cy="65836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6233B"/>
              </a:buClr>
              <a:buSzPts val="1400"/>
              <a:buFont typeface="Calibri"/>
              <a:buNone/>
            </a:pPr>
            <a:r>
              <a:rPr b="1" i="0" lang="en-US" sz="1400" u="none" cap="none" strike="noStrike">
                <a:solidFill>
                  <a:srgbClr val="16233B"/>
                </a:solidFill>
                <a:latin typeface="Calibri"/>
                <a:ea typeface="Calibri"/>
                <a:cs typeface="Calibri"/>
                <a:sym typeface="Calibri"/>
              </a:rPr>
              <a:t>Lateral</a:t>
            </a:r>
            <a:r>
              <a:rPr b="0" i="0" lang="en-US" sz="1400" u="none" cap="none" strike="noStrike">
                <a:solidFill>
                  <a:srgbClr val="2A3547"/>
                </a:solidFill>
                <a:latin typeface="Calibri"/>
                <a:ea typeface="Calibri"/>
                <a:cs typeface="Calibri"/>
                <a:sym typeface="Calibri"/>
              </a:rPr>
              <a:t>  —  Cross-Decile Share below the 25th percentile: the neighbourhood barely engages the hierarchy at all.</a:t>
            </a:r>
            <a:endParaRPr b="0" i="0" sz="1400" u="none" cap="none" strike="noStrike">
              <a:solidFill>
                <a:schemeClr val="dk1"/>
              </a:solidFill>
              <a:latin typeface="Calibri"/>
              <a:ea typeface="Calibri"/>
              <a:cs typeface="Calibri"/>
              <a:sym typeface="Calibri"/>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48" name="Shape 148"/>
        <p:cNvGrpSpPr/>
        <p:nvPr/>
      </p:nvGrpSpPr>
      <p:grpSpPr>
        <a:xfrm>
          <a:off x="0" y="0"/>
          <a:ext cx="0" cy="0"/>
          <a:chOff x="0" y="0"/>
          <a:chExt cx="0" cy="0"/>
        </a:xfrm>
      </p:grpSpPr>
      <p:sp>
        <p:nvSpPr>
          <p:cNvPr id="149" name="Google Shape;149;p8"/>
          <p:cNvSpPr/>
          <p:nvPr/>
        </p:nvSpPr>
        <p:spPr>
          <a:xfrm>
            <a:off x="594360" y="411480"/>
            <a:ext cx="11000232" cy="29260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E7C90"/>
              </a:buClr>
              <a:buSzPts val="1200"/>
              <a:buFont typeface="Calibri"/>
              <a:buNone/>
            </a:pPr>
            <a:r>
              <a:rPr b="1" i="0" lang="en-US" sz="1200" u="none" cap="none" strike="noStrike">
                <a:solidFill>
                  <a:srgbClr val="6E7C90"/>
                </a:solidFill>
                <a:latin typeface="Calibri"/>
                <a:ea typeface="Calibri"/>
                <a:cs typeface="Calibri"/>
                <a:sym typeface="Calibri"/>
              </a:rPr>
              <a:t>METHODOLOGY · 4 OF 5</a:t>
            </a:r>
            <a:endParaRPr b="0" i="0" sz="1200" u="none" cap="none" strike="noStrike">
              <a:solidFill>
                <a:schemeClr val="dk1"/>
              </a:solidFill>
              <a:latin typeface="Calibri"/>
              <a:ea typeface="Calibri"/>
              <a:cs typeface="Calibri"/>
              <a:sym typeface="Calibri"/>
            </a:endParaRPr>
          </a:p>
        </p:txBody>
      </p:sp>
      <p:sp>
        <p:nvSpPr>
          <p:cNvPr id="150" name="Google Shape;150;p8"/>
          <p:cNvSpPr/>
          <p:nvPr/>
        </p:nvSpPr>
        <p:spPr>
          <a:xfrm>
            <a:off x="11210544" y="365760"/>
            <a:ext cx="384048" cy="384048"/>
          </a:xfrm>
          <a:prstGeom prst="ellipse">
            <a:avLst/>
          </a:prstGeom>
          <a:solidFill>
            <a:srgbClr val="16233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1" name="Google Shape;151;p8"/>
          <p:cNvSpPr/>
          <p:nvPr/>
        </p:nvSpPr>
        <p:spPr>
          <a:xfrm>
            <a:off x="11210544" y="365760"/>
            <a:ext cx="384048" cy="38404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600"/>
              <a:buFont typeface="Calibri"/>
              <a:buNone/>
            </a:pPr>
            <a:r>
              <a:rPr b="1" i="0" lang="en-US" sz="1600" u="none" cap="none" strike="noStrike">
                <a:solidFill>
                  <a:srgbClr val="FFFFFF"/>
                </a:solidFill>
                <a:latin typeface="Calibri"/>
                <a:ea typeface="Calibri"/>
                <a:cs typeface="Calibri"/>
                <a:sym typeface="Calibri"/>
              </a:rPr>
              <a:t>4</a:t>
            </a:r>
            <a:endParaRPr b="0" i="0" sz="1600" u="none" cap="none" strike="noStrike">
              <a:solidFill>
                <a:schemeClr val="dk1"/>
              </a:solidFill>
              <a:latin typeface="Calibri"/>
              <a:ea typeface="Calibri"/>
              <a:cs typeface="Calibri"/>
              <a:sym typeface="Calibri"/>
            </a:endParaRPr>
          </a:p>
        </p:txBody>
      </p:sp>
      <p:sp>
        <p:nvSpPr>
          <p:cNvPr id="152" name="Google Shape;152;p8"/>
          <p:cNvSpPr/>
          <p:nvPr/>
        </p:nvSpPr>
        <p:spPr>
          <a:xfrm>
            <a:off x="594360" y="749808"/>
            <a:ext cx="11000232" cy="822960"/>
          </a:xfrm>
          <a:prstGeom prst="rect">
            <a:avLst/>
          </a:prstGeom>
          <a:noFill/>
          <a:ln>
            <a:noFill/>
          </a:ln>
        </p:spPr>
        <p:txBody>
          <a:bodyPr anchorCtr="0" anchor="t" bIns="0" lIns="0" spcFirstLastPara="1" rIns="0" wrap="square" tIns="0">
            <a:noAutofit/>
          </a:bodyPr>
          <a:lstStyle/>
          <a:p>
            <a:pPr indent="0" lvl="0" marL="0" marR="0" rtl="0" algn="l">
              <a:lnSpc>
                <a:spcPct val="98000"/>
              </a:lnSpc>
              <a:spcBef>
                <a:spcPts val="0"/>
              </a:spcBef>
              <a:spcAft>
                <a:spcPts val="0"/>
              </a:spcAft>
              <a:buClr>
                <a:srgbClr val="16233B"/>
              </a:buClr>
              <a:buSzPts val="3200"/>
              <a:buFont typeface="Cambria"/>
              <a:buNone/>
            </a:pPr>
            <a:r>
              <a:rPr b="1" i="0" lang="en-US" sz="3200" u="none" cap="none" strike="noStrike">
                <a:solidFill>
                  <a:srgbClr val="16233B"/>
                </a:solidFill>
                <a:latin typeface="Cambria"/>
                <a:ea typeface="Cambria"/>
                <a:cs typeface="Cambria"/>
                <a:sym typeface="Cambria"/>
              </a:rPr>
              <a:t>Three frames — and why London-only is the core</a:t>
            </a:r>
            <a:endParaRPr b="0" i="0" sz="3200" u="none" cap="none" strike="noStrike">
              <a:solidFill>
                <a:schemeClr val="dk1"/>
              </a:solidFill>
              <a:latin typeface="Calibri"/>
              <a:ea typeface="Calibri"/>
              <a:cs typeface="Calibri"/>
              <a:sym typeface="Calibri"/>
            </a:endParaRPr>
          </a:p>
        </p:txBody>
      </p:sp>
      <p:graphicFrame>
        <p:nvGraphicFramePr>
          <p:cNvPr id="153" name="Google Shape;153;p8"/>
          <p:cNvGraphicFramePr/>
          <p:nvPr/>
        </p:nvGraphicFramePr>
        <p:xfrm>
          <a:off x="594360" y="1828800"/>
          <a:ext cx="3000000" cy="3000000"/>
        </p:xfrm>
        <a:graphic>
          <a:graphicData uri="http://schemas.openxmlformats.org/drawingml/2006/table">
            <a:tbl>
              <a:tblPr>
                <a:noFill/>
                <a:tableStyleId>{3CDC1EAC-0418-4F01-B0E6-199032B1E9C5}</a:tableStyleId>
              </a:tblPr>
              <a:tblGrid>
                <a:gridCol w="640075"/>
                <a:gridCol w="1965950"/>
                <a:gridCol w="1600200"/>
                <a:gridCol w="1645925"/>
              </a:tblGrid>
              <a:tr h="365750">
                <a:tc>
                  <a:txBody>
                    <a:bodyPr/>
                    <a:lstStyle/>
                    <a:p>
                      <a:pPr indent="0" lvl="0" marL="0" marR="0" rtl="0" algn="l">
                        <a:spcBef>
                          <a:spcPts val="0"/>
                        </a:spcBef>
                        <a:spcAft>
                          <a:spcPts val="0"/>
                        </a:spcAft>
                        <a:buClr>
                          <a:srgbClr val="FFFFFF"/>
                        </a:buClr>
                        <a:buSzPts val="1300"/>
                        <a:buFont typeface="Calibri"/>
                        <a:buNone/>
                      </a:pPr>
                      <a:r>
                        <a:rPr b="1" lang="en-US" sz="1300" u="none" cap="none" strike="noStrike">
                          <a:solidFill>
                            <a:srgbClr val="FFFFFF"/>
                          </a:solidFill>
                          <a:latin typeface="Calibri"/>
                          <a:ea typeface="Calibri"/>
                          <a:cs typeface="Calibri"/>
                          <a:sym typeface="Calibri"/>
                        </a:rPr>
                        <a:t>Frame</a:t>
                      </a:r>
                      <a:endParaRPr sz="1300" u="none" cap="none" strike="noStrike">
                        <a:latin typeface="Calibri"/>
                        <a:ea typeface="Calibri"/>
                        <a:cs typeface="Calibri"/>
                        <a:sym typeface="Calibri"/>
                      </a:endParaRPr>
                    </a:p>
                  </a:txBody>
                  <a:tcPr marT="45725" marB="45725" marR="91450" marL="91450" anchor="ctr">
                    <a:lnL cap="flat" cmpd="sng" w="12700">
                      <a:solidFill>
                        <a:srgbClr val="E1E7F0"/>
                      </a:solidFill>
                      <a:prstDash val="solid"/>
                      <a:round/>
                      <a:headEnd len="sm" w="sm" type="none"/>
                      <a:tailEnd len="sm" w="sm" type="none"/>
                    </a:lnL>
                    <a:lnR cap="flat" cmpd="sng" w="12700">
                      <a:solidFill>
                        <a:srgbClr val="E1E7F0"/>
                      </a:solidFill>
                      <a:prstDash val="solid"/>
                      <a:round/>
                      <a:headEnd len="sm" w="sm" type="none"/>
                      <a:tailEnd len="sm" w="sm" type="none"/>
                    </a:lnR>
                    <a:lnT cap="flat" cmpd="sng" w="12700">
                      <a:solidFill>
                        <a:srgbClr val="E1E7F0"/>
                      </a:solidFill>
                      <a:prstDash val="solid"/>
                      <a:round/>
                      <a:headEnd len="sm" w="sm" type="none"/>
                      <a:tailEnd len="sm" w="sm" type="none"/>
                    </a:lnT>
                    <a:lnB cap="flat" cmpd="sng" w="12700">
                      <a:solidFill>
                        <a:srgbClr val="E1E7F0"/>
                      </a:solidFill>
                      <a:prstDash val="solid"/>
                      <a:round/>
                      <a:headEnd len="sm" w="sm" type="none"/>
                      <a:tailEnd len="sm" w="sm" type="none"/>
                    </a:lnB>
                    <a:solidFill>
                      <a:srgbClr val="16233B"/>
                    </a:solidFill>
                  </a:tcPr>
                </a:tc>
                <a:tc>
                  <a:txBody>
                    <a:bodyPr/>
                    <a:lstStyle/>
                    <a:p>
                      <a:pPr indent="0" lvl="0" marL="0" marR="0" rtl="0" algn="l">
                        <a:spcBef>
                          <a:spcPts val="0"/>
                        </a:spcBef>
                        <a:spcAft>
                          <a:spcPts val="0"/>
                        </a:spcAft>
                        <a:buClr>
                          <a:srgbClr val="FFFFFF"/>
                        </a:buClr>
                        <a:buSzPts val="1300"/>
                        <a:buFont typeface="Calibri"/>
                        <a:buNone/>
                      </a:pPr>
                      <a:r>
                        <a:rPr b="1" lang="en-US" sz="1300" u="none" cap="none" strike="noStrike">
                          <a:solidFill>
                            <a:srgbClr val="FFFFFF"/>
                          </a:solidFill>
                          <a:latin typeface="Calibri"/>
                          <a:ea typeface="Calibri"/>
                          <a:cs typeface="Calibri"/>
                          <a:sym typeface="Calibri"/>
                        </a:rPr>
                        <a:t>Flows</a:t>
                      </a:r>
                      <a:endParaRPr sz="1300" u="none" cap="none" strike="noStrike">
                        <a:latin typeface="Calibri"/>
                        <a:ea typeface="Calibri"/>
                        <a:cs typeface="Calibri"/>
                        <a:sym typeface="Calibri"/>
                      </a:endParaRPr>
                    </a:p>
                  </a:txBody>
                  <a:tcPr marT="45725" marB="45725" marR="91450" marL="91450" anchor="ctr">
                    <a:lnL cap="flat" cmpd="sng" w="12700">
                      <a:solidFill>
                        <a:srgbClr val="E1E7F0"/>
                      </a:solidFill>
                      <a:prstDash val="solid"/>
                      <a:round/>
                      <a:headEnd len="sm" w="sm" type="none"/>
                      <a:tailEnd len="sm" w="sm" type="none"/>
                    </a:lnL>
                    <a:lnR cap="flat" cmpd="sng" w="12700">
                      <a:solidFill>
                        <a:srgbClr val="E1E7F0"/>
                      </a:solidFill>
                      <a:prstDash val="solid"/>
                      <a:round/>
                      <a:headEnd len="sm" w="sm" type="none"/>
                      <a:tailEnd len="sm" w="sm" type="none"/>
                    </a:lnR>
                    <a:lnT cap="flat" cmpd="sng" w="12700">
                      <a:solidFill>
                        <a:srgbClr val="E1E7F0"/>
                      </a:solidFill>
                      <a:prstDash val="solid"/>
                      <a:round/>
                      <a:headEnd len="sm" w="sm" type="none"/>
                      <a:tailEnd len="sm" w="sm" type="none"/>
                    </a:lnT>
                    <a:lnB cap="flat" cmpd="sng" w="12700">
                      <a:solidFill>
                        <a:srgbClr val="E1E7F0"/>
                      </a:solidFill>
                      <a:prstDash val="solid"/>
                      <a:round/>
                      <a:headEnd len="sm" w="sm" type="none"/>
                      <a:tailEnd len="sm" w="sm" type="none"/>
                    </a:lnB>
                    <a:solidFill>
                      <a:srgbClr val="16233B"/>
                    </a:solidFill>
                  </a:tcPr>
                </a:tc>
                <a:tc>
                  <a:txBody>
                    <a:bodyPr/>
                    <a:lstStyle/>
                    <a:p>
                      <a:pPr indent="0" lvl="0" marL="0" marR="0" rtl="0" algn="l">
                        <a:spcBef>
                          <a:spcPts val="0"/>
                        </a:spcBef>
                        <a:spcAft>
                          <a:spcPts val="0"/>
                        </a:spcAft>
                        <a:buClr>
                          <a:srgbClr val="FFFFFF"/>
                        </a:buClr>
                        <a:buSzPts val="1300"/>
                        <a:buFont typeface="Calibri"/>
                        <a:buNone/>
                      </a:pPr>
                      <a:r>
                        <a:rPr b="1" lang="en-US" sz="1300" u="none" cap="none" strike="noStrike">
                          <a:solidFill>
                            <a:srgbClr val="FFFFFF"/>
                          </a:solidFill>
                          <a:latin typeface="Calibri"/>
                          <a:ea typeface="Calibri"/>
                          <a:cs typeface="Calibri"/>
                          <a:sym typeface="Calibri"/>
                        </a:rPr>
                        <a:t>Ladder</a:t>
                      </a:r>
                      <a:endParaRPr sz="1300" u="none" cap="none" strike="noStrike">
                        <a:latin typeface="Calibri"/>
                        <a:ea typeface="Calibri"/>
                        <a:cs typeface="Calibri"/>
                        <a:sym typeface="Calibri"/>
                      </a:endParaRPr>
                    </a:p>
                  </a:txBody>
                  <a:tcPr marT="45725" marB="45725" marR="91450" marL="91450" anchor="ctr">
                    <a:lnL cap="flat" cmpd="sng" w="12700">
                      <a:solidFill>
                        <a:srgbClr val="E1E7F0"/>
                      </a:solidFill>
                      <a:prstDash val="solid"/>
                      <a:round/>
                      <a:headEnd len="sm" w="sm" type="none"/>
                      <a:tailEnd len="sm" w="sm" type="none"/>
                    </a:lnL>
                    <a:lnR cap="flat" cmpd="sng" w="12700">
                      <a:solidFill>
                        <a:srgbClr val="E1E7F0"/>
                      </a:solidFill>
                      <a:prstDash val="solid"/>
                      <a:round/>
                      <a:headEnd len="sm" w="sm" type="none"/>
                      <a:tailEnd len="sm" w="sm" type="none"/>
                    </a:lnR>
                    <a:lnT cap="flat" cmpd="sng" w="12700">
                      <a:solidFill>
                        <a:srgbClr val="E1E7F0"/>
                      </a:solidFill>
                      <a:prstDash val="solid"/>
                      <a:round/>
                      <a:headEnd len="sm" w="sm" type="none"/>
                      <a:tailEnd len="sm" w="sm" type="none"/>
                    </a:lnT>
                    <a:lnB cap="flat" cmpd="sng" w="12700">
                      <a:solidFill>
                        <a:srgbClr val="E1E7F0"/>
                      </a:solidFill>
                      <a:prstDash val="solid"/>
                      <a:round/>
                      <a:headEnd len="sm" w="sm" type="none"/>
                      <a:tailEnd len="sm" w="sm" type="none"/>
                    </a:lnB>
                    <a:solidFill>
                      <a:srgbClr val="16233B"/>
                    </a:solidFill>
                  </a:tcPr>
                </a:tc>
                <a:tc>
                  <a:txBody>
                    <a:bodyPr/>
                    <a:lstStyle/>
                    <a:p>
                      <a:pPr indent="0" lvl="0" marL="0" marR="0" rtl="0" algn="l">
                        <a:spcBef>
                          <a:spcPts val="0"/>
                        </a:spcBef>
                        <a:spcAft>
                          <a:spcPts val="0"/>
                        </a:spcAft>
                        <a:buClr>
                          <a:srgbClr val="FFFFFF"/>
                        </a:buClr>
                        <a:buSzPts val="1300"/>
                        <a:buFont typeface="Calibri"/>
                        <a:buNone/>
                      </a:pPr>
                      <a:r>
                        <a:rPr b="1" lang="en-US" sz="1300" u="none" cap="none" strike="noStrike">
                          <a:solidFill>
                            <a:srgbClr val="FFFFFF"/>
                          </a:solidFill>
                          <a:latin typeface="Calibri"/>
                          <a:ea typeface="Calibri"/>
                          <a:cs typeface="Calibri"/>
                          <a:sym typeface="Calibri"/>
                        </a:rPr>
                        <a:t>Role</a:t>
                      </a:r>
                      <a:endParaRPr sz="1300" u="none" cap="none" strike="noStrike">
                        <a:latin typeface="Calibri"/>
                        <a:ea typeface="Calibri"/>
                        <a:cs typeface="Calibri"/>
                        <a:sym typeface="Calibri"/>
                      </a:endParaRPr>
                    </a:p>
                  </a:txBody>
                  <a:tcPr marT="45725" marB="45725" marR="91450" marL="91450" anchor="ctr">
                    <a:lnL cap="flat" cmpd="sng" w="12700">
                      <a:solidFill>
                        <a:srgbClr val="E1E7F0"/>
                      </a:solidFill>
                      <a:prstDash val="solid"/>
                      <a:round/>
                      <a:headEnd len="sm" w="sm" type="none"/>
                      <a:tailEnd len="sm" w="sm" type="none"/>
                    </a:lnL>
                    <a:lnR cap="flat" cmpd="sng" w="12700">
                      <a:solidFill>
                        <a:srgbClr val="E1E7F0"/>
                      </a:solidFill>
                      <a:prstDash val="solid"/>
                      <a:round/>
                      <a:headEnd len="sm" w="sm" type="none"/>
                      <a:tailEnd len="sm" w="sm" type="none"/>
                    </a:lnR>
                    <a:lnT cap="flat" cmpd="sng" w="12700">
                      <a:solidFill>
                        <a:srgbClr val="E1E7F0"/>
                      </a:solidFill>
                      <a:prstDash val="solid"/>
                      <a:round/>
                      <a:headEnd len="sm" w="sm" type="none"/>
                      <a:tailEnd len="sm" w="sm" type="none"/>
                    </a:lnT>
                    <a:lnB cap="flat" cmpd="sng" w="12700">
                      <a:solidFill>
                        <a:srgbClr val="E1E7F0"/>
                      </a:solidFill>
                      <a:prstDash val="solid"/>
                      <a:round/>
                      <a:headEnd len="sm" w="sm" type="none"/>
                      <a:tailEnd len="sm" w="sm" type="none"/>
                    </a:lnB>
                    <a:solidFill>
                      <a:srgbClr val="16233B"/>
                    </a:solidFill>
                  </a:tcPr>
                </a:tc>
              </a:tr>
              <a:tr h="475500">
                <a:tc>
                  <a:txBody>
                    <a:bodyPr/>
                    <a:lstStyle/>
                    <a:p>
                      <a:pPr indent="0" lvl="0" marL="0" marR="0" rtl="0" algn="l">
                        <a:spcBef>
                          <a:spcPts val="0"/>
                        </a:spcBef>
                        <a:spcAft>
                          <a:spcPts val="0"/>
                        </a:spcAft>
                        <a:buClr>
                          <a:srgbClr val="C6551A"/>
                        </a:buClr>
                        <a:buSzPts val="1250"/>
                        <a:buFont typeface="Calibri"/>
                        <a:buNone/>
                      </a:pPr>
                      <a:r>
                        <a:rPr b="1" lang="en-US" sz="1250" u="none" cap="none" strike="noStrike">
                          <a:solidFill>
                            <a:schemeClr val="dk1"/>
                          </a:solidFill>
                          <a:latin typeface="Calibri"/>
                          <a:ea typeface="Calibri"/>
                          <a:cs typeface="Calibri"/>
                          <a:sym typeface="Calibri"/>
                        </a:rPr>
                        <a:t>A</a:t>
                      </a:r>
                      <a:endParaRPr sz="1250" u="none" cap="none" strike="noStrike">
                        <a:solidFill>
                          <a:schemeClr val="dk1"/>
                        </a:solidFill>
                        <a:latin typeface="Calibri"/>
                        <a:ea typeface="Calibri"/>
                        <a:cs typeface="Calibri"/>
                        <a:sym typeface="Calibri"/>
                      </a:endParaRPr>
                    </a:p>
                  </a:txBody>
                  <a:tcPr marT="45725" marB="45725" marR="91450" marL="91450" anchor="ctr">
                    <a:lnL cap="flat" cmpd="sng" w="12700">
                      <a:solidFill>
                        <a:srgbClr val="E1E7F0"/>
                      </a:solidFill>
                      <a:prstDash val="solid"/>
                      <a:round/>
                      <a:headEnd len="sm" w="sm" type="none"/>
                      <a:tailEnd len="sm" w="sm" type="none"/>
                    </a:lnL>
                    <a:lnR cap="flat" cmpd="sng" w="12700">
                      <a:solidFill>
                        <a:srgbClr val="E1E7F0"/>
                      </a:solidFill>
                      <a:prstDash val="solid"/>
                      <a:round/>
                      <a:headEnd len="sm" w="sm" type="none"/>
                      <a:tailEnd len="sm" w="sm" type="none"/>
                    </a:lnR>
                    <a:lnT cap="flat" cmpd="sng" w="12700">
                      <a:solidFill>
                        <a:srgbClr val="E1E7F0"/>
                      </a:solidFill>
                      <a:prstDash val="solid"/>
                      <a:round/>
                      <a:headEnd len="sm" w="sm" type="none"/>
                      <a:tailEnd len="sm" w="sm" type="none"/>
                    </a:lnT>
                    <a:lnB cap="flat" cmpd="sng" w="12700">
                      <a:solidFill>
                        <a:srgbClr val="E1E7F0"/>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2A3547"/>
                        </a:buClr>
                        <a:buSzPts val="1250"/>
                        <a:buFont typeface="Calibri"/>
                        <a:buNone/>
                      </a:pPr>
                      <a:r>
                        <a:rPr lang="en-US" sz="1250" u="none" cap="none" strike="noStrike">
                          <a:solidFill>
                            <a:srgbClr val="2A3547"/>
                          </a:solidFill>
                          <a:latin typeface="Calibri"/>
                          <a:ea typeface="Calibri"/>
                          <a:cs typeface="Calibri"/>
                          <a:sym typeface="Calibri"/>
                        </a:rPr>
                        <a:t>London-internal</a:t>
                      </a:r>
                      <a:endParaRPr sz="1250" u="none" cap="none" strike="noStrike">
                        <a:latin typeface="Calibri"/>
                        <a:ea typeface="Calibri"/>
                        <a:cs typeface="Calibri"/>
                        <a:sym typeface="Calibri"/>
                      </a:endParaRPr>
                    </a:p>
                  </a:txBody>
                  <a:tcPr marT="45725" marB="45725" marR="91450" marL="91450" anchor="ctr">
                    <a:lnL cap="flat" cmpd="sng" w="12700">
                      <a:solidFill>
                        <a:srgbClr val="E1E7F0"/>
                      </a:solidFill>
                      <a:prstDash val="solid"/>
                      <a:round/>
                      <a:headEnd len="sm" w="sm" type="none"/>
                      <a:tailEnd len="sm" w="sm" type="none"/>
                    </a:lnL>
                    <a:lnR cap="flat" cmpd="sng" w="12700">
                      <a:solidFill>
                        <a:srgbClr val="E1E7F0"/>
                      </a:solidFill>
                      <a:prstDash val="solid"/>
                      <a:round/>
                      <a:headEnd len="sm" w="sm" type="none"/>
                      <a:tailEnd len="sm" w="sm" type="none"/>
                    </a:lnR>
                    <a:lnT cap="flat" cmpd="sng" w="12700">
                      <a:solidFill>
                        <a:srgbClr val="E1E7F0"/>
                      </a:solidFill>
                      <a:prstDash val="solid"/>
                      <a:round/>
                      <a:headEnd len="sm" w="sm" type="none"/>
                      <a:tailEnd len="sm" w="sm" type="none"/>
                    </a:lnT>
                    <a:lnB cap="flat" cmpd="sng" w="12700">
                      <a:solidFill>
                        <a:srgbClr val="E1E7F0"/>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2A3547"/>
                        </a:buClr>
                        <a:buSzPts val="1250"/>
                        <a:buFont typeface="Calibri"/>
                        <a:buNone/>
                      </a:pPr>
                      <a:r>
                        <a:rPr lang="en-US" sz="1250" u="none" cap="none" strike="noStrike">
                          <a:solidFill>
                            <a:srgbClr val="2A3547"/>
                          </a:solidFill>
                          <a:latin typeface="Calibri"/>
                          <a:ea typeface="Calibri"/>
                          <a:cs typeface="Calibri"/>
                          <a:sym typeface="Calibri"/>
                        </a:rPr>
                        <a:t>London-relative</a:t>
                      </a:r>
                      <a:endParaRPr sz="1250" u="none" cap="none" strike="noStrike">
                        <a:latin typeface="Calibri"/>
                        <a:ea typeface="Calibri"/>
                        <a:cs typeface="Calibri"/>
                        <a:sym typeface="Calibri"/>
                      </a:endParaRPr>
                    </a:p>
                  </a:txBody>
                  <a:tcPr marT="45725" marB="45725" marR="91450" marL="91450" anchor="ctr">
                    <a:lnL cap="flat" cmpd="sng" w="12700">
                      <a:solidFill>
                        <a:srgbClr val="E1E7F0"/>
                      </a:solidFill>
                      <a:prstDash val="solid"/>
                      <a:round/>
                      <a:headEnd len="sm" w="sm" type="none"/>
                      <a:tailEnd len="sm" w="sm" type="none"/>
                    </a:lnL>
                    <a:lnR cap="flat" cmpd="sng" w="12700">
                      <a:solidFill>
                        <a:srgbClr val="E1E7F0"/>
                      </a:solidFill>
                      <a:prstDash val="solid"/>
                      <a:round/>
                      <a:headEnd len="sm" w="sm" type="none"/>
                      <a:tailEnd len="sm" w="sm" type="none"/>
                    </a:lnR>
                    <a:lnT cap="flat" cmpd="sng" w="12700">
                      <a:solidFill>
                        <a:srgbClr val="E1E7F0"/>
                      </a:solidFill>
                      <a:prstDash val="solid"/>
                      <a:round/>
                      <a:headEnd len="sm" w="sm" type="none"/>
                      <a:tailEnd len="sm" w="sm" type="none"/>
                    </a:lnT>
                    <a:lnB cap="flat" cmpd="sng" w="12700">
                      <a:solidFill>
                        <a:srgbClr val="E1E7F0"/>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C6551A"/>
                        </a:buClr>
                        <a:buSzPts val="1250"/>
                        <a:buFont typeface="Calibri"/>
                        <a:buNone/>
                      </a:pPr>
                      <a:r>
                        <a:rPr b="1" lang="en-US" sz="1250" u="none" cap="none" strike="noStrike">
                          <a:solidFill>
                            <a:schemeClr val="dk1"/>
                          </a:solidFill>
                          <a:latin typeface="Calibri"/>
                          <a:ea typeface="Calibri"/>
                          <a:cs typeface="Calibri"/>
                          <a:sym typeface="Calibri"/>
                        </a:rPr>
                        <a:t>CORE</a:t>
                      </a:r>
                      <a:endParaRPr sz="1250" u="none" cap="none" strike="noStrike">
                        <a:solidFill>
                          <a:schemeClr val="dk1"/>
                        </a:solidFill>
                        <a:latin typeface="Calibri"/>
                        <a:ea typeface="Calibri"/>
                        <a:cs typeface="Calibri"/>
                        <a:sym typeface="Calibri"/>
                      </a:endParaRPr>
                    </a:p>
                  </a:txBody>
                  <a:tcPr marT="45725" marB="45725" marR="91450" marL="91450" anchor="ctr">
                    <a:lnL cap="flat" cmpd="sng" w="12700">
                      <a:solidFill>
                        <a:srgbClr val="E1E7F0"/>
                      </a:solidFill>
                      <a:prstDash val="solid"/>
                      <a:round/>
                      <a:headEnd len="sm" w="sm" type="none"/>
                      <a:tailEnd len="sm" w="sm" type="none"/>
                    </a:lnL>
                    <a:lnR cap="flat" cmpd="sng" w="12700">
                      <a:solidFill>
                        <a:srgbClr val="E1E7F0"/>
                      </a:solidFill>
                      <a:prstDash val="solid"/>
                      <a:round/>
                      <a:headEnd len="sm" w="sm" type="none"/>
                      <a:tailEnd len="sm" w="sm" type="none"/>
                    </a:lnR>
                    <a:lnT cap="flat" cmpd="sng" w="12700">
                      <a:solidFill>
                        <a:srgbClr val="E1E7F0"/>
                      </a:solidFill>
                      <a:prstDash val="solid"/>
                      <a:round/>
                      <a:headEnd len="sm" w="sm" type="none"/>
                      <a:tailEnd len="sm" w="sm" type="none"/>
                    </a:lnT>
                    <a:lnB cap="flat" cmpd="sng" w="12700">
                      <a:solidFill>
                        <a:srgbClr val="E1E7F0"/>
                      </a:solidFill>
                      <a:prstDash val="solid"/>
                      <a:round/>
                      <a:headEnd len="sm" w="sm" type="none"/>
                      <a:tailEnd len="sm" w="sm" type="none"/>
                    </a:lnB>
                    <a:solidFill>
                      <a:srgbClr val="FFFFFF"/>
                    </a:solidFill>
                  </a:tcPr>
                </a:tc>
              </a:tr>
              <a:tr h="475500">
                <a:tc>
                  <a:txBody>
                    <a:bodyPr/>
                    <a:lstStyle/>
                    <a:p>
                      <a:pPr indent="0" lvl="0" marL="0" marR="0" rtl="0" algn="l">
                        <a:spcBef>
                          <a:spcPts val="0"/>
                        </a:spcBef>
                        <a:spcAft>
                          <a:spcPts val="0"/>
                        </a:spcAft>
                        <a:buClr>
                          <a:srgbClr val="2A3547"/>
                        </a:buClr>
                        <a:buSzPts val="1250"/>
                        <a:buFont typeface="Calibri"/>
                        <a:buNone/>
                      </a:pPr>
                      <a:r>
                        <a:rPr b="1" lang="en-US" sz="1250" u="none" cap="none" strike="noStrike">
                          <a:solidFill>
                            <a:srgbClr val="2A3547"/>
                          </a:solidFill>
                          <a:latin typeface="Calibri"/>
                          <a:ea typeface="Calibri"/>
                          <a:cs typeface="Calibri"/>
                          <a:sym typeface="Calibri"/>
                        </a:rPr>
                        <a:t>B</a:t>
                      </a:r>
                      <a:endParaRPr sz="1250" u="none" cap="none" strike="noStrike">
                        <a:latin typeface="Calibri"/>
                        <a:ea typeface="Calibri"/>
                        <a:cs typeface="Calibri"/>
                        <a:sym typeface="Calibri"/>
                      </a:endParaRPr>
                    </a:p>
                  </a:txBody>
                  <a:tcPr marT="45725" marB="45725" marR="91450" marL="91450" anchor="ctr">
                    <a:lnL cap="flat" cmpd="sng" w="12700">
                      <a:solidFill>
                        <a:srgbClr val="E1E7F0"/>
                      </a:solidFill>
                      <a:prstDash val="solid"/>
                      <a:round/>
                      <a:headEnd len="sm" w="sm" type="none"/>
                      <a:tailEnd len="sm" w="sm" type="none"/>
                    </a:lnL>
                    <a:lnR cap="flat" cmpd="sng" w="12700">
                      <a:solidFill>
                        <a:srgbClr val="E1E7F0"/>
                      </a:solidFill>
                      <a:prstDash val="solid"/>
                      <a:round/>
                      <a:headEnd len="sm" w="sm" type="none"/>
                      <a:tailEnd len="sm" w="sm" type="none"/>
                    </a:lnR>
                    <a:lnT cap="flat" cmpd="sng" w="12700">
                      <a:solidFill>
                        <a:srgbClr val="E1E7F0"/>
                      </a:solidFill>
                      <a:prstDash val="solid"/>
                      <a:round/>
                      <a:headEnd len="sm" w="sm" type="none"/>
                      <a:tailEnd len="sm" w="sm" type="none"/>
                    </a:lnT>
                    <a:lnB cap="flat" cmpd="sng" w="12700">
                      <a:solidFill>
                        <a:srgbClr val="E1E7F0"/>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2A3547"/>
                        </a:buClr>
                        <a:buSzPts val="1250"/>
                        <a:buFont typeface="Calibri"/>
                        <a:buNone/>
                      </a:pPr>
                      <a:r>
                        <a:rPr lang="en-US" sz="1250" u="none" cap="none" strike="noStrike">
                          <a:solidFill>
                            <a:srgbClr val="2A3547"/>
                          </a:solidFill>
                          <a:latin typeface="Calibri"/>
                          <a:ea typeface="Calibri"/>
                          <a:cs typeface="Calibri"/>
                          <a:sym typeface="Calibri"/>
                        </a:rPr>
                        <a:t>London-internal</a:t>
                      </a:r>
                      <a:endParaRPr sz="1250" u="none" cap="none" strike="noStrike">
                        <a:latin typeface="Calibri"/>
                        <a:ea typeface="Calibri"/>
                        <a:cs typeface="Calibri"/>
                        <a:sym typeface="Calibri"/>
                      </a:endParaRPr>
                    </a:p>
                  </a:txBody>
                  <a:tcPr marT="45725" marB="45725" marR="91450" marL="91450" anchor="ctr">
                    <a:lnL cap="flat" cmpd="sng" w="12700">
                      <a:solidFill>
                        <a:srgbClr val="E1E7F0"/>
                      </a:solidFill>
                      <a:prstDash val="solid"/>
                      <a:round/>
                      <a:headEnd len="sm" w="sm" type="none"/>
                      <a:tailEnd len="sm" w="sm" type="none"/>
                    </a:lnL>
                    <a:lnR cap="flat" cmpd="sng" w="12700">
                      <a:solidFill>
                        <a:srgbClr val="E1E7F0"/>
                      </a:solidFill>
                      <a:prstDash val="solid"/>
                      <a:round/>
                      <a:headEnd len="sm" w="sm" type="none"/>
                      <a:tailEnd len="sm" w="sm" type="none"/>
                    </a:lnR>
                    <a:lnT cap="flat" cmpd="sng" w="12700">
                      <a:solidFill>
                        <a:srgbClr val="E1E7F0"/>
                      </a:solidFill>
                      <a:prstDash val="solid"/>
                      <a:round/>
                      <a:headEnd len="sm" w="sm" type="none"/>
                      <a:tailEnd len="sm" w="sm" type="none"/>
                    </a:lnT>
                    <a:lnB cap="flat" cmpd="sng" w="12700">
                      <a:solidFill>
                        <a:srgbClr val="E1E7F0"/>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2A3547"/>
                        </a:buClr>
                        <a:buSzPts val="1250"/>
                        <a:buFont typeface="Calibri"/>
                        <a:buNone/>
                      </a:pPr>
                      <a:r>
                        <a:rPr lang="en-US" sz="1250" u="none" cap="none" strike="noStrike">
                          <a:solidFill>
                            <a:srgbClr val="2A3547"/>
                          </a:solidFill>
                          <a:latin typeface="Calibri"/>
                          <a:ea typeface="Calibri"/>
                          <a:cs typeface="Calibri"/>
                          <a:sym typeface="Calibri"/>
                        </a:rPr>
                        <a:t>National</a:t>
                      </a:r>
                      <a:endParaRPr sz="1250" u="none" cap="none" strike="noStrike">
                        <a:latin typeface="Calibri"/>
                        <a:ea typeface="Calibri"/>
                        <a:cs typeface="Calibri"/>
                        <a:sym typeface="Calibri"/>
                      </a:endParaRPr>
                    </a:p>
                  </a:txBody>
                  <a:tcPr marT="45725" marB="45725" marR="91450" marL="91450" anchor="ctr">
                    <a:lnL cap="flat" cmpd="sng" w="12700">
                      <a:solidFill>
                        <a:srgbClr val="E1E7F0"/>
                      </a:solidFill>
                      <a:prstDash val="solid"/>
                      <a:round/>
                      <a:headEnd len="sm" w="sm" type="none"/>
                      <a:tailEnd len="sm" w="sm" type="none"/>
                    </a:lnL>
                    <a:lnR cap="flat" cmpd="sng" w="12700">
                      <a:solidFill>
                        <a:srgbClr val="E1E7F0"/>
                      </a:solidFill>
                      <a:prstDash val="solid"/>
                      <a:round/>
                      <a:headEnd len="sm" w="sm" type="none"/>
                      <a:tailEnd len="sm" w="sm" type="none"/>
                    </a:lnR>
                    <a:lnT cap="flat" cmpd="sng" w="12700">
                      <a:solidFill>
                        <a:srgbClr val="E1E7F0"/>
                      </a:solidFill>
                      <a:prstDash val="solid"/>
                      <a:round/>
                      <a:headEnd len="sm" w="sm" type="none"/>
                      <a:tailEnd len="sm" w="sm" type="none"/>
                    </a:lnT>
                    <a:lnB cap="flat" cmpd="sng" w="12700">
                      <a:solidFill>
                        <a:srgbClr val="E1E7F0"/>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2A3547"/>
                        </a:buClr>
                        <a:buSzPts val="1250"/>
                        <a:buFont typeface="Calibri"/>
                        <a:buNone/>
                      </a:pPr>
                      <a:r>
                        <a:rPr lang="en-US" sz="1250" u="none" cap="none" strike="noStrike">
                          <a:solidFill>
                            <a:srgbClr val="2A3547"/>
                          </a:solidFill>
                          <a:latin typeface="Calibri"/>
                          <a:ea typeface="Calibri"/>
                          <a:cs typeface="Calibri"/>
                          <a:sym typeface="Calibri"/>
                        </a:rPr>
                        <a:t>isolates re-ranking</a:t>
                      </a:r>
                      <a:endParaRPr sz="1250" u="none" cap="none" strike="noStrike">
                        <a:latin typeface="Calibri"/>
                        <a:ea typeface="Calibri"/>
                        <a:cs typeface="Calibri"/>
                        <a:sym typeface="Calibri"/>
                      </a:endParaRPr>
                    </a:p>
                  </a:txBody>
                  <a:tcPr marT="45725" marB="45725" marR="91450" marL="91450" anchor="ctr">
                    <a:lnL cap="flat" cmpd="sng" w="12700">
                      <a:solidFill>
                        <a:srgbClr val="E1E7F0"/>
                      </a:solidFill>
                      <a:prstDash val="solid"/>
                      <a:round/>
                      <a:headEnd len="sm" w="sm" type="none"/>
                      <a:tailEnd len="sm" w="sm" type="none"/>
                    </a:lnL>
                    <a:lnR cap="flat" cmpd="sng" w="12700">
                      <a:solidFill>
                        <a:srgbClr val="E1E7F0"/>
                      </a:solidFill>
                      <a:prstDash val="solid"/>
                      <a:round/>
                      <a:headEnd len="sm" w="sm" type="none"/>
                      <a:tailEnd len="sm" w="sm" type="none"/>
                    </a:lnR>
                    <a:lnT cap="flat" cmpd="sng" w="12700">
                      <a:solidFill>
                        <a:srgbClr val="E1E7F0"/>
                      </a:solidFill>
                      <a:prstDash val="solid"/>
                      <a:round/>
                      <a:headEnd len="sm" w="sm" type="none"/>
                      <a:tailEnd len="sm" w="sm" type="none"/>
                    </a:lnT>
                    <a:lnB cap="flat" cmpd="sng" w="12700">
                      <a:solidFill>
                        <a:srgbClr val="E1E7F0"/>
                      </a:solidFill>
                      <a:prstDash val="solid"/>
                      <a:round/>
                      <a:headEnd len="sm" w="sm" type="none"/>
                      <a:tailEnd len="sm" w="sm" type="none"/>
                    </a:lnB>
                    <a:solidFill>
                      <a:srgbClr val="FFFFFF"/>
                    </a:solidFill>
                  </a:tcPr>
                </a:tc>
              </a:tr>
              <a:tr h="475500">
                <a:tc>
                  <a:txBody>
                    <a:bodyPr/>
                    <a:lstStyle/>
                    <a:p>
                      <a:pPr indent="0" lvl="0" marL="0" marR="0" rtl="0" algn="l">
                        <a:spcBef>
                          <a:spcPts val="0"/>
                        </a:spcBef>
                        <a:spcAft>
                          <a:spcPts val="0"/>
                        </a:spcAft>
                        <a:buClr>
                          <a:srgbClr val="245C99"/>
                        </a:buClr>
                        <a:buSzPts val="1250"/>
                        <a:buFont typeface="Calibri"/>
                        <a:buNone/>
                      </a:pPr>
                      <a:r>
                        <a:rPr b="1" lang="en-US" sz="1250" u="none" cap="none" strike="noStrike">
                          <a:solidFill>
                            <a:schemeClr val="dk1"/>
                          </a:solidFill>
                          <a:latin typeface="Calibri"/>
                          <a:ea typeface="Calibri"/>
                          <a:cs typeface="Calibri"/>
                          <a:sym typeface="Calibri"/>
                        </a:rPr>
                        <a:t>C</a:t>
                      </a:r>
                      <a:endParaRPr sz="1250" u="none" cap="none" strike="noStrike">
                        <a:solidFill>
                          <a:schemeClr val="dk1"/>
                        </a:solidFill>
                        <a:latin typeface="Calibri"/>
                        <a:ea typeface="Calibri"/>
                        <a:cs typeface="Calibri"/>
                        <a:sym typeface="Calibri"/>
                      </a:endParaRPr>
                    </a:p>
                  </a:txBody>
                  <a:tcPr marT="45725" marB="45725" marR="91450" marL="91450" anchor="ctr">
                    <a:lnL cap="flat" cmpd="sng" w="12700">
                      <a:solidFill>
                        <a:srgbClr val="E1E7F0"/>
                      </a:solidFill>
                      <a:prstDash val="solid"/>
                      <a:round/>
                      <a:headEnd len="sm" w="sm" type="none"/>
                      <a:tailEnd len="sm" w="sm" type="none"/>
                    </a:lnL>
                    <a:lnR cap="flat" cmpd="sng" w="12700">
                      <a:solidFill>
                        <a:srgbClr val="E1E7F0"/>
                      </a:solidFill>
                      <a:prstDash val="solid"/>
                      <a:round/>
                      <a:headEnd len="sm" w="sm" type="none"/>
                      <a:tailEnd len="sm" w="sm" type="none"/>
                    </a:lnR>
                    <a:lnT cap="flat" cmpd="sng" w="12700">
                      <a:solidFill>
                        <a:srgbClr val="E1E7F0"/>
                      </a:solidFill>
                      <a:prstDash val="solid"/>
                      <a:round/>
                      <a:headEnd len="sm" w="sm" type="none"/>
                      <a:tailEnd len="sm" w="sm" type="none"/>
                    </a:lnT>
                    <a:lnB cap="flat" cmpd="sng" w="12700">
                      <a:solidFill>
                        <a:srgbClr val="E1E7F0"/>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2A3547"/>
                        </a:buClr>
                        <a:buSzPts val="1250"/>
                        <a:buFont typeface="Calibri"/>
                        <a:buNone/>
                      </a:pPr>
                      <a:r>
                        <a:rPr lang="en-US" sz="1250" u="none" cap="none" strike="noStrike">
                          <a:solidFill>
                            <a:srgbClr val="2A3547"/>
                          </a:solidFill>
                          <a:latin typeface="Calibri"/>
                          <a:ea typeface="Calibri"/>
                          <a:cs typeface="Calibri"/>
                          <a:sym typeface="Calibri"/>
                        </a:rPr>
                        <a:t>London + external</a:t>
                      </a:r>
                      <a:endParaRPr sz="1250" u="none" cap="none" strike="noStrike">
                        <a:latin typeface="Calibri"/>
                        <a:ea typeface="Calibri"/>
                        <a:cs typeface="Calibri"/>
                        <a:sym typeface="Calibri"/>
                      </a:endParaRPr>
                    </a:p>
                  </a:txBody>
                  <a:tcPr marT="45725" marB="45725" marR="91450" marL="91450" anchor="ctr">
                    <a:lnL cap="flat" cmpd="sng" w="12700">
                      <a:solidFill>
                        <a:srgbClr val="E1E7F0"/>
                      </a:solidFill>
                      <a:prstDash val="solid"/>
                      <a:round/>
                      <a:headEnd len="sm" w="sm" type="none"/>
                      <a:tailEnd len="sm" w="sm" type="none"/>
                    </a:lnL>
                    <a:lnR cap="flat" cmpd="sng" w="12700">
                      <a:solidFill>
                        <a:srgbClr val="E1E7F0"/>
                      </a:solidFill>
                      <a:prstDash val="solid"/>
                      <a:round/>
                      <a:headEnd len="sm" w="sm" type="none"/>
                      <a:tailEnd len="sm" w="sm" type="none"/>
                    </a:lnR>
                    <a:lnT cap="flat" cmpd="sng" w="12700">
                      <a:solidFill>
                        <a:srgbClr val="E1E7F0"/>
                      </a:solidFill>
                      <a:prstDash val="solid"/>
                      <a:round/>
                      <a:headEnd len="sm" w="sm" type="none"/>
                      <a:tailEnd len="sm" w="sm" type="none"/>
                    </a:lnT>
                    <a:lnB cap="flat" cmpd="sng" w="12700">
                      <a:solidFill>
                        <a:srgbClr val="E1E7F0"/>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2A3547"/>
                        </a:buClr>
                        <a:buSzPts val="1250"/>
                        <a:buFont typeface="Calibri"/>
                        <a:buNone/>
                      </a:pPr>
                      <a:r>
                        <a:rPr lang="en-US" sz="1250" u="none" cap="none" strike="noStrike">
                          <a:solidFill>
                            <a:srgbClr val="2A3547"/>
                          </a:solidFill>
                          <a:latin typeface="Calibri"/>
                          <a:ea typeface="Calibri"/>
                          <a:cs typeface="Calibri"/>
                          <a:sym typeface="Calibri"/>
                        </a:rPr>
                        <a:t>National</a:t>
                      </a:r>
                      <a:endParaRPr sz="1250" u="none" cap="none" strike="noStrike">
                        <a:latin typeface="Calibri"/>
                        <a:ea typeface="Calibri"/>
                        <a:cs typeface="Calibri"/>
                        <a:sym typeface="Calibri"/>
                      </a:endParaRPr>
                    </a:p>
                  </a:txBody>
                  <a:tcPr marT="45725" marB="45725" marR="91450" marL="91450" anchor="ctr">
                    <a:lnL cap="flat" cmpd="sng" w="12700">
                      <a:solidFill>
                        <a:srgbClr val="E1E7F0"/>
                      </a:solidFill>
                      <a:prstDash val="solid"/>
                      <a:round/>
                      <a:headEnd len="sm" w="sm" type="none"/>
                      <a:tailEnd len="sm" w="sm" type="none"/>
                    </a:lnL>
                    <a:lnR cap="flat" cmpd="sng" w="12700">
                      <a:solidFill>
                        <a:srgbClr val="E1E7F0"/>
                      </a:solidFill>
                      <a:prstDash val="solid"/>
                      <a:round/>
                      <a:headEnd len="sm" w="sm" type="none"/>
                      <a:tailEnd len="sm" w="sm" type="none"/>
                    </a:lnR>
                    <a:lnT cap="flat" cmpd="sng" w="12700">
                      <a:solidFill>
                        <a:srgbClr val="E1E7F0"/>
                      </a:solidFill>
                      <a:prstDash val="solid"/>
                      <a:round/>
                      <a:headEnd len="sm" w="sm" type="none"/>
                      <a:tailEnd len="sm" w="sm" type="none"/>
                    </a:lnT>
                    <a:lnB cap="flat" cmpd="sng" w="12700">
                      <a:solidFill>
                        <a:srgbClr val="E1E7F0"/>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245C99"/>
                        </a:buClr>
                        <a:buSzPts val="1250"/>
                        <a:buFont typeface="Calibri"/>
                        <a:buNone/>
                      </a:pPr>
                      <a:r>
                        <a:rPr b="1" lang="en-US" sz="1250" u="none" cap="none" strike="noStrike">
                          <a:solidFill>
                            <a:schemeClr val="dk1"/>
                          </a:solidFill>
                          <a:latin typeface="Calibri"/>
                          <a:ea typeface="Calibri"/>
                          <a:cs typeface="Calibri"/>
                          <a:sym typeface="Calibri"/>
                        </a:rPr>
                        <a:t>complementary</a:t>
                      </a:r>
                      <a:endParaRPr sz="1250" u="none" cap="none" strike="noStrike">
                        <a:solidFill>
                          <a:schemeClr val="dk1"/>
                        </a:solidFill>
                        <a:latin typeface="Calibri"/>
                        <a:ea typeface="Calibri"/>
                        <a:cs typeface="Calibri"/>
                        <a:sym typeface="Calibri"/>
                      </a:endParaRPr>
                    </a:p>
                  </a:txBody>
                  <a:tcPr marT="45725" marB="45725" marR="91450" marL="91450" anchor="ctr">
                    <a:lnL cap="flat" cmpd="sng" w="12700">
                      <a:solidFill>
                        <a:srgbClr val="E1E7F0"/>
                      </a:solidFill>
                      <a:prstDash val="solid"/>
                      <a:round/>
                      <a:headEnd len="sm" w="sm" type="none"/>
                      <a:tailEnd len="sm" w="sm" type="none"/>
                    </a:lnL>
                    <a:lnR cap="flat" cmpd="sng" w="12700">
                      <a:solidFill>
                        <a:srgbClr val="E1E7F0"/>
                      </a:solidFill>
                      <a:prstDash val="solid"/>
                      <a:round/>
                      <a:headEnd len="sm" w="sm" type="none"/>
                      <a:tailEnd len="sm" w="sm" type="none"/>
                    </a:lnR>
                    <a:lnT cap="flat" cmpd="sng" w="12700">
                      <a:solidFill>
                        <a:srgbClr val="E1E7F0"/>
                      </a:solidFill>
                      <a:prstDash val="solid"/>
                      <a:round/>
                      <a:headEnd len="sm" w="sm" type="none"/>
                      <a:tailEnd len="sm" w="sm" type="none"/>
                    </a:lnT>
                    <a:lnB cap="flat" cmpd="sng" w="12700">
                      <a:solidFill>
                        <a:srgbClr val="E1E7F0"/>
                      </a:solidFill>
                      <a:prstDash val="solid"/>
                      <a:round/>
                      <a:headEnd len="sm" w="sm" type="none"/>
                      <a:tailEnd len="sm" w="sm" type="none"/>
                    </a:lnB>
                    <a:solidFill>
                      <a:srgbClr val="FFFFFF"/>
                    </a:solidFill>
                  </a:tcPr>
                </a:tc>
              </a:tr>
            </a:tbl>
          </a:graphicData>
        </a:graphic>
      </p:graphicFrame>
      <p:sp>
        <p:nvSpPr>
          <p:cNvPr id="154" name="Google Shape;154;p8"/>
          <p:cNvSpPr/>
          <p:nvPr/>
        </p:nvSpPr>
        <p:spPr>
          <a:xfrm>
            <a:off x="594360" y="4160520"/>
            <a:ext cx="5852160" cy="822960"/>
          </a:xfrm>
          <a:prstGeom prst="rect">
            <a:avLst/>
          </a:prstGeom>
          <a:noFill/>
          <a:ln>
            <a:noFill/>
          </a:ln>
        </p:spPr>
        <p:txBody>
          <a:bodyPr anchorCtr="0" anchor="ctr" bIns="0" lIns="0" spcFirstLastPara="1" rIns="0" wrap="square" tIns="0">
            <a:noAutofit/>
          </a:bodyPr>
          <a:lstStyle/>
          <a:p>
            <a:pPr indent="0" lvl="0" marL="0" marR="0" rtl="0" algn="l">
              <a:lnSpc>
                <a:spcPct val="125000"/>
              </a:lnSpc>
              <a:spcBef>
                <a:spcPts val="0"/>
              </a:spcBef>
              <a:spcAft>
                <a:spcPts val="0"/>
              </a:spcAft>
              <a:buClr>
                <a:srgbClr val="16233B"/>
              </a:buClr>
              <a:buSzPts val="1350"/>
              <a:buFont typeface="Calibri"/>
              <a:buNone/>
            </a:pPr>
            <a:r>
              <a:rPr b="1" i="0" lang="en-US" sz="1350" u="none" cap="none" strike="noStrike">
                <a:solidFill>
                  <a:srgbClr val="16233B"/>
                </a:solidFill>
                <a:latin typeface="Calibri"/>
                <a:ea typeface="Calibri"/>
                <a:cs typeface="Calibri"/>
                <a:sym typeface="Calibri"/>
              </a:rPr>
              <a:t>Reclassification = B − A</a:t>
            </a:r>
            <a:r>
              <a:rPr b="0" i="0" lang="en-US" sz="1350" u="none" cap="none" strike="noStrike">
                <a:solidFill>
                  <a:srgbClr val="6E7C90"/>
                </a:solidFill>
                <a:latin typeface="Calibri"/>
                <a:ea typeface="Calibri"/>
                <a:cs typeface="Calibri"/>
                <a:sym typeface="Calibri"/>
              </a:rPr>
              <a:t>   (same London-only flows, new ladder)</a:t>
            </a:r>
            <a:endParaRPr b="0" i="0" sz="1350" u="none" cap="none" strike="noStrike">
              <a:solidFill>
                <a:schemeClr val="dk1"/>
              </a:solidFill>
              <a:latin typeface="Calibri"/>
              <a:ea typeface="Calibri"/>
              <a:cs typeface="Calibri"/>
              <a:sym typeface="Calibri"/>
            </a:endParaRPr>
          </a:p>
          <a:p>
            <a:pPr indent="0" lvl="0" marL="0" marR="0" rtl="0" algn="l">
              <a:lnSpc>
                <a:spcPct val="125000"/>
              </a:lnSpc>
              <a:spcBef>
                <a:spcPts val="0"/>
              </a:spcBef>
              <a:spcAft>
                <a:spcPts val="0"/>
              </a:spcAft>
              <a:buClr>
                <a:srgbClr val="16233B"/>
              </a:buClr>
              <a:buSzPts val="1350"/>
              <a:buFont typeface="Calibri"/>
              <a:buNone/>
            </a:pPr>
            <a:r>
              <a:rPr b="1" i="0" lang="en-US" sz="1350" u="none" cap="none" strike="noStrike">
                <a:solidFill>
                  <a:srgbClr val="16233B"/>
                </a:solidFill>
                <a:latin typeface="Calibri"/>
                <a:ea typeface="Calibri"/>
                <a:cs typeface="Calibri"/>
                <a:sym typeface="Calibri"/>
              </a:rPr>
              <a:t>External flows = C − B</a:t>
            </a:r>
            <a:r>
              <a:rPr lang="en-US" sz="1350">
                <a:solidFill>
                  <a:schemeClr val="dk1"/>
                </a:solidFill>
                <a:latin typeface="Calibri"/>
                <a:ea typeface="Calibri"/>
                <a:cs typeface="Calibri"/>
                <a:sym typeface="Calibri"/>
              </a:rPr>
              <a:t>     </a:t>
            </a:r>
            <a:r>
              <a:rPr b="0" i="0" lang="en-US" sz="1350" u="none" cap="none" strike="noStrike">
                <a:solidFill>
                  <a:srgbClr val="6E7C90"/>
                </a:solidFill>
                <a:latin typeface="Calibri"/>
                <a:ea typeface="Calibri"/>
                <a:cs typeface="Calibri"/>
                <a:sym typeface="Calibri"/>
              </a:rPr>
              <a:t>(same national ladder, added external flows)</a:t>
            </a:r>
            <a:endParaRPr b="0" i="0" sz="1350" u="none" cap="none" strike="noStrike">
              <a:solidFill>
                <a:schemeClr val="dk1"/>
              </a:solidFill>
              <a:latin typeface="Calibri"/>
              <a:ea typeface="Calibri"/>
              <a:cs typeface="Calibri"/>
              <a:sym typeface="Calibri"/>
            </a:endParaRPr>
          </a:p>
        </p:txBody>
      </p:sp>
      <p:sp>
        <p:nvSpPr>
          <p:cNvPr id="155" name="Google Shape;155;p8"/>
          <p:cNvSpPr/>
          <p:nvPr/>
        </p:nvSpPr>
        <p:spPr>
          <a:xfrm>
            <a:off x="594351" y="5120650"/>
            <a:ext cx="10546200" cy="1005900"/>
          </a:xfrm>
          <a:prstGeom prst="rect">
            <a:avLst/>
          </a:prstGeom>
          <a:noFill/>
          <a:ln>
            <a:noFill/>
          </a:ln>
        </p:spPr>
        <p:txBody>
          <a:bodyPr anchorCtr="0" anchor="ctr" bIns="0" lIns="0" spcFirstLastPara="1" rIns="0" wrap="square" tIns="0">
            <a:noAutofit/>
          </a:bodyPr>
          <a:lstStyle/>
          <a:p>
            <a:pPr indent="0" lvl="0" marL="0" marR="0" rtl="0" algn="l">
              <a:lnSpc>
                <a:spcPct val="108000"/>
              </a:lnSpc>
              <a:spcBef>
                <a:spcPts val="0"/>
              </a:spcBef>
              <a:spcAft>
                <a:spcPts val="0"/>
              </a:spcAft>
              <a:buClr>
                <a:srgbClr val="16233B"/>
              </a:buClr>
              <a:buSzPts val="1350"/>
              <a:buFont typeface="Calibri"/>
              <a:buNone/>
            </a:pPr>
            <a:r>
              <a:rPr b="1" i="0" lang="en-US" sz="1350" u="none" cap="none" strike="noStrike">
                <a:solidFill>
                  <a:srgbClr val="16233B"/>
                </a:solidFill>
                <a:latin typeface="Calibri"/>
                <a:ea typeface="Calibri"/>
                <a:cs typeface="Calibri"/>
                <a:sym typeface="Calibri"/>
              </a:rPr>
              <a:t>~69% of London sits below national D6</a:t>
            </a:r>
            <a:r>
              <a:rPr b="0" i="0" lang="en-US" sz="1350" u="none" cap="none" strike="noStrike">
                <a:solidFill>
                  <a:srgbClr val="2A3547"/>
                </a:solidFill>
                <a:latin typeface="Calibri"/>
                <a:ea typeface="Calibri"/>
                <a:cs typeface="Calibri"/>
                <a:sym typeface="Calibri"/>
              </a:rPr>
              <a:t> — the national ladder compresses most of London into one band, so A stays the faithful gentrification lens.</a:t>
            </a:r>
            <a:endParaRPr b="0" i="0" sz="1350" u="none" cap="none" strike="noStrike">
              <a:solidFill>
                <a:schemeClr val="dk1"/>
              </a:solidFill>
              <a:latin typeface="Calibri"/>
              <a:ea typeface="Calibri"/>
              <a:cs typeface="Calibri"/>
              <a:sym typeface="Calibri"/>
            </a:endParaRPr>
          </a:p>
        </p:txBody>
      </p:sp>
      <p:pic>
        <p:nvPicPr>
          <p:cNvPr descr="img/fig20b.png" id="156" name="Google Shape;156;p8"/>
          <p:cNvPicPr preferRelativeResize="0"/>
          <p:nvPr/>
        </p:nvPicPr>
        <p:blipFill rotWithShape="1">
          <a:blip r:embed="rId3">
            <a:alphaModFix/>
          </a:blip>
          <a:srcRect b="0" l="0" r="0" t="0"/>
          <a:stretch/>
        </p:blipFill>
        <p:spPr>
          <a:xfrm>
            <a:off x="6537980" y="1763275"/>
            <a:ext cx="5486398" cy="2108728"/>
          </a:xfrm>
          <a:prstGeom prst="rect">
            <a:avLst/>
          </a:prstGeom>
          <a:noFill/>
          <a:ln>
            <a:noFill/>
          </a:ln>
        </p:spPr>
      </p:pic>
      <p:sp>
        <p:nvSpPr>
          <p:cNvPr id="157" name="Google Shape;157;p8"/>
          <p:cNvSpPr/>
          <p:nvPr/>
        </p:nvSpPr>
        <p:spPr>
          <a:xfrm>
            <a:off x="6537980" y="4184415"/>
            <a:ext cx="5486400" cy="777300"/>
          </a:xfrm>
          <a:prstGeom prst="rect">
            <a:avLst/>
          </a:prstGeom>
          <a:noFill/>
          <a:ln>
            <a:noFill/>
          </a:ln>
        </p:spPr>
        <p:txBody>
          <a:bodyPr anchorCtr="0" anchor="ctr" bIns="0" lIns="0" spcFirstLastPara="1" rIns="0" wrap="square" tIns="0">
            <a:noAutofit/>
          </a:bodyPr>
          <a:lstStyle/>
          <a:p>
            <a:pPr indent="0" lvl="0" marL="0" marR="0" rtl="0" algn="l">
              <a:lnSpc>
                <a:spcPct val="105000"/>
              </a:lnSpc>
              <a:spcBef>
                <a:spcPts val="0"/>
              </a:spcBef>
              <a:spcAft>
                <a:spcPts val="0"/>
              </a:spcAft>
              <a:buClr>
                <a:srgbClr val="6E7C90"/>
              </a:buClr>
              <a:buSzPts val="1250"/>
              <a:buFont typeface="Calibri"/>
              <a:buNone/>
            </a:pPr>
            <a:r>
              <a:rPr b="0" i="1" lang="en-US" sz="1250" u="none" cap="none" strike="noStrike">
                <a:solidFill>
                  <a:srgbClr val="6E7C90"/>
                </a:solidFill>
                <a:latin typeface="Calibri"/>
                <a:ea typeface="Calibri"/>
                <a:cs typeface="Calibri"/>
                <a:sym typeface="Calibri"/>
              </a:rPr>
              <a:t>Within-London flows dominate both directions; the one big 2021 change is the surge in London→outside moves — the exodus signal.</a:t>
            </a:r>
            <a:endParaRPr b="0" i="0" sz="1250" u="none" cap="none" strike="noStrike">
              <a:solidFill>
                <a:schemeClr val="dk1"/>
              </a:solidFill>
              <a:latin typeface="Calibri"/>
              <a:ea typeface="Calibri"/>
              <a:cs typeface="Calibri"/>
              <a:sym typeface="Calibri"/>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62" name="Shape 162"/>
        <p:cNvGrpSpPr/>
        <p:nvPr/>
      </p:nvGrpSpPr>
      <p:grpSpPr>
        <a:xfrm>
          <a:off x="0" y="0"/>
          <a:ext cx="0" cy="0"/>
          <a:chOff x="0" y="0"/>
          <a:chExt cx="0" cy="0"/>
        </a:xfrm>
      </p:grpSpPr>
      <p:sp>
        <p:nvSpPr>
          <p:cNvPr id="163" name="Google Shape;163;p9"/>
          <p:cNvSpPr/>
          <p:nvPr/>
        </p:nvSpPr>
        <p:spPr>
          <a:xfrm>
            <a:off x="594360" y="411480"/>
            <a:ext cx="11000232" cy="29260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E7C90"/>
              </a:buClr>
              <a:buSzPts val="1200"/>
              <a:buFont typeface="Calibri"/>
              <a:buNone/>
            </a:pPr>
            <a:r>
              <a:rPr b="1" i="0" lang="en-US" sz="1200" u="none" cap="none" strike="noStrike">
                <a:solidFill>
                  <a:srgbClr val="6E7C90"/>
                </a:solidFill>
                <a:latin typeface="Calibri"/>
                <a:ea typeface="Calibri"/>
                <a:cs typeface="Calibri"/>
                <a:sym typeface="Calibri"/>
              </a:rPr>
              <a:t>METHODOLOGY · 5 OF 5</a:t>
            </a:r>
            <a:endParaRPr b="0" i="0" sz="1200" u="none" cap="none" strike="noStrike">
              <a:solidFill>
                <a:schemeClr val="dk1"/>
              </a:solidFill>
              <a:latin typeface="Calibri"/>
              <a:ea typeface="Calibri"/>
              <a:cs typeface="Calibri"/>
              <a:sym typeface="Calibri"/>
            </a:endParaRPr>
          </a:p>
        </p:txBody>
      </p:sp>
      <p:sp>
        <p:nvSpPr>
          <p:cNvPr id="164" name="Google Shape;164;p9"/>
          <p:cNvSpPr/>
          <p:nvPr/>
        </p:nvSpPr>
        <p:spPr>
          <a:xfrm>
            <a:off x="11210544" y="365760"/>
            <a:ext cx="384048" cy="384048"/>
          </a:xfrm>
          <a:prstGeom prst="ellipse">
            <a:avLst/>
          </a:prstGeom>
          <a:solidFill>
            <a:srgbClr val="16233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5" name="Google Shape;165;p9"/>
          <p:cNvSpPr/>
          <p:nvPr/>
        </p:nvSpPr>
        <p:spPr>
          <a:xfrm>
            <a:off x="11210544" y="365760"/>
            <a:ext cx="384048" cy="38404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600"/>
              <a:buFont typeface="Calibri"/>
              <a:buNone/>
            </a:pPr>
            <a:r>
              <a:rPr b="1" i="0" lang="en-US" sz="1600" u="none" cap="none" strike="noStrike">
                <a:solidFill>
                  <a:srgbClr val="FFFFFF"/>
                </a:solidFill>
                <a:latin typeface="Calibri"/>
                <a:ea typeface="Calibri"/>
                <a:cs typeface="Calibri"/>
                <a:sym typeface="Calibri"/>
              </a:rPr>
              <a:t>5</a:t>
            </a:r>
            <a:endParaRPr b="0" i="0" sz="1600" u="none" cap="none" strike="noStrike">
              <a:solidFill>
                <a:schemeClr val="dk1"/>
              </a:solidFill>
              <a:latin typeface="Calibri"/>
              <a:ea typeface="Calibri"/>
              <a:cs typeface="Calibri"/>
              <a:sym typeface="Calibri"/>
            </a:endParaRPr>
          </a:p>
        </p:txBody>
      </p:sp>
      <p:sp>
        <p:nvSpPr>
          <p:cNvPr id="166" name="Google Shape;166;p9"/>
          <p:cNvSpPr/>
          <p:nvPr/>
        </p:nvSpPr>
        <p:spPr>
          <a:xfrm>
            <a:off x="594360" y="749808"/>
            <a:ext cx="11000232" cy="822960"/>
          </a:xfrm>
          <a:prstGeom prst="rect">
            <a:avLst/>
          </a:prstGeom>
          <a:noFill/>
          <a:ln>
            <a:noFill/>
          </a:ln>
        </p:spPr>
        <p:txBody>
          <a:bodyPr anchorCtr="0" anchor="t" bIns="0" lIns="0" spcFirstLastPara="1" rIns="0" wrap="square" tIns="0">
            <a:noAutofit/>
          </a:bodyPr>
          <a:lstStyle/>
          <a:p>
            <a:pPr indent="0" lvl="0" marL="0" marR="0" rtl="0" algn="l">
              <a:lnSpc>
                <a:spcPct val="98000"/>
              </a:lnSpc>
              <a:spcBef>
                <a:spcPts val="0"/>
              </a:spcBef>
              <a:spcAft>
                <a:spcPts val="0"/>
              </a:spcAft>
              <a:buClr>
                <a:srgbClr val="16233B"/>
              </a:buClr>
              <a:buSzPts val="3200"/>
              <a:buFont typeface="Cambria"/>
              <a:buNone/>
            </a:pPr>
            <a:r>
              <a:rPr b="1" i="0" lang="en-US" sz="3200" u="none" cap="none" strike="noStrike">
                <a:solidFill>
                  <a:srgbClr val="16233B"/>
                </a:solidFill>
                <a:latin typeface="Cambria"/>
                <a:ea typeface="Cambria"/>
                <a:cs typeface="Cambria"/>
                <a:sym typeface="Cambria"/>
              </a:rPr>
              <a:t>Testing the assumption against three independent checks</a:t>
            </a:r>
            <a:endParaRPr b="0" i="0" sz="3200" u="none" cap="none" strike="noStrike">
              <a:solidFill>
                <a:schemeClr val="dk1"/>
              </a:solidFill>
              <a:latin typeface="Calibri"/>
              <a:ea typeface="Calibri"/>
              <a:cs typeface="Calibri"/>
              <a:sym typeface="Calibri"/>
            </a:endParaRPr>
          </a:p>
        </p:txBody>
      </p:sp>
      <p:sp>
        <p:nvSpPr>
          <p:cNvPr id="167" name="Google Shape;167;p9"/>
          <p:cNvSpPr/>
          <p:nvPr/>
        </p:nvSpPr>
        <p:spPr>
          <a:xfrm>
            <a:off x="4937760" y="2103120"/>
            <a:ext cx="2331720" cy="914400"/>
          </a:xfrm>
          <a:prstGeom prst="roundRect">
            <a:avLst>
              <a:gd fmla="val 10000" name="adj"/>
            </a:avLst>
          </a:prstGeom>
          <a:solidFill>
            <a:srgbClr val="16233B"/>
          </a:solidFill>
          <a:ln>
            <a:noFill/>
          </a:ln>
          <a:effectLst>
            <a:outerShdw blurRad="101600" rotWithShape="0" algn="bl" dir="5400000" dist="38100">
              <a:srgbClr val="9AA6B8">
                <a:alpha val="27843"/>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8" name="Google Shape;168;p9"/>
          <p:cNvSpPr/>
          <p:nvPr/>
        </p:nvSpPr>
        <p:spPr>
          <a:xfrm>
            <a:off x="4937760" y="2103120"/>
            <a:ext cx="2331720" cy="9144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700"/>
              <a:buFont typeface="Cambria"/>
              <a:buNone/>
            </a:pPr>
            <a:r>
              <a:rPr b="1" i="0" lang="en-US" sz="1700" u="none" cap="none" strike="noStrike">
                <a:solidFill>
                  <a:srgbClr val="FFFFFF"/>
                </a:solidFill>
                <a:latin typeface="Cambria"/>
                <a:ea typeface="Cambria"/>
                <a:cs typeface="Cambria"/>
                <a:sym typeface="Cambria"/>
              </a:rPr>
              <a:t>Flow typology</a:t>
            </a:r>
            <a:endParaRPr b="0" i="0" sz="1700" u="none" cap="none" strike="noStrike">
              <a:solidFill>
                <a:schemeClr val="dk1"/>
              </a:solidFill>
              <a:latin typeface="Calibri"/>
              <a:ea typeface="Calibri"/>
              <a:cs typeface="Calibri"/>
              <a:sym typeface="Calibri"/>
            </a:endParaRPr>
          </a:p>
        </p:txBody>
      </p:sp>
      <p:cxnSp>
        <p:nvCxnSpPr>
          <p:cNvPr id="169" name="Google Shape;169;p9"/>
          <p:cNvCxnSpPr/>
          <p:nvPr/>
        </p:nvCxnSpPr>
        <p:spPr>
          <a:xfrm flipH="1">
            <a:off x="2345436" y="3017520"/>
            <a:ext cx="3753612" cy="960120"/>
          </a:xfrm>
          <a:prstGeom prst="straightConnector1">
            <a:avLst/>
          </a:prstGeom>
          <a:noFill/>
          <a:ln cap="flat" cmpd="sng" w="19050">
            <a:solidFill>
              <a:srgbClr val="B9C3D2"/>
            </a:solidFill>
            <a:prstDash val="solid"/>
            <a:round/>
            <a:headEnd len="sm" w="sm" type="none"/>
            <a:tailEnd len="sm" w="sm" type="none"/>
          </a:ln>
        </p:spPr>
      </p:cxnSp>
      <p:sp>
        <p:nvSpPr>
          <p:cNvPr id="170" name="Google Shape;170;p9"/>
          <p:cNvSpPr/>
          <p:nvPr/>
        </p:nvSpPr>
        <p:spPr>
          <a:xfrm>
            <a:off x="653796" y="3977640"/>
            <a:ext cx="3383280" cy="1417320"/>
          </a:xfrm>
          <a:prstGeom prst="roundRect">
            <a:avLst>
              <a:gd fmla="val 5806" name="adj"/>
            </a:avLst>
          </a:prstGeom>
          <a:solidFill>
            <a:srgbClr val="FFFFFF"/>
          </a:solidFill>
          <a:ln>
            <a:noFill/>
          </a:ln>
          <a:effectLst>
            <a:outerShdw blurRad="101600" rotWithShape="0" algn="bl" dir="5400000" dist="38100">
              <a:srgbClr val="9AA6B8">
                <a:alpha val="27843"/>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1" name="Google Shape;171;p9"/>
          <p:cNvSpPr/>
          <p:nvPr/>
        </p:nvSpPr>
        <p:spPr>
          <a:xfrm>
            <a:off x="909828" y="4233672"/>
            <a:ext cx="274320" cy="274320"/>
          </a:xfrm>
          <a:prstGeom prst="ellipse">
            <a:avLst/>
          </a:prstGeom>
          <a:solidFill>
            <a:srgbClr val="C6551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2" name="Google Shape;172;p9"/>
          <p:cNvSpPr/>
          <p:nvPr/>
        </p:nvSpPr>
        <p:spPr>
          <a:xfrm>
            <a:off x="909828" y="4233672"/>
            <a:ext cx="274320" cy="27432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300"/>
              <a:buFont typeface="Calibri"/>
              <a:buNone/>
            </a:pPr>
            <a:r>
              <a:rPr b="1" i="0" lang="en-US" sz="1300" u="none" cap="none" strike="noStrike">
                <a:solidFill>
                  <a:srgbClr val="FFFFFF"/>
                </a:solidFill>
                <a:latin typeface="Calibri"/>
                <a:ea typeface="Calibri"/>
                <a:cs typeface="Calibri"/>
                <a:sym typeface="Calibri"/>
              </a:rPr>
              <a:t>1</a:t>
            </a:r>
            <a:endParaRPr b="0" i="0" sz="1300" u="none" cap="none" strike="noStrike">
              <a:solidFill>
                <a:schemeClr val="dk1"/>
              </a:solidFill>
              <a:latin typeface="Calibri"/>
              <a:ea typeface="Calibri"/>
              <a:cs typeface="Calibri"/>
              <a:sym typeface="Calibri"/>
            </a:endParaRPr>
          </a:p>
        </p:txBody>
      </p:sp>
      <p:sp>
        <p:nvSpPr>
          <p:cNvPr id="173" name="Google Shape;173;p9"/>
          <p:cNvSpPr/>
          <p:nvPr/>
        </p:nvSpPr>
        <p:spPr>
          <a:xfrm>
            <a:off x="1312164" y="4178808"/>
            <a:ext cx="2514600" cy="1051560"/>
          </a:xfrm>
          <a:prstGeom prst="rect">
            <a:avLst/>
          </a:prstGeom>
          <a:noFill/>
          <a:ln>
            <a:noFill/>
          </a:ln>
        </p:spPr>
        <p:txBody>
          <a:bodyPr anchorCtr="0" anchor="t" bIns="0" lIns="0" spcFirstLastPara="1" rIns="0" wrap="square" tIns="0">
            <a:noAutofit/>
          </a:bodyPr>
          <a:lstStyle/>
          <a:p>
            <a:pPr indent="0" lvl="0" marL="0" marR="0" rtl="0" algn="l">
              <a:lnSpc>
                <a:spcPct val="105000"/>
              </a:lnSpc>
              <a:spcBef>
                <a:spcPts val="0"/>
              </a:spcBef>
              <a:spcAft>
                <a:spcPts val="0"/>
              </a:spcAft>
              <a:buClr>
                <a:srgbClr val="16233B"/>
              </a:buClr>
              <a:buSzPts val="1500"/>
              <a:buFont typeface="Calibri"/>
              <a:buNone/>
            </a:pPr>
            <a:r>
              <a:rPr b="1" i="0" lang="en-US" sz="1500" u="none" cap="none" strike="noStrike">
                <a:solidFill>
                  <a:srgbClr val="16233B"/>
                </a:solidFill>
                <a:latin typeface="Calibri"/>
                <a:ea typeface="Calibri"/>
                <a:cs typeface="Calibri"/>
                <a:sym typeface="Calibri"/>
              </a:rPr>
              <a:t>IMD percentile change</a:t>
            </a:r>
            <a:endParaRPr b="0" i="0" sz="1500" u="none" cap="none" strike="noStrike">
              <a:solidFill>
                <a:schemeClr val="dk1"/>
              </a:solidFill>
              <a:latin typeface="Calibri"/>
              <a:ea typeface="Calibri"/>
              <a:cs typeface="Calibri"/>
              <a:sym typeface="Calibri"/>
            </a:endParaRPr>
          </a:p>
          <a:p>
            <a:pPr indent="0" lvl="0" marL="0" marR="0" rtl="0" algn="l">
              <a:lnSpc>
                <a:spcPct val="105000"/>
              </a:lnSpc>
              <a:spcBef>
                <a:spcPts val="400"/>
              </a:spcBef>
              <a:spcAft>
                <a:spcPts val="0"/>
              </a:spcAft>
              <a:buClr>
                <a:srgbClr val="2A3547"/>
              </a:buClr>
              <a:buSzPts val="1250"/>
              <a:buFont typeface="Calibri"/>
              <a:buNone/>
            </a:pPr>
            <a:r>
              <a:rPr b="0" i="0" lang="en-US" sz="1250" u="none" cap="none" strike="noStrike">
                <a:solidFill>
                  <a:srgbClr val="2A3547"/>
                </a:solidFill>
                <a:latin typeface="Calibri"/>
                <a:ea typeface="Calibri"/>
                <a:cs typeface="Calibri"/>
                <a:sym typeface="Calibri"/>
              </a:rPr>
              <a:t>2010 → 2019 — did the area's deprivation actually improve?</a:t>
            </a:r>
            <a:endParaRPr b="0" i="0" sz="1500" u="none" cap="none" strike="noStrike">
              <a:solidFill>
                <a:schemeClr val="dk1"/>
              </a:solidFill>
              <a:latin typeface="Calibri"/>
              <a:ea typeface="Calibri"/>
              <a:cs typeface="Calibri"/>
              <a:sym typeface="Calibri"/>
            </a:endParaRPr>
          </a:p>
        </p:txBody>
      </p:sp>
      <p:cxnSp>
        <p:nvCxnSpPr>
          <p:cNvPr id="174" name="Google Shape;174;p9"/>
          <p:cNvCxnSpPr/>
          <p:nvPr/>
        </p:nvCxnSpPr>
        <p:spPr>
          <a:xfrm flipH="1">
            <a:off x="6094476" y="3017520"/>
            <a:ext cx="4572" cy="960120"/>
          </a:xfrm>
          <a:prstGeom prst="straightConnector1">
            <a:avLst/>
          </a:prstGeom>
          <a:noFill/>
          <a:ln cap="flat" cmpd="sng" w="19050">
            <a:solidFill>
              <a:srgbClr val="B9C3D2"/>
            </a:solidFill>
            <a:prstDash val="solid"/>
            <a:round/>
            <a:headEnd len="sm" w="sm" type="none"/>
            <a:tailEnd len="sm" w="sm" type="none"/>
          </a:ln>
        </p:spPr>
      </p:cxnSp>
      <p:sp>
        <p:nvSpPr>
          <p:cNvPr id="175" name="Google Shape;175;p9"/>
          <p:cNvSpPr/>
          <p:nvPr/>
        </p:nvSpPr>
        <p:spPr>
          <a:xfrm>
            <a:off x="4402836" y="3977640"/>
            <a:ext cx="3383280" cy="1417320"/>
          </a:xfrm>
          <a:prstGeom prst="roundRect">
            <a:avLst>
              <a:gd fmla="val 5806" name="adj"/>
            </a:avLst>
          </a:prstGeom>
          <a:solidFill>
            <a:srgbClr val="FFFFFF"/>
          </a:solidFill>
          <a:ln>
            <a:noFill/>
          </a:ln>
          <a:effectLst>
            <a:outerShdw blurRad="101600" rotWithShape="0" algn="bl" dir="5400000" dist="38100">
              <a:srgbClr val="9AA6B8">
                <a:alpha val="27843"/>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6" name="Google Shape;176;p9"/>
          <p:cNvSpPr/>
          <p:nvPr/>
        </p:nvSpPr>
        <p:spPr>
          <a:xfrm>
            <a:off x="4658868" y="4233672"/>
            <a:ext cx="274320" cy="274320"/>
          </a:xfrm>
          <a:prstGeom prst="ellipse">
            <a:avLst/>
          </a:prstGeom>
          <a:solidFill>
            <a:srgbClr val="245C9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7" name="Google Shape;177;p9"/>
          <p:cNvSpPr/>
          <p:nvPr/>
        </p:nvSpPr>
        <p:spPr>
          <a:xfrm>
            <a:off x="4658868" y="4233672"/>
            <a:ext cx="274320" cy="27432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300"/>
              <a:buFont typeface="Calibri"/>
              <a:buNone/>
            </a:pPr>
            <a:r>
              <a:rPr b="1" i="0" lang="en-US" sz="1300" u="none" cap="none" strike="noStrike">
                <a:solidFill>
                  <a:srgbClr val="FFFFFF"/>
                </a:solidFill>
                <a:latin typeface="Calibri"/>
                <a:ea typeface="Calibri"/>
                <a:cs typeface="Calibri"/>
                <a:sym typeface="Calibri"/>
              </a:rPr>
              <a:t>2</a:t>
            </a:r>
            <a:endParaRPr b="0" i="0" sz="1300" u="none" cap="none" strike="noStrike">
              <a:solidFill>
                <a:schemeClr val="dk1"/>
              </a:solidFill>
              <a:latin typeface="Calibri"/>
              <a:ea typeface="Calibri"/>
              <a:cs typeface="Calibri"/>
              <a:sym typeface="Calibri"/>
            </a:endParaRPr>
          </a:p>
        </p:txBody>
      </p:sp>
      <p:sp>
        <p:nvSpPr>
          <p:cNvPr id="178" name="Google Shape;178;p9"/>
          <p:cNvSpPr/>
          <p:nvPr/>
        </p:nvSpPr>
        <p:spPr>
          <a:xfrm>
            <a:off x="5061204" y="4178808"/>
            <a:ext cx="2514600" cy="1051560"/>
          </a:xfrm>
          <a:prstGeom prst="rect">
            <a:avLst/>
          </a:prstGeom>
          <a:noFill/>
          <a:ln>
            <a:noFill/>
          </a:ln>
        </p:spPr>
        <p:txBody>
          <a:bodyPr anchorCtr="0" anchor="t" bIns="0" lIns="0" spcFirstLastPara="1" rIns="0" wrap="square" tIns="0">
            <a:noAutofit/>
          </a:bodyPr>
          <a:lstStyle/>
          <a:p>
            <a:pPr indent="0" lvl="0" marL="0" marR="0" rtl="0" algn="l">
              <a:lnSpc>
                <a:spcPct val="105000"/>
              </a:lnSpc>
              <a:spcBef>
                <a:spcPts val="0"/>
              </a:spcBef>
              <a:spcAft>
                <a:spcPts val="0"/>
              </a:spcAft>
              <a:buClr>
                <a:srgbClr val="16233B"/>
              </a:buClr>
              <a:buSzPts val="1500"/>
              <a:buFont typeface="Calibri"/>
              <a:buNone/>
            </a:pPr>
            <a:r>
              <a:rPr b="1" i="0" lang="en-US" sz="1500" u="none" cap="none" strike="noStrike">
                <a:solidFill>
                  <a:srgbClr val="16233B"/>
                </a:solidFill>
                <a:latin typeface="Calibri"/>
                <a:ea typeface="Calibri"/>
                <a:cs typeface="Calibri"/>
                <a:sym typeface="Calibri"/>
              </a:rPr>
              <a:t>Yee &amp; Dennett (2022)</a:t>
            </a:r>
            <a:endParaRPr b="0" i="0" sz="1500" u="none" cap="none" strike="noStrike">
              <a:solidFill>
                <a:schemeClr val="dk1"/>
              </a:solidFill>
              <a:latin typeface="Calibri"/>
              <a:ea typeface="Calibri"/>
              <a:cs typeface="Calibri"/>
              <a:sym typeface="Calibri"/>
            </a:endParaRPr>
          </a:p>
          <a:p>
            <a:pPr indent="0" lvl="0" marL="0" marR="0" rtl="0" algn="l">
              <a:lnSpc>
                <a:spcPct val="105000"/>
              </a:lnSpc>
              <a:spcBef>
                <a:spcPts val="400"/>
              </a:spcBef>
              <a:spcAft>
                <a:spcPts val="0"/>
              </a:spcAft>
              <a:buClr>
                <a:srgbClr val="2A3547"/>
              </a:buClr>
              <a:buSzPts val="1250"/>
              <a:buFont typeface="Calibri"/>
              <a:buNone/>
            </a:pPr>
            <a:r>
              <a:rPr b="0" i="0" lang="en-US" sz="1250" u="none" cap="none" strike="noStrike">
                <a:solidFill>
                  <a:srgbClr val="2A3547"/>
                </a:solidFill>
                <a:latin typeface="Calibri"/>
                <a:ea typeface="Calibri"/>
                <a:cs typeface="Calibri"/>
                <a:sym typeface="Calibri"/>
              </a:rPr>
              <a:t>attribute-based gentrification classification</a:t>
            </a:r>
            <a:endParaRPr b="0" i="0" sz="1500" u="none" cap="none" strike="noStrike">
              <a:solidFill>
                <a:schemeClr val="dk1"/>
              </a:solidFill>
              <a:latin typeface="Calibri"/>
              <a:ea typeface="Calibri"/>
              <a:cs typeface="Calibri"/>
              <a:sym typeface="Calibri"/>
            </a:endParaRPr>
          </a:p>
        </p:txBody>
      </p:sp>
      <p:cxnSp>
        <p:nvCxnSpPr>
          <p:cNvPr id="179" name="Google Shape;179;p9"/>
          <p:cNvCxnSpPr/>
          <p:nvPr/>
        </p:nvCxnSpPr>
        <p:spPr>
          <a:xfrm>
            <a:off x="6099048" y="3017520"/>
            <a:ext cx="3744468" cy="960120"/>
          </a:xfrm>
          <a:prstGeom prst="straightConnector1">
            <a:avLst/>
          </a:prstGeom>
          <a:noFill/>
          <a:ln cap="flat" cmpd="sng" w="19050">
            <a:solidFill>
              <a:srgbClr val="B9C3D2"/>
            </a:solidFill>
            <a:prstDash val="solid"/>
            <a:round/>
            <a:headEnd len="sm" w="sm" type="none"/>
            <a:tailEnd len="sm" w="sm" type="none"/>
          </a:ln>
        </p:spPr>
      </p:cxnSp>
      <p:sp>
        <p:nvSpPr>
          <p:cNvPr id="180" name="Google Shape;180;p9"/>
          <p:cNvSpPr/>
          <p:nvPr/>
        </p:nvSpPr>
        <p:spPr>
          <a:xfrm>
            <a:off x="8151876" y="3977640"/>
            <a:ext cx="3383280" cy="1417320"/>
          </a:xfrm>
          <a:prstGeom prst="roundRect">
            <a:avLst>
              <a:gd fmla="val 5806" name="adj"/>
            </a:avLst>
          </a:prstGeom>
          <a:solidFill>
            <a:srgbClr val="FFFFFF"/>
          </a:solidFill>
          <a:ln>
            <a:noFill/>
          </a:ln>
          <a:effectLst>
            <a:outerShdw blurRad="101600" rotWithShape="0" algn="bl" dir="5400000" dist="38100">
              <a:srgbClr val="9AA6B8">
                <a:alpha val="27843"/>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1" name="Google Shape;181;p9"/>
          <p:cNvSpPr/>
          <p:nvPr/>
        </p:nvSpPr>
        <p:spPr>
          <a:xfrm>
            <a:off x="8407908" y="4233672"/>
            <a:ext cx="274320" cy="274320"/>
          </a:xfrm>
          <a:prstGeom prst="ellipse">
            <a:avLst/>
          </a:prstGeom>
          <a:solidFill>
            <a:srgbClr val="1A7D4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2" name="Google Shape;182;p9"/>
          <p:cNvSpPr/>
          <p:nvPr/>
        </p:nvSpPr>
        <p:spPr>
          <a:xfrm>
            <a:off x="8407908" y="4233672"/>
            <a:ext cx="274320" cy="27432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300"/>
              <a:buFont typeface="Calibri"/>
              <a:buNone/>
            </a:pPr>
            <a:r>
              <a:rPr b="1" i="0" lang="en-US" sz="1300" u="none" cap="none" strike="noStrike">
                <a:solidFill>
                  <a:srgbClr val="FFFFFF"/>
                </a:solidFill>
                <a:latin typeface="Calibri"/>
                <a:ea typeface="Calibri"/>
                <a:cs typeface="Calibri"/>
                <a:sym typeface="Calibri"/>
              </a:rPr>
              <a:t>3</a:t>
            </a:r>
            <a:endParaRPr b="0" i="0" sz="1300" u="none" cap="none" strike="noStrike">
              <a:solidFill>
                <a:schemeClr val="dk1"/>
              </a:solidFill>
              <a:latin typeface="Calibri"/>
              <a:ea typeface="Calibri"/>
              <a:cs typeface="Calibri"/>
              <a:sym typeface="Calibri"/>
            </a:endParaRPr>
          </a:p>
        </p:txBody>
      </p:sp>
      <p:sp>
        <p:nvSpPr>
          <p:cNvPr id="183" name="Google Shape;183;p9"/>
          <p:cNvSpPr/>
          <p:nvPr/>
        </p:nvSpPr>
        <p:spPr>
          <a:xfrm>
            <a:off x="8810244" y="4178808"/>
            <a:ext cx="2514600" cy="1051560"/>
          </a:xfrm>
          <a:prstGeom prst="rect">
            <a:avLst/>
          </a:prstGeom>
          <a:noFill/>
          <a:ln>
            <a:noFill/>
          </a:ln>
        </p:spPr>
        <p:txBody>
          <a:bodyPr anchorCtr="0" anchor="t" bIns="0" lIns="0" spcFirstLastPara="1" rIns="0" wrap="square" tIns="0">
            <a:noAutofit/>
          </a:bodyPr>
          <a:lstStyle/>
          <a:p>
            <a:pPr indent="0" lvl="0" marL="0" marR="0" rtl="0" algn="l">
              <a:lnSpc>
                <a:spcPct val="105000"/>
              </a:lnSpc>
              <a:spcBef>
                <a:spcPts val="0"/>
              </a:spcBef>
              <a:spcAft>
                <a:spcPts val="0"/>
              </a:spcAft>
              <a:buClr>
                <a:srgbClr val="16233B"/>
              </a:buClr>
              <a:buSzPts val="1500"/>
              <a:buFont typeface="Calibri"/>
              <a:buNone/>
            </a:pPr>
            <a:r>
              <a:rPr b="1" i="0" lang="en-US" sz="1500" u="none" cap="none" strike="noStrike">
                <a:solidFill>
                  <a:srgbClr val="16233B"/>
                </a:solidFill>
                <a:latin typeface="Calibri"/>
                <a:ea typeface="Calibri"/>
                <a:cs typeface="Calibri"/>
                <a:sym typeface="Calibri"/>
              </a:rPr>
              <a:t>Occupational ascent</a:t>
            </a:r>
            <a:endParaRPr b="0" i="0" sz="1500" u="none" cap="none" strike="noStrike">
              <a:solidFill>
                <a:schemeClr val="dk1"/>
              </a:solidFill>
              <a:latin typeface="Calibri"/>
              <a:ea typeface="Calibri"/>
              <a:cs typeface="Calibri"/>
              <a:sym typeface="Calibri"/>
            </a:endParaRPr>
          </a:p>
          <a:p>
            <a:pPr indent="0" lvl="0" marL="0" marR="0" rtl="0" algn="l">
              <a:lnSpc>
                <a:spcPct val="105000"/>
              </a:lnSpc>
              <a:spcBef>
                <a:spcPts val="400"/>
              </a:spcBef>
              <a:spcAft>
                <a:spcPts val="0"/>
              </a:spcAft>
              <a:buClr>
                <a:srgbClr val="2A3547"/>
              </a:buClr>
              <a:buSzPts val="1250"/>
              <a:buFont typeface="Calibri"/>
              <a:buNone/>
            </a:pPr>
            <a:r>
              <a:rPr b="0" i="0" lang="en-US" sz="1250" u="none" cap="none" strike="noStrike">
                <a:solidFill>
                  <a:srgbClr val="2A3547"/>
                </a:solidFill>
                <a:latin typeface="Calibri"/>
                <a:ea typeface="Calibri"/>
                <a:cs typeface="Calibri"/>
                <a:sym typeface="Calibri"/>
              </a:rPr>
              <a:t>Duncan-style change in SOC major groups 1–3</a:t>
            </a:r>
            <a:endParaRPr b="0" i="0" sz="1500" u="none" cap="none" strike="noStrike">
              <a:solidFill>
                <a:schemeClr val="dk1"/>
              </a:solidFill>
              <a:latin typeface="Calibri"/>
              <a:ea typeface="Calibri"/>
              <a:cs typeface="Calibri"/>
              <a:sym typeface="Calibri"/>
            </a:endParaRPr>
          </a:p>
        </p:txBody>
      </p:sp>
      <p:sp>
        <p:nvSpPr>
          <p:cNvPr id="184" name="Google Shape;184;p9"/>
          <p:cNvSpPr/>
          <p:nvPr/>
        </p:nvSpPr>
        <p:spPr>
          <a:xfrm>
            <a:off x="594360" y="5806440"/>
            <a:ext cx="11000232" cy="4572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6E7C90"/>
              </a:buClr>
              <a:buSzPts val="1450"/>
              <a:buFont typeface="Calibri"/>
              <a:buNone/>
            </a:pPr>
            <a:r>
              <a:rPr b="0" i="1" lang="en-US" sz="1450" u="none" cap="none" strike="noStrike">
                <a:solidFill>
                  <a:srgbClr val="6E7C90"/>
                </a:solidFill>
                <a:latin typeface="Calibri"/>
                <a:ea typeface="Calibri"/>
                <a:cs typeface="Calibri"/>
                <a:sym typeface="Calibri"/>
              </a:rPr>
              <a:t>If cascade really equals gentrification, these should line up.</a:t>
            </a:r>
            <a:endParaRPr b="0" i="0" sz="1450" u="none" cap="none" strike="noStrike">
              <a:solidFill>
                <a:schemeClr val="dk1"/>
              </a:solidFill>
              <a:latin typeface="Calibri"/>
              <a:ea typeface="Calibri"/>
              <a:cs typeface="Calibri"/>
              <a:sym typeface="Calibri"/>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89" name="Shape 189"/>
        <p:cNvGrpSpPr/>
        <p:nvPr/>
      </p:nvGrpSpPr>
      <p:grpSpPr>
        <a:xfrm>
          <a:off x="0" y="0"/>
          <a:ext cx="0" cy="0"/>
          <a:chOff x="0" y="0"/>
          <a:chExt cx="0" cy="0"/>
        </a:xfrm>
      </p:grpSpPr>
      <p:sp>
        <p:nvSpPr>
          <p:cNvPr id="190" name="Google Shape;190;p10"/>
          <p:cNvSpPr/>
          <p:nvPr/>
        </p:nvSpPr>
        <p:spPr>
          <a:xfrm>
            <a:off x="594360" y="411480"/>
            <a:ext cx="11000232" cy="29260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C6551A"/>
              </a:buClr>
              <a:buSzPts val="1200"/>
              <a:buFont typeface="Calibri"/>
              <a:buNone/>
            </a:pPr>
            <a:r>
              <a:rPr b="1" i="0" lang="en-US" sz="1200" u="none" cap="none" strike="noStrike">
                <a:solidFill>
                  <a:srgbClr val="C6551A"/>
                </a:solidFill>
                <a:latin typeface="Calibri"/>
                <a:ea typeface="Calibri"/>
                <a:cs typeface="Calibri"/>
                <a:sym typeface="Calibri"/>
              </a:rPr>
              <a:t>FINDINGS · 1</a:t>
            </a:r>
            <a:endParaRPr b="0" i="0" sz="1200" u="none" cap="none" strike="noStrike">
              <a:solidFill>
                <a:schemeClr val="dk1"/>
              </a:solidFill>
              <a:latin typeface="Calibri"/>
              <a:ea typeface="Calibri"/>
              <a:cs typeface="Calibri"/>
              <a:sym typeface="Calibri"/>
            </a:endParaRPr>
          </a:p>
        </p:txBody>
      </p:sp>
      <p:sp>
        <p:nvSpPr>
          <p:cNvPr id="191" name="Google Shape;191;p10"/>
          <p:cNvSpPr/>
          <p:nvPr/>
        </p:nvSpPr>
        <p:spPr>
          <a:xfrm>
            <a:off x="594360" y="749808"/>
            <a:ext cx="11000232" cy="822960"/>
          </a:xfrm>
          <a:prstGeom prst="rect">
            <a:avLst/>
          </a:prstGeom>
          <a:noFill/>
          <a:ln>
            <a:noFill/>
          </a:ln>
        </p:spPr>
        <p:txBody>
          <a:bodyPr anchorCtr="0" anchor="t" bIns="0" lIns="0" spcFirstLastPara="1" rIns="0" wrap="square" tIns="0">
            <a:noAutofit/>
          </a:bodyPr>
          <a:lstStyle/>
          <a:p>
            <a:pPr indent="0" lvl="0" marL="0" marR="0" rtl="0" algn="l">
              <a:lnSpc>
                <a:spcPct val="98000"/>
              </a:lnSpc>
              <a:spcBef>
                <a:spcPts val="0"/>
              </a:spcBef>
              <a:spcAft>
                <a:spcPts val="0"/>
              </a:spcAft>
              <a:buClr>
                <a:srgbClr val="16233B"/>
              </a:buClr>
              <a:buSzPts val="3200"/>
              <a:buFont typeface="Cambria"/>
              <a:buNone/>
            </a:pPr>
            <a:r>
              <a:rPr b="1" i="0" lang="en-US" sz="3200" u="none" cap="none" strike="noStrike">
                <a:solidFill>
                  <a:srgbClr val="16233B"/>
                </a:solidFill>
                <a:latin typeface="Cambria"/>
                <a:ea typeface="Cambria"/>
                <a:cs typeface="Cambria"/>
                <a:sym typeface="Cambria"/>
              </a:rPr>
              <a:t>Cascade ≠ gentrification</a:t>
            </a:r>
            <a:endParaRPr b="0" i="0" sz="3200" u="none" cap="none" strike="noStrike">
              <a:solidFill>
                <a:schemeClr val="dk1"/>
              </a:solidFill>
              <a:latin typeface="Calibri"/>
              <a:ea typeface="Calibri"/>
              <a:cs typeface="Calibri"/>
              <a:sym typeface="Calibri"/>
            </a:endParaRPr>
          </a:p>
        </p:txBody>
      </p:sp>
      <p:sp>
        <p:nvSpPr>
          <p:cNvPr id="192" name="Google Shape;192;p10"/>
          <p:cNvSpPr/>
          <p:nvPr/>
        </p:nvSpPr>
        <p:spPr>
          <a:xfrm>
            <a:off x="594360" y="1783080"/>
            <a:ext cx="3383280" cy="86868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A7D44"/>
              </a:buClr>
              <a:buSzPts val="5200"/>
              <a:buFont typeface="Cambria"/>
              <a:buNone/>
            </a:pPr>
            <a:r>
              <a:rPr b="1" i="0" lang="en-US" sz="5200" u="none" cap="none" strike="noStrike">
                <a:solidFill>
                  <a:srgbClr val="1A7D44"/>
                </a:solidFill>
                <a:latin typeface="Cambria"/>
                <a:ea typeface="Cambria"/>
                <a:cs typeface="Cambria"/>
                <a:sym typeface="Cambria"/>
              </a:rPr>
              <a:t>58</a:t>
            </a:r>
            <a:endParaRPr b="0" i="0" sz="5200" u="none" cap="none" strike="noStrike">
              <a:solidFill>
                <a:schemeClr val="dk1"/>
              </a:solidFill>
              <a:latin typeface="Calibri"/>
              <a:ea typeface="Calibri"/>
              <a:cs typeface="Calibri"/>
              <a:sym typeface="Calibri"/>
            </a:endParaRPr>
          </a:p>
        </p:txBody>
      </p:sp>
      <p:sp>
        <p:nvSpPr>
          <p:cNvPr id="193" name="Google Shape;193;p10"/>
          <p:cNvSpPr/>
          <p:nvPr/>
        </p:nvSpPr>
        <p:spPr>
          <a:xfrm>
            <a:off x="594360" y="2670048"/>
            <a:ext cx="3383280" cy="64008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2A3547"/>
              </a:buClr>
              <a:buSzPts val="1300"/>
              <a:buFont typeface="Calibri"/>
              <a:buNone/>
            </a:pPr>
            <a:r>
              <a:rPr b="0" i="0" lang="en-US" sz="1300" u="none" cap="none" strike="noStrike">
                <a:solidFill>
                  <a:srgbClr val="2A3547"/>
                </a:solidFill>
                <a:latin typeface="Calibri"/>
                <a:ea typeface="Calibri"/>
                <a:cs typeface="Calibri"/>
                <a:sym typeface="Calibri"/>
              </a:rPr>
              <a:t>areas where both agree</a:t>
            </a:r>
            <a:endParaRPr b="0" i="0" sz="1300" u="none" cap="none" strike="noStrike">
              <a:solidFill>
                <a:schemeClr val="dk1"/>
              </a:solidFill>
              <a:latin typeface="Calibri"/>
              <a:ea typeface="Calibri"/>
              <a:cs typeface="Calibri"/>
              <a:sym typeface="Calibri"/>
            </a:endParaRPr>
          </a:p>
          <a:p>
            <a:pPr indent="0" lvl="0" marL="0" marR="0" rtl="0" algn="ctr">
              <a:lnSpc>
                <a:spcPct val="100000"/>
              </a:lnSpc>
              <a:spcBef>
                <a:spcPts val="0"/>
              </a:spcBef>
              <a:spcAft>
                <a:spcPts val="0"/>
              </a:spcAft>
              <a:buClr>
                <a:srgbClr val="2A3547"/>
              </a:buClr>
              <a:buSzPts val="1300"/>
              <a:buFont typeface="Calibri"/>
              <a:buNone/>
            </a:pPr>
            <a:r>
              <a:rPr b="0" i="0" lang="en-US" sz="1300" u="none" cap="none" strike="noStrike">
                <a:solidFill>
                  <a:srgbClr val="2A3547"/>
                </a:solidFill>
                <a:latin typeface="Calibri"/>
                <a:ea typeface="Calibri"/>
                <a:cs typeface="Calibri"/>
                <a:sym typeface="Calibri"/>
              </a:rPr>
              <a:t>(GEN &amp; cascade-led)</a:t>
            </a:r>
            <a:endParaRPr b="0" i="0" sz="1300" u="none" cap="none" strike="noStrike">
              <a:solidFill>
                <a:schemeClr val="dk1"/>
              </a:solidFill>
              <a:latin typeface="Calibri"/>
              <a:ea typeface="Calibri"/>
              <a:cs typeface="Calibri"/>
              <a:sym typeface="Calibri"/>
            </a:endParaRPr>
          </a:p>
        </p:txBody>
      </p:sp>
      <p:sp>
        <p:nvSpPr>
          <p:cNvPr id="194" name="Google Shape;194;p10"/>
          <p:cNvSpPr/>
          <p:nvPr/>
        </p:nvSpPr>
        <p:spPr>
          <a:xfrm>
            <a:off x="4206240" y="1783080"/>
            <a:ext cx="3383280" cy="86868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245C99"/>
              </a:buClr>
              <a:buSzPts val="5200"/>
              <a:buFont typeface="Cambria"/>
              <a:buNone/>
            </a:pPr>
            <a:r>
              <a:rPr b="1" i="0" lang="en-US" sz="5200" u="none" cap="none" strike="noStrike">
                <a:solidFill>
                  <a:srgbClr val="245C99"/>
                </a:solidFill>
                <a:latin typeface="Cambria"/>
                <a:ea typeface="Cambria"/>
                <a:cs typeface="Cambria"/>
                <a:sym typeface="Cambria"/>
              </a:rPr>
              <a:t>149</a:t>
            </a:r>
            <a:endParaRPr b="0" i="0" sz="5200" u="none" cap="none" strike="noStrike">
              <a:solidFill>
                <a:schemeClr val="dk1"/>
              </a:solidFill>
              <a:latin typeface="Calibri"/>
              <a:ea typeface="Calibri"/>
              <a:cs typeface="Calibri"/>
              <a:sym typeface="Calibri"/>
            </a:endParaRPr>
          </a:p>
        </p:txBody>
      </p:sp>
      <p:sp>
        <p:nvSpPr>
          <p:cNvPr id="195" name="Google Shape;195;p10"/>
          <p:cNvSpPr/>
          <p:nvPr/>
        </p:nvSpPr>
        <p:spPr>
          <a:xfrm>
            <a:off x="4206240" y="2670048"/>
            <a:ext cx="3383280" cy="64008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2A3547"/>
              </a:buClr>
              <a:buSzPts val="1300"/>
              <a:buFont typeface="Calibri"/>
              <a:buNone/>
            </a:pPr>
            <a:r>
              <a:rPr b="0" i="0" lang="en-US" sz="1300" u="none" cap="none" strike="noStrike">
                <a:solidFill>
                  <a:srgbClr val="2A3547"/>
                </a:solidFill>
                <a:latin typeface="Calibri"/>
                <a:ea typeface="Calibri"/>
                <a:cs typeface="Calibri"/>
                <a:sym typeface="Calibri"/>
              </a:rPr>
              <a:t>attribute-only</a:t>
            </a:r>
            <a:endParaRPr b="0" i="0" sz="1300" u="none" cap="none" strike="noStrike">
              <a:solidFill>
                <a:schemeClr val="dk1"/>
              </a:solidFill>
              <a:latin typeface="Calibri"/>
              <a:ea typeface="Calibri"/>
              <a:cs typeface="Calibri"/>
              <a:sym typeface="Calibri"/>
            </a:endParaRPr>
          </a:p>
          <a:p>
            <a:pPr indent="0" lvl="0" marL="0" marR="0" rtl="0" algn="ctr">
              <a:lnSpc>
                <a:spcPct val="100000"/>
              </a:lnSpc>
              <a:spcBef>
                <a:spcPts val="0"/>
              </a:spcBef>
              <a:spcAft>
                <a:spcPts val="0"/>
              </a:spcAft>
              <a:buClr>
                <a:srgbClr val="2A3547"/>
              </a:buClr>
              <a:buSzPts val="1300"/>
              <a:buFont typeface="Calibri"/>
              <a:buNone/>
            </a:pPr>
            <a:r>
              <a:rPr b="0" i="0" lang="en-US" sz="1300" u="none" cap="none" strike="noStrike">
                <a:solidFill>
                  <a:srgbClr val="2A3547"/>
                </a:solidFill>
                <a:latin typeface="Calibri"/>
                <a:ea typeface="Calibri"/>
                <a:cs typeface="Calibri"/>
                <a:sym typeface="Calibri"/>
              </a:rPr>
              <a:t>(Yee-GEN, no cascade)</a:t>
            </a:r>
            <a:endParaRPr b="0" i="0" sz="1300" u="none" cap="none" strike="noStrike">
              <a:solidFill>
                <a:schemeClr val="dk1"/>
              </a:solidFill>
              <a:latin typeface="Calibri"/>
              <a:ea typeface="Calibri"/>
              <a:cs typeface="Calibri"/>
              <a:sym typeface="Calibri"/>
            </a:endParaRPr>
          </a:p>
        </p:txBody>
      </p:sp>
      <p:sp>
        <p:nvSpPr>
          <p:cNvPr id="196" name="Google Shape;196;p10"/>
          <p:cNvSpPr/>
          <p:nvPr/>
        </p:nvSpPr>
        <p:spPr>
          <a:xfrm>
            <a:off x="7818120" y="1783080"/>
            <a:ext cx="3383280" cy="86868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C6551A"/>
              </a:buClr>
              <a:buSzPts val="5200"/>
              <a:buFont typeface="Cambria"/>
              <a:buNone/>
            </a:pPr>
            <a:r>
              <a:rPr b="1" i="0" lang="en-US" sz="5200" u="none" cap="none" strike="noStrike">
                <a:solidFill>
                  <a:srgbClr val="C6551A"/>
                </a:solidFill>
                <a:latin typeface="Cambria"/>
                <a:ea typeface="Cambria"/>
                <a:cs typeface="Cambria"/>
                <a:sym typeface="Cambria"/>
              </a:rPr>
              <a:t>155</a:t>
            </a:r>
            <a:endParaRPr b="0" i="0" sz="5200" u="none" cap="none" strike="noStrike">
              <a:solidFill>
                <a:schemeClr val="dk1"/>
              </a:solidFill>
              <a:latin typeface="Calibri"/>
              <a:ea typeface="Calibri"/>
              <a:cs typeface="Calibri"/>
              <a:sym typeface="Calibri"/>
            </a:endParaRPr>
          </a:p>
        </p:txBody>
      </p:sp>
      <p:sp>
        <p:nvSpPr>
          <p:cNvPr id="197" name="Google Shape;197;p10"/>
          <p:cNvSpPr/>
          <p:nvPr/>
        </p:nvSpPr>
        <p:spPr>
          <a:xfrm>
            <a:off x="7818120" y="2670048"/>
            <a:ext cx="3383280" cy="64008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2A3547"/>
              </a:buClr>
              <a:buSzPts val="1300"/>
              <a:buFont typeface="Calibri"/>
              <a:buNone/>
            </a:pPr>
            <a:r>
              <a:rPr b="0" i="0" lang="en-US" sz="1300" u="none" cap="none" strike="noStrike">
                <a:solidFill>
                  <a:srgbClr val="2A3547"/>
                </a:solidFill>
                <a:latin typeface="Calibri"/>
                <a:ea typeface="Calibri"/>
                <a:cs typeface="Calibri"/>
                <a:sym typeface="Calibri"/>
              </a:rPr>
              <a:t>flow-only</a:t>
            </a:r>
            <a:endParaRPr b="0" i="0" sz="1300" u="none" cap="none" strike="noStrike">
              <a:solidFill>
                <a:schemeClr val="dk1"/>
              </a:solidFill>
              <a:latin typeface="Calibri"/>
              <a:ea typeface="Calibri"/>
              <a:cs typeface="Calibri"/>
              <a:sym typeface="Calibri"/>
            </a:endParaRPr>
          </a:p>
          <a:p>
            <a:pPr indent="0" lvl="0" marL="0" marR="0" rtl="0" algn="ctr">
              <a:lnSpc>
                <a:spcPct val="100000"/>
              </a:lnSpc>
              <a:spcBef>
                <a:spcPts val="0"/>
              </a:spcBef>
              <a:spcAft>
                <a:spcPts val="0"/>
              </a:spcAft>
              <a:buClr>
                <a:srgbClr val="2A3547"/>
              </a:buClr>
              <a:buSzPts val="1300"/>
              <a:buFont typeface="Calibri"/>
              <a:buNone/>
            </a:pPr>
            <a:r>
              <a:rPr b="0" i="0" lang="en-US" sz="1300" u="none" cap="none" strike="noStrike">
                <a:solidFill>
                  <a:srgbClr val="2A3547"/>
                </a:solidFill>
                <a:latin typeface="Calibri"/>
                <a:ea typeface="Calibri"/>
                <a:cs typeface="Calibri"/>
                <a:sym typeface="Calibri"/>
              </a:rPr>
              <a:t>(cascade, no Yee-GEN)</a:t>
            </a:r>
            <a:endParaRPr b="0" i="0" sz="1300" u="none" cap="none" strike="noStrike">
              <a:solidFill>
                <a:schemeClr val="dk1"/>
              </a:solidFill>
              <a:latin typeface="Calibri"/>
              <a:ea typeface="Calibri"/>
              <a:cs typeface="Calibri"/>
              <a:sym typeface="Calibri"/>
            </a:endParaRPr>
          </a:p>
        </p:txBody>
      </p:sp>
      <p:sp>
        <p:nvSpPr>
          <p:cNvPr id="198" name="Google Shape;198;p10"/>
          <p:cNvSpPr/>
          <p:nvPr/>
        </p:nvSpPr>
        <p:spPr>
          <a:xfrm>
            <a:off x="594360" y="3520440"/>
            <a:ext cx="11000232" cy="822960"/>
          </a:xfrm>
          <a:prstGeom prst="roundRect">
            <a:avLst>
              <a:gd fmla="val 10000" name="adj"/>
            </a:avLst>
          </a:prstGeom>
          <a:solidFill>
            <a:srgbClr val="F3F6FB"/>
          </a:solidFill>
          <a:ln>
            <a:noFill/>
          </a:ln>
          <a:effectLst>
            <a:outerShdw blurRad="101600" rotWithShape="0" algn="bl" dir="5400000" dist="38100">
              <a:srgbClr val="9AA6B8">
                <a:alpha val="27843"/>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9" name="Google Shape;199;p10"/>
          <p:cNvSpPr/>
          <p:nvPr/>
        </p:nvSpPr>
        <p:spPr>
          <a:xfrm>
            <a:off x="822960" y="3520440"/>
            <a:ext cx="10543032" cy="8229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6233B"/>
              </a:buClr>
              <a:buSzPts val="1500"/>
              <a:buFont typeface="Calibri"/>
              <a:buNone/>
            </a:pPr>
            <a:r>
              <a:rPr b="1" i="0" lang="en-US" sz="1500" u="none" cap="none" strike="noStrike">
                <a:solidFill>
                  <a:srgbClr val="16233B"/>
                </a:solidFill>
                <a:latin typeface="Calibri"/>
                <a:ea typeface="Calibri"/>
                <a:cs typeface="Calibri"/>
                <a:sym typeface="Calibri"/>
              </a:rPr>
              <a:t>Cramér's V = 0.10</a:t>
            </a:r>
            <a:r>
              <a:rPr b="0" i="0" lang="en-US" sz="1500" u="none" cap="none" strike="noStrike">
                <a:solidFill>
                  <a:srgbClr val="6E7C90"/>
                </a:solidFill>
                <a:latin typeface="Calibri"/>
                <a:ea typeface="Calibri"/>
                <a:cs typeface="Calibri"/>
                <a:sym typeface="Calibri"/>
              </a:rPr>
              <a:t>   ·   </a:t>
            </a:r>
            <a:r>
              <a:rPr b="1" i="0" lang="en-US" sz="1500" u="none" cap="none" strike="noStrike">
                <a:solidFill>
                  <a:srgbClr val="16233B"/>
                </a:solidFill>
                <a:latin typeface="Calibri"/>
                <a:ea typeface="Calibri"/>
                <a:cs typeface="Calibri"/>
                <a:sym typeface="Calibri"/>
              </a:rPr>
              <a:t>Adjusted Rand Index = 0.005</a:t>
            </a:r>
            <a:r>
              <a:rPr b="0" i="0" lang="en-US" sz="1500" u="none" cap="none" strike="noStrike">
                <a:solidFill>
                  <a:srgbClr val="2A3547"/>
                </a:solidFill>
                <a:latin typeface="Calibri"/>
                <a:ea typeface="Calibri"/>
                <a:cs typeface="Calibri"/>
                <a:sym typeface="Calibri"/>
              </a:rPr>
              <a:t>  —  the two schemes agree no better than random labels.</a:t>
            </a:r>
            <a:endParaRPr b="0" i="0" sz="1500" u="none" cap="none" strike="noStrike">
              <a:solidFill>
                <a:schemeClr val="dk1"/>
              </a:solidFill>
              <a:latin typeface="Calibri"/>
              <a:ea typeface="Calibri"/>
              <a:cs typeface="Calibri"/>
              <a:sym typeface="Calibri"/>
            </a:endParaRPr>
          </a:p>
        </p:txBody>
      </p:sp>
      <p:sp>
        <p:nvSpPr>
          <p:cNvPr id="200" name="Google Shape;200;p10"/>
          <p:cNvSpPr/>
          <p:nvPr/>
        </p:nvSpPr>
        <p:spPr>
          <a:xfrm>
            <a:off x="594360" y="4526280"/>
            <a:ext cx="5486400" cy="1645920"/>
          </a:xfrm>
          <a:prstGeom prst="roundRect">
            <a:avLst>
              <a:gd fmla="val 5000" name="adj"/>
            </a:avLst>
          </a:prstGeom>
          <a:solidFill>
            <a:srgbClr val="FFFFFF"/>
          </a:solidFill>
          <a:ln>
            <a:noFill/>
          </a:ln>
          <a:effectLst>
            <a:outerShdw blurRad="101600" rotWithShape="0" algn="bl" dir="5400000" dist="38100">
              <a:srgbClr val="9AA6B8">
                <a:alpha val="27843"/>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1" name="Google Shape;201;p10"/>
          <p:cNvSpPr/>
          <p:nvPr/>
        </p:nvSpPr>
        <p:spPr>
          <a:xfrm>
            <a:off x="850392" y="4645152"/>
            <a:ext cx="4937760" cy="3200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6233B"/>
              </a:buClr>
              <a:buSzPts val="1450"/>
              <a:buFont typeface="Calibri"/>
              <a:buNone/>
            </a:pPr>
            <a:r>
              <a:rPr b="1" i="0" lang="en-US" sz="1450" u="none" cap="none" strike="noStrike">
                <a:solidFill>
                  <a:srgbClr val="16233B"/>
                </a:solidFill>
                <a:latin typeface="Calibri"/>
                <a:ea typeface="Calibri"/>
                <a:cs typeface="Calibri"/>
                <a:sym typeface="Calibri"/>
              </a:rPr>
              <a:t>The IMD kicker</a:t>
            </a:r>
            <a:endParaRPr b="0" i="0" sz="1450" u="none" cap="none" strike="noStrike">
              <a:solidFill>
                <a:schemeClr val="dk1"/>
              </a:solidFill>
              <a:latin typeface="Calibri"/>
              <a:ea typeface="Calibri"/>
              <a:cs typeface="Calibri"/>
              <a:sym typeface="Calibri"/>
            </a:endParaRPr>
          </a:p>
        </p:txBody>
      </p:sp>
      <p:sp>
        <p:nvSpPr>
          <p:cNvPr id="202" name="Google Shape;202;p10"/>
          <p:cNvSpPr/>
          <p:nvPr/>
        </p:nvSpPr>
        <p:spPr>
          <a:xfrm>
            <a:off x="850392" y="4983480"/>
            <a:ext cx="4983480" cy="1097280"/>
          </a:xfrm>
          <a:prstGeom prst="rect">
            <a:avLst/>
          </a:prstGeom>
          <a:noFill/>
          <a:ln>
            <a:noFill/>
          </a:ln>
        </p:spPr>
        <p:txBody>
          <a:bodyPr anchorCtr="0" anchor="ctr" bIns="0" lIns="0" spcFirstLastPara="1" rIns="0" wrap="square" tIns="0">
            <a:noAutofit/>
          </a:bodyPr>
          <a:lstStyle/>
          <a:p>
            <a:pPr indent="0" lvl="0" marL="0" marR="0" rtl="0" algn="l">
              <a:lnSpc>
                <a:spcPct val="115000"/>
              </a:lnSpc>
              <a:spcBef>
                <a:spcPts val="0"/>
              </a:spcBef>
              <a:spcAft>
                <a:spcPts val="0"/>
              </a:spcAft>
              <a:buClr>
                <a:srgbClr val="2A3547"/>
              </a:buClr>
              <a:buSzPts val="1400"/>
              <a:buFont typeface="Calibri"/>
              <a:buNone/>
            </a:pPr>
            <a:r>
              <a:rPr b="0" i="0" lang="en-US" sz="1400" u="none" cap="none" strike="noStrike">
                <a:solidFill>
                  <a:srgbClr val="2A3547"/>
                </a:solidFill>
                <a:latin typeface="Calibri"/>
                <a:ea typeface="Calibri"/>
                <a:cs typeface="Calibri"/>
                <a:sym typeface="Calibri"/>
              </a:rPr>
              <a:t>Yee-GEN alone → </a:t>
            </a:r>
            <a:r>
              <a:rPr b="1" i="0" lang="en-US" sz="1400" u="none" cap="none" strike="noStrike">
                <a:solidFill>
                  <a:srgbClr val="1A7D44"/>
                </a:solidFill>
                <a:latin typeface="Calibri"/>
                <a:ea typeface="Calibri"/>
                <a:cs typeface="Calibri"/>
                <a:sym typeface="Calibri"/>
              </a:rPr>
              <a:t>+0.043</a:t>
            </a:r>
            <a:r>
              <a:rPr b="0" i="0" lang="en-US" sz="1400" u="none" cap="none" strike="noStrike">
                <a:solidFill>
                  <a:srgbClr val="2A3547"/>
                </a:solidFill>
                <a:latin typeface="Calibri"/>
                <a:ea typeface="Calibri"/>
                <a:cs typeface="Calibri"/>
                <a:sym typeface="Calibri"/>
              </a:rPr>
              <a:t> IMD gain.  </a:t>
            </a:r>
            <a:endParaRPr b="0" i="0" sz="1400" u="none" cap="none" strike="noStrike">
              <a:solidFill>
                <a:srgbClr val="2A3547"/>
              </a:solidFill>
              <a:latin typeface="Calibri"/>
              <a:ea typeface="Calibri"/>
              <a:cs typeface="Calibri"/>
              <a:sym typeface="Calibri"/>
            </a:endParaRPr>
          </a:p>
          <a:p>
            <a:pPr indent="0" lvl="0" marL="0" marR="0" rtl="0" algn="l">
              <a:lnSpc>
                <a:spcPct val="115000"/>
              </a:lnSpc>
              <a:spcBef>
                <a:spcPts val="0"/>
              </a:spcBef>
              <a:spcAft>
                <a:spcPts val="0"/>
              </a:spcAft>
              <a:buClr>
                <a:srgbClr val="2A3547"/>
              </a:buClr>
              <a:buSzPts val="1400"/>
              <a:buFont typeface="Calibri"/>
              <a:buNone/>
            </a:pPr>
            <a:r>
              <a:rPr b="0" i="0" lang="en-US" sz="1400" u="none" cap="none" strike="noStrike">
                <a:solidFill>
                  <a:srgbClr val="2A3547"/>
                </a:solidFill>
                <a:latin typeface="Calibri"/>
                <a:ea typeface="Calibri"/>
                <a:cs typeface="Calibri"/>
                <a:sym typeface="Calibri"/>
              </a:rPr>
              <a:t>Yee-GEN + cascade → only </a:t>
            </a:r>
            <a:r>
              <a:rPr b="1" i="0" lang="en-US" sz="1400" u="none" cap="none" strike="noStrike">
                <a:solidFill>
                  <a:srgbClr val="C6551A"/>
                </a:solidFill>
                <a:latin typeface="Calibri"/>
                <a:ea typeface="Calibri"/>
                <a:cs typeface="Calibri"/>
                <a:sym typeface="Calibri"/>
              </a:rPr>
              <a:t>+0.017</a:t>
            </a:r>
            <a:r>
              <a:rPr b="0" i="0" lang="en-US" sz="1400" u="none" cap="none" strike="noStrike">
                <a:solidFill>
                  <a:srgbClr val="2A3547"/>
                </a:solidFill>
                <a:latin typeface="Calibri"/>
                <a:ea typeface="Calibri"/>
                <a:cs typeface="Calibri"/>
                <a:sym typeface="Calibri"/>
              </a:rPr>
              <a:t>.</a:t>
            </a:r>
            <a:endParaRPr b="0" i="0" sz="1400" u="none" cap="none" strike="noStrike">
              <a:solidFill>
                <a:schemeClr val="dk1"/>
              </a:solidFill>
              <a:latin typeface="Calibri"/>
              <a:ea typeface="Calibri"/>
              <a:cs typeface="Calibri"/>
              <a:sym typeface="Calibri"/>
            </a:endParaRPr>
          </a:p>
          <a:p>
            <a:pPr indent="0" lvl="0" marL="0" marR="0" rtl="0" algn="l">
              <a:lnSpc>
                <a:spcPct val="115000"/>
              </a:lnSpc>
              <a:spcBef>
                <a:spcPts val="0"/>
              </a:spcBef>
              <a:spcAft>
                <a:spcPts val="0"/>
              </a:spcAft>
              <a:buClr>
                <a:srgbClr val="16233B"/>
              </a:buClr>
              <a:buSzPts val="1400"/>
              <a:buFont typeface="Calibri"/>
              <a:buNone/>
            </a:pPr>
            <a:r>
              <a:rPr b="1" i="0" lang="en-US" sz="1400" u="none" cap="none" strike="noStrike">
                <a:solidFill>
                  <a:srgbClr val="16233B"/>
                </a:solidFill>
                <a:latin typeface="Calibri"/>
                <a:ea typeface="Calibri"/>
                <a:cs typeface="Calibri"/>
                <a:sym typeface="Calibri"/>
              </a:rPr>
              <a:t>Adding cascade doesn't reinforce gentrification.</a:t>
            </a:r>
            <a:endParaRPr b="0" i="0" sz="1400" u="none" cap="none" strike="noStrike">
              <a:solidFill>
                <a:schemeClr val="dk1"/>
              </a:solidFill>
              <a:latin typeface="Calibri"/>
              <a:ea typeface="Calibri"/>
              <a:cs typeface="Calibri"/>
              <a:sym typeface="Calibri"/>
            </a:endParaRPr>
          </a:p>
        </p:txBody>
      </p:sp>
      <p:sp>
        <p:nvSpPr>
          <p:cNvPr id="203" name="Google Shape;203;p10"/>
          <p:cNvSpPr/>
          <p:nvPr/>
        </p:nvSpPr>
        <p:spPr>
          <a:xfrm>
            <a:off x="6309360" y="4526280"/>
            <a:ext cx="5285232" cy="1645920"/>
          </a:xfrm>
          <a:prstGeom prst="roundRect">
            <a:avLst>
              <a:gd fmla="val 5000" name="adj"/>
            </a:avLst>
          </a:prstGeom>
          <a:solidFill>
            <a:srgbClr val="16233B"/>
          </a:solidFill>
          <a:ln>
            <a:noFill/>
          </a:ln>
          <a:effectLst>
            <a:outerShdw blurRad="101600" rotWithShape="0" algn="bl" dir="5400000" dist="38100">
              <a:srgbClr val="9AA6B8">
                <a:alpha val="27843"/>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4" name="Google Shape;204;p10"/>
          <p:cNvSpPr/>
          <p:nvPr/>
        </p:nvSpPr>
        <p:spPr>
          <a:xfrm>
            <a:off x="6565392" y="4645152"/>
            <a:ext cx="4572000" cy="3200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8FA3C4"/>
              </a:buClr>
              <a:buSzPts val="1450"/>
              <a:buFont typeface="Calibri"/>
              <a:buNone/>
            </a:pPr>
            <a:r>
              <a:rPr b="1" i="0" lang="en-US" sz="1450" u="none" cap="none" strike="noStrike">
                <a:solidFill>
                  <a:srgbClr val="8FA3C4"/>
                </a:solidFill>
                <a:latin typeface="Calibri"/>
                <a:ea typeface="Calibri"/>
                <a:cs typeface="Calibri"/>
                <a:sym typeface="Calibri"/>
              </a:rPr>
              <a:t>The twist</a:t>
            </a:r>
            <a:endParaRPr b="0" i="0" sz="1450" u="none" cap="none" strike="noStrike">
              <a:solidFill>
                <a:schemeClr val="dk1"/>
              </a:solidFill>
              <a:latin typeface="Calibri"/>
              <a:ea typeface="Calibri"/>
              <a:cs typeface="Calibri"/>
              <a:sym typeface="Calibri"/>
            </a:endParaRPr>
          </a:p>
        </p:txBody>
      </p:sp>
      <p:sp>
        <p:nvSpPr>
          <p:cNvPr id="205" name="Google Shape;205;p10"/>
          <p:cNvSpPr/>
          <p:nvPr/>
        </p:nvSpPr>
        <p:spPr>
          <a:xfrm>
            <a:off x="6565392" y="4983480"/>
            <a:ext cx="4773168" cy="1097280"/>
          </a:xfrm>
          <a:prstGeom prst="rect">
            <a:avLst/>
          </a:prstGeom>
          <a:noFill/>
          <a:ln>
            <a:noFill/>
          </a:ln>
        </p:spPr>
        <p:txBody>
          <a:bodyPr anchorCtr="0" anchor="ctr" bIns="0" lIns="0" spcFirstLastPara="1" rIns="0" wrap="square" tIns="0">
            <a:noAutofit/>
          </a:bodyPr>
          <a:lstStyle/>
          <a:p>
            <a:pPr indent="0" lvl="0" marL="0" marR="0" rtl="0" algn="l">
              <a:lnSpc>
                <a:spcPct val="112000"/>
              </a:lnSpc>
              <a:spcBef>
                <a:spcPts val="0"/>
              </a:spcBef>
              <a:spcAft>
                <a:spcPts val="0"/>
              </a:spcAft>
              <a:buClr>
                <a:srgbClr val="E4ECF7"/>
              </a:buClr>
              <a:buSzPts val="1400"/>
              <a:buFont typeface="Calibri"/>
              <a:buNone/>
            </a:pPr>
            <a:r>
              <a:rPr b="0" i="0" lang="en-US" sz="1400" u="none" cap="none" strike="noStrike">
                <a:solidFill>
                  <a:srgbClr val="E4ECF7"/>
                </a:solidFill>
                <a:latin typeface="Calibri"/>
                <a:ea typeface="Calibri"/>
                <a:cs typeface="Calibri"/>
                <a:sym typeface="Calibri"/>
              </a:rPr>
              <a:t>The flow method's IMD signal lives in the </a:t>
            </a:r>
            <a:r>
              <a:rPr b="1" i="0" lang="en-US" sz="1400" u="none" cap="none" strike="noStrike">
                <a:solidFill>
                  <a:srgbClr val="9FC0E6"/>
                </a:solidFill>
                <a:latin typeface="Calibri"/>
                <a:ea typeface="Calibri"/>
                <a:cs typeface="Calibri"/>
                <a:sym typeface="Calibri"/>
              </a:rPr>
              <a:t>counter</a:t>
            </a:r>
            <a:r>
              <a:rPr b="0" i="0" lang="en-US" sz="1400" u="none" cap="none" strike="noStrike">
                <a:solidFill>
                  <a:srgbClr val="E4ECF7"/>
                </a:solidFill>
                <a:latin typeface="Calibri"/>
                <a:ea typeface="Calibri"/>
                <a:cs typeface="Calibri"/>
                <a:sym typeface="Calibri"/>
              </a:rPr>
              <a:t> direction — not the cascade one. The rare agreement is confined to </a:t>
            </a:r>
            <a:r>
              <a:rPr b="1" i="0" lang="en-US" sz="1400" u="none" cap="none" strike="noStrike">
                <a:solidFill>
                  <a:srgbClr val="FFFFFF"/>
                </a:solidFill>
                <a:latin typeface="Calibri"/>
                <a:ea typeface="Calibri"/>
                <a:cs typeface="Calibri"/>
                <a:sym typeface="Calibri"/>
              </a:rPr>
              <a:t>2011 inner London</a:t>
            </a:r>
            <a:r>
              <a:rPr b="0" i="0" lang="en-US" sz="1400" u="none" cap="none" strike="noStrike">
                <a:solidFill>
                  <a:srgbClr val="E4ECF7"/>
                </a:solidFill>
                <a:latin typeface="Calibri"/>
                <a:ea typeface="Calibri"/>
                <a:cs typeface="Calibri"/>
                <a:sym typeface="Calibri"/>
              </a:rPr>
              <a:t>.</a:t>
            </a:r>
            <a:endParaRPr b="0" i="0" sz="1400" u="none" cap="none" strike="noStrike">
              <a:solidFill>
                <a:schemeClr val="dk1"/>
              </a:solidFill>
              <a:latin typeface="Calibri"/>
              <a:ea typeface="Calibri"/>
              <a:cs typeface="Calibri"/>
              <a:sym typeface="Calibri"/>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10" name="Shape 210"/>
        <p:cNvGrpSpPr/>
        <p:nvPr/>
      </p:nvGrpSpPr>
      <p:grpSpPr>
        <a:xfrm>
          <a:off x="0" y="0"/>
          <a:ext cx="0" cy="0"/>
          <a:chOff x="0" y="0"/>
          <a:chExt cx="0" cy="0"/>
        </a:xfrm>
      </p:grpSpPr>
      <p:sp>
        <p:nvSpPr>
          <p:cNvPr id="211" name="Google Shape;211;p11"/>
          <p:cNvSpPr/>
          <p:nvPr/>
        </p:nvSpPr>
        <p:spPr>
          <a:xfrm>
            <a:off x="594360" y="411480"/>
            <a:ext cx="11000232" cy="29260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C6551A"/>
              </a:buClr>
              <a:buSzPts val="1200"/>
              <a:buFont typeface="Calibri"/>
              <a:buNone/>
            </a:pPr>
            <a:r>
              <a:rPr b="1" i="0" lang="en-US" sz="1200" u="none" cap="none" strike="noStrike">
                <a:solidFill>
                  <a:srgbClr val="C6551A"/>
                </a:solidFill>
                <a:latin typeface="Calibri"/>
                <a:ea typeface="Calibri"/>
                <a:cs typeface="Calibri"/>
                <a:sym typeface="Calibri"/>
              </a:rPr>
              <a:t>FINDINGS · 2</a:t>
            </a:r>
            <a:endParaRPr b="0" i="0" sz="1200" u="none" cap="none" strike="noStrike">
              <a:solidFill>
                <a:schemeClr val="dk1"/>
              </a:solidFill>
              <a:latin typeface="Calibri"/>
              <a:ea typeface="Calibri"/>
              <a:cs typeface="Calibri"/>
              <a:sym typeface="Calibri"/>
            </a:endParaRPr>
          </a:p>
        </p:txBody>
      </p:sp>
      <p:sp>
        <p:nvSpPr>
          <p:cNvPr id="212" name="Google Shape;212;p11"/>
          <p:cNvSpPr/>
          <p:nvPr/>
        </p:nvSpPr>
        <p:spPr>
          <a:xfrm>
            <a:off x="594360" y="749808"/>
            <a:ext cx="11000232" cy="822960"/>
          </a:xfrm>
          <a:prstGeom prst="rect">
            <a:avLst/>
          </a:prstGeom>
          <a:noFill/>
          <a:ln>
            <a:noFill/>
          </a:ln>
        </p:spPr>
        <p:txBody>
          <a:bodyPr anchorCtr="0" anchor="t" bIns="0" lIns="0" spcFirstLastPara="1" rIns="0" wrap="square" tIns="0">
            <a:noAutofit/>
          </a:bodyPr>
          <a:lstStyle/>
          <a:p>
            <a:pPr indent="0" lvl="0" marL="0" marR="0" rtl="0" algn="l">
              <a:lnSpc>
                <a:spcPct val="98000"/>
              </a:lnSpc>
              <a:spcBef>
                <a:spcPts val="0"/>
              </a:spcBef>
              <a:spcAft>
                <a:spcPts val="0"/>
              </a:spcAft>
              <a:buClr>
                <a:srgbClr val="16233B"/>
              </a:buClr>
              <a:buSzPts val="3200"/>
              <a:buFont typeface="Cambria"/>
              <a:buNone/>
            </a:pPr>
            <a:r>
              <a:rPr b="1" i="0" lang="en-US" sz="3200" u="none" cap="none" strike="noStrike">
                <a:solidFill>
                  <a:srgbClr val="16233B"/>
                </a:solidFill>
                <a:latin typeface="Cambria"/>
                <a:ea typeface="Cambria"/>
                <a:cs typeface="Cambria"/>
                <a:sym typeface="Cambria"/>
              </a:rPr>
              <a:t>2021's cascade signal is an exodus, not relocation</a:t>
            </a:r>
            <a:endParaRPr b="0" i="0" sz="3200" u="none" cap="none" strike="noStrike">
              <a:solidFill>
                <a:schemeClr val="dk1"/>
              </a:solidFill>
              <a:latin typeface="Calibri"/>
              <a:ea typeface="Calibri"/>
              <a:cs typeface="Calibri"/>
              <a:sym typeface="Calibri"/>
            </a:endParaRPr>
          </a:p>
        </p:txBody>
      </p:sp>
      <p:sp>
        <p:nvSpPr>
          <p:cNvPr id="213" name="Google Shape;213;p11"/>
          <p:cNvSpPr/>
          <p:nvPr/>
        </p:nvSpPr>
        <p:spPr>
          <a:xfrm>
            <a:off x="594360" y="1783080"/>
            <a:ext cx="3383280" cy="86868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C6551A"/>
              </a:buClr>
              <a:buSzPts val="5200"/>
              <a:buFont typeface="Cambria"/>
              <a:buNone/>
            </a:pPr>
            <a:r>
              <a:rPr b="1" i="0" lang="en-US" sz="5200" u="none" cap="none" strike="noStrike">
                <a:solidFill>
                  <a:srgbClr val="C6551A"/>
                </a:solidFill>
                <a:latin typeface="Cambria"/>
                <a:ea typeface="Cambria"/>
                <a:cs typeface="Cambria"/>
                <a:sym typeface="Cambria"/>
              </a:rPr>
              <a:t>+51%</a:t>
            </a:r>
            <a:endParaRPr b="0" i="0" sz="5200" u="none" cap="none" strike="noStrike">
              <a:solidFill>
                <a:schemeClr val="dk1"/>
              </a:solidFill>
              <a:latin typeface="Calibri"/>
              <a:ea typeface="Calibri"/>
              <a:cs typeface="Calibri"/>
              <a:sym typeface="Calibri"/>
            </a:endParaRPr>
          </a:p>
        </p:txBody>
      </p:sp>
      <p:sp>
        <p:nvSpPr>
          <p:cNvPr id="214" name="Google Shape;214;p11"/>
          <p:cNvSpPr/>
          <p:nvPr/>
        </p:nvSpPr>
        <p:spPr>
          <a:xfrm>
            <a:off x="594360" y="2670048"/>
            <a:ext cx="3383280" cy="64008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2A3547"/>
              </a:buClr>
              <a:buSzPts val="1300"/>
              <a:buFont typeface="Calibri"/>
              <a:buNone/>
            </a:pPr>
            <a:r>
              <a:rPr b="0" i="0" lang="en-US" sz="1300" u="none" cap="none" strike="noStrike">
                <a:solidFill>
                  <a:srgbClr val="2A3547"/>
                </a:solidFill>
                <a:latin typeface="Calibri"/>
                <a:ea typeface="Calibri"/>
                <a:cs typeface="Calibri"/>
                <a:sym typeface="Calibri"/>
              </a:rPr>
              <a:t>external outflow from</a:t>
            </a:r>
            <a:endParaRPr b="0" i="0" sz="1300" u="none" cap="none" strike="noStrike">
              <a:solidFill>
                <a:schemeClr val="dk1"/>
              </a:solidFill>
              <a:latin typeface="Calibri"/>
              <a:ea typeface="Calibri"/>
              <a:cs typeface="Calibri"/>
              <a:sym typeface="Calibri"/>
            </a:endParaRPr>
          </a:p>
          <a:p>
            <a:pPr indent="0" lvl="0" marL="0" marR="0" rtl="0" algn="ctr">
              <a:lnSpc>
                <a:spcPct val="100000"/>
              </a:lnSpc>
              <a:spcBef>
                <a:spcPts val="0"/>
              </a:spcBef>
              <a:spcAft>
                <a:spcPts val="0"/>
              </a:spcAft>
              <a:buClr>
                <a:srgbClr val="2A3547"/>
              </a:buClr>
              <a:buSzPts val="1300"/>
              <a:buFont typeface="Calibri"/>
              <a:buNone/>
            </a:pPr>
            <a:r>
              <a:rPr b="0" i="0" lang="en-US" sz="1300" u="none" cap="none" strike="noStrike">
                <a:solidFill>
                  <a:srgbClr val="2A3547"/>
                </a:solidFill>
                <a:latin typeface="Calibri"/>
                <a:ea typeface="Calibri"/>
                <a:cs typeface="Calibri"/>
                <a:sym typeface="Calibri"/>
              </a:rPr>
              <a:t>London, 2011 → 2021</a:t>
            </a:r>
            <a:endParaRPr b="0" i="0" sz="1300" u="none" cap="none" strike="noStrike">
              <a:solidFill>
                <a:schemeClr val="dk1"/>
              </a:solidFill>
              <a:latin typeface="Calibri"/>
              <a:ea typeface="Calibri"/>
              <a:cs typeface="Calibri"/>
              <a:sym typeface="Calibri"/>
            </a:endParaRPr>
          </a:p>
        </p:txBody>
      </p:sp>
      <p:sp>
        <p:nvSpPr>
          <p:cNvPr id="215" name="Google Shape;215;p11"/>
          <p:cNvSpPr/>
          <p:nvPr/>
        </p:nvSpPr>
        <p:spPr>
          <a:xfrm>
            <a:off x="4206240" y="1783080"/>
            <a:ext cx="3383280" cy="86868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245C99"/>
              </a:buClr>
              <a:buSzPts val="5200"/>
              <a:buFont typeface="Cambria"/>
              <a:buNone/>
            </a:pPr>
            <a:r>
              <a:rPr b="1" i="0" lang="en-US" sz="5200" u="none" cap="none" strike="noStrike">
                <a:solidFill>
                  <a:srgbClr val="245C99"/>
                </a:solidFill>
                <a:latin typeface="Cambria"/>
                <a:ea typeface="Cambria"/>
                <a:cs typeface="Cambria"/>
                <a:sym typeface="Cambria"/>
              </a:rPr>
              <a:t>53→116</a:t>
            </a:r>
            <a:endParaRPr b="0" i="0" sz="5200" u="none" cap="none" strike="noStrike">
              <a:solidFill>
                <a:schemeClr val="dk1"/>
              </a:solidFill>
              <a:latin typeface="Calibri"/>
              <a:ea typeface="Calibri"/>
              <a:cs typeface="Calibri"/>
              <a:sym typeface="Calibri"/>
            </a:endParaRPr>
          </a:p>
        </p:txBody>
      </p:sp>
      <p:sp>
        <p:nvSpPr>
          <p:cNvPr id="216" name="Google Shape;216;p11"/>
          <p:cNvSpPr/>
          <p:nvPr/>
        </p:nvSpPr>
        <p:spPr>
          <a:xfrm>
            <a:off x="4206240" y="2670048"/>
            <a:ext cx="3383280" cy="64008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2A3547"/>
              </a:buClr>
              <a:buSzPts val="1300"/>
              <a:buFont typeface="Calibri"/>
              <a:buNone/>
            </a:pPr>
            <a:r>
              <a:rPr b="0" i="0" lang="en-US" sz="1300" u="none" cap="none" strike="noStrike">
                <a:solidFill>
                  <a:srgbClr val="2A3547"/>
                </a:solidFill>
                <a:latin typeface="Calibri"/>
                <a:ea typeface="Calibri"/>
                <a:cs typeface="Calibri"/>
                <a:sym typeface="Calibri"/>
              </a:rPr>
              <a:t>net-exporter MSOAs</a:t>
            </a:r>
            <a:endParaRPr b="0" i="0" sz="1300" u="none" cap="none" strike="noStrike">
              <a:solidFill>
                <a:schemeClr val="dk1"/>
              </a:solidFill>
              <a:latin typeface="Calibri"/>
              <a:ea typeface="Calibri"/>
              <a:cs typeface="Calibri"/>
              <a:sym typeface="Calibri"/>
            </a:endParaRPr>
          </a:p>
          <a:p>
            <a:pPr indent="0" lvl="0" marL="0" marR="0" rtl="0" algn="ctr">
              <a:lnSpc>
                <a:spcPct val="100000"/>
              </a:lnSpc>
              <a:spcBef>
                <a:spcPts val="0"/>
              </a:spcBef>
              <a:spcAft>
                <a:spcPts val="0"/>
              </a:spcAft>
              <a:buClr>
                <a:srgbClr val="2A3547"/>
              </a:buClr>
              <a:buSzPts val="1300"/>
              <a:buFont typeface="Calibri"/>
              <a:buNone/>
            </a:pPr>
            <a:r>
              <a:rPr b="0" i="0" lang="en-US" sz="1300" u="none" cap="none" strike="noStrike">
                <a:solidFill>
                  <a:srgbClr val="2A3547"/>
                </a:solidFill>
                <a:latin typeface="Calibri"/>
                <a:ea typeface="Calibri"/>
                <a:cs typeface="Calibri"/>
                <a:sym typeface="Calibri"/>
              </a:rPr>
              <a:t>(+119%, national decile frame)</a:t>
            </a:r>
            <a:endParaRPr b="0" i="0" sz="1300" u="none" cap="none" strike="noStrike">
              <a:solidFill>
                <a:schemeClr val="dk1"/>
              </a:solidFill>
              <a:latin typeface="Calibri"/>
              <a:ea typeface="Calibri"/>
              <a:cs typeface="Calibri"/>
              <a:sym typeface="Calibri"/>
            </a:endParaRPr>
          </a:p>
        </p:txBody>
      </p:sp>
      <p:sp>
        <p:nvSpPr>
          <p:cNvPr id="217" name="Google Shape;217;p11"/>
          <p:cNvSpPr/>
          <p:nvPr/>
        </p:nvSpPr>
        <p:spPr>
          <a:xfrm>
            <a:off x="7818120" y="1783080"/>
            <a:ext cx="3383280" cy="86868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6233B"/>
              </a:buClr>
              <a:buSzPts val="5200"/>
              <a:buFont typeface="Cambria"/>
              <a:buNone/>
            </a:pPr>
            <a:r>
              <a:rPr b="1" i="0" lang="en-US" sz="5200" u="none" cap="none" strike="noStrike">
                <a:solidFill>
                  <a:srgbClr val="16233B"/>
                </a:solidFill>
                <a:latin typeface="Cambria"/>
                <a:ea typeface="Cambria"/>
                <a:cs typeface="Cambria"/>
                <a:sym typeface="Cambria"/>
              </a:rPr>
              <a:t>85%</a:t>
            </a:r>
            <a:endParaRPr b="0" i="0" sz="5200" u="none" cap="none" strike="noStrike">
              <a:solidFill>
                <a:schemeClr val="dk1"/>
              </a:solidFill>
              <a:latin typeface="Calibri"/>
              <a:ea typeface="Calibri"/>
              <a:cs typeface="Calibri"/>
              <a:sym typeface="Calibri"/>
            </a:endParaRPr>
          </a:p>
        </p:txBody>
      </p:sp>
      <p:sp>
        <p:nvSpPr>
          <p:cNvPr id="218" name="Google Shape;218;p11"/>
          <p:cNvSpPr/>
          <p:nvPr/>
        </p:nvSpPr>
        <p:spPr>
          <a:xfrm>
            <a:off x="7818120" y="2670048"/>
            <a:ext cx="3383280" cy="64008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2A3547"/>
              </a:buClr>
              <a:buSzPts val="1300"/>
              <a:buFont typeface="Calibri"/>
              <a:buNone/>
            </a:pPr>
            <a:r>
              <a:rPr b="0" i="0" lang="en-US" sz="1300" u="none" cap="none" strike="noStrike">
                <a:solidFill>
                  <a:srgbClr val="2A3547"/>
                </a:solidFill>
                <a:latin typeface="Calibri"/>
                <a:ea typeface="Calibri"/>
                <a:cs typeface="Calibri"/>
                <a:sym typeface="Calibri"/>
              </a:rPr>
              <a:t>of 2021 cascade-led</a:t>
            </a:r>
            <a:endParaRPr b="0" i="0" sz="1300" u="none" cap="none" strike="noStrike">
              <a:solidFill>
                <a:schemeClr val="dk1"/>
              </a:solidFill>
              <a:latin typeface="Calibri"/>
              <a:ea typeface="Calibri"/>
              <a:cs typeface="Calibri"/>
              <a:sym typeface="Calibri"/>
            </a:endParaRPr>
          </a:p>
          <a:p>
            <a:pPr indent="0" lvl="0" marL="0" marR="0" rtl="0" algn="ctr">
              <a:lnSpc>
                <a:spcPct val="100000"/>
              </a:lnSpc>
              <a:spcBef>
                <a:spcPts val="0"/>
              </a:spcBef>
              <a:spcAft>
                <a:spcPts val="0"/>
              </a:spcAft>
              <a:buClr>
                <a:srgbClr val="2A3547"/>
              </a:buClr>
              <a:buSzPts val="1300"/>
              <a:buFont typeface="Calibri"/>
              <a:buNone/>
            </a:pPr>
            <a:r>
              <a:rPr b="0" i="0" lang="en-US" sz="1300" u="none" cap="none" strike="noStrike">
                <a:solidFill>
                  <a:srgbClr val="2A3547"/>
                </a:solidFill>
                <a:latin typeface="Calibri"/>
                <a:ea typeface="Calibri"/>
                <a:cs typeface="Calibri"/>
                <a:sym typeface="Calibri"/>
              </a:rPr>
              <a:t>areas are outer London</a:t>
            </a:r>
            <a:endParaRPr b="0" i="0" sz="1300" u="none" cap="none" strike="noStrike">
              <a:solidFill>
                <a:schemeClr val="dk1"/>
              </a:solidFill>
              <a:latin typeface="Calibri"/>
              <a:ea typeface="Calibri"/>
              <a:cs typeface="Calibri"/>
              <a:sym typeface="Calibri"/>
            </a:endParaRPr>
          </a:p>
        </p:txBody>
      </p:sp>
      <p:sp>
        <p:nvSpPr>
          <p:cNvPr id="219" name="Google Shape;219;p11"/>
          <p:cNvSpPr/>
          <p:nvPr/>
        </p:nvSpPr>
        <p:spPr>
          <a:xfrm>
            <a:off x="594360" y="3703320"/>
            <a:ext cx="5486400" cy="1600200"/>
          </a:xfrm>
          <a:prstGeom prst="roundRect">
            <a:avLst>
              <a:gd fmla="val 5143" name="adj"/>
            </a:avLst>
          </a:prstGeom>
          <a:solidFill>
            <a:srgbClr val="F9E6D6"/>
          </a:solidFill>
          <a:ln>
            <a:noFill/>
          </a:ln>
          <a:effectLst>
            <a:outerShdw blurRad="101600" rotWithShape="0" algn="bl" dir="5400000" dist="38100">
              <a:srgbClr val="9AA6B8">
                <a:alpha val="27843"/>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0" name="Google Shape;220;p11"/>
          <p:cNvSpPr/>
          <p:nvPr/>
        </p:nvSpPr>
        <p:spPr>
          <a:xfrm>
            <a:off x="850392" y="3822192"/>
            <a:ext cx="4937760" cy="3200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C6551A"/>
              </a:buClr>
              <a:buSzPts val="1450"/>
              <a:buFont typeface="Calibri"/>
              <a:buNone/>
            </a:pPr>
            <a:r>
              <a:rPr b="1" i="0" lang="en-US" sz="1450" u="none" cap="none" strike="noStrike">
                <a:solidFill>
                  <a:srgbClr val="C6551A"/>
                </a:solidFill>
                <a:latin typeface="Calibri"/>
                <a:ea typeface="Calibri"/>
                <a:cs typeface="Calibri"/>
                <a:sym typeface="Calibri"/>
              </a:rPr>
              <a:t>Real gentrification cascade</a:t>
            </a:r>
            <a:endParaRPr b="0" i="0" sz="1450" u="none" cap="none" strike="noStrike">
              <a:solidFill>
                <a:schemeClr val="dk1"/>
              </a:solidFill>
              <a:latin typeface="Calibri"/>
              <a:ea typeface="Calibri"/>
              <a:cs typeface="Calibri"/>
              <a:sym typeface="Calibri"/>
            </a:endParaRPr>
          </a:p>
        </p:txBody>
      </p:sp>
      <p:sp>
        <p:nvSpPr>
          <p:cNvPr id="221" name="Google Shape;221;p11"/>
          <p:cNvSpPr/>
          <p:nvPr/>
        </p:nvSpPr>
        <p:spPr>
          <a:xfrm>
            <a:off x="850392" y="4160520"/>
            <a:ext cx="4983480" cy="1051560"/>
          </a:xfrm>
          <a:prstGeom prst="rect">
            <a:avLst/>
          </a:prstGeom>
          <a:noFill/>
          <a:ln>
            <a:noFill/>
          </a:ln>
        </p:spPr>
        <p:txBody>
          <a:bodyPr anchorCtr="0" anchor="ctr" bIns="0" lIns="0" spcFirstLastPara="1" rIns="0" wrap="square" tIns="0">
            <a:noAutofit/>
          </a:bodyPr>
          <a:lstStyle/>
          <a:p>
            <a:pPr indent="0" lvl="0" marL="0" marR="0" rtl="0" algn="l">
              <a:lnSpc>
                <a:spcPct val="110000"/>
              </a:lnSpc>
              <a:spcBef>
                <a:spcPts val="0"/>
              </a:spcBef>
              <a:spcAft>
                <a:spcPts val="0"/>
              </a:spcAft>
              <a:buClr>
                <a:srgbClr val="2A3547"/>
              </a:buClr>
              <a:buSzPts val="1350"/>
              <a:buFont typeface="Calibri"/>
              <a:buNone/>
            </a:pPr>
            <a:r>
              <a:rPr b="1" lang="en-US" sz="1350">
                <a:solidFill>
                  <a:srgbClr val="2A3547"/>
                </a:solidFill>
                <a:latin typeface="Calibri"/>
                <a:ea typeface="Calibri"/>
                <a:cs typeface="Calibri"/>
                <a:sym typeface="Calibri"/>
              </a:rPr>
              <a:t>H</a:t>
            </a:r>
            <a:r>
              <a:rPr b="1" i="0" lang="en-US" sz="1350" u="none" cap="none" strike="noStrike">
                <a:solidFill>
                  <a:srgbClr val="2A3547"/>
                </a:solidFill>
                <a:latin typeface="Calibri"/>
                <a:ea typeface="Calibri"/>
                <a:cs typeface="Calibri"/>
                <a:sym typeface="Calibri"/>
              </a:rPr>
              <a:t>igh inflow share</a:t>
            </a:r>
            <a:r>
              <a:rPr b="0" i="0" lang="en-US" sz="1350" u="none" cap="none" strike="noStrike">
                <a:solidFill>
                  <a:srgbClr val="2A3547"/>
                </a:solidFill>
                <a:latin typeface="Calibri"/>
                <a:ea typeface="Calibri"/>
                <a:cs typeface="Calibri"/>
                <a:sym typeface="Calibri"/>
              </a:rPr>
              <a:t> </a:t>
            </a:r>
            <a:endParaRPr sz="1350">
              <a:solidFill>
                <a:srgbClr val="2A3547"/>
              </a:solidFill>
              <a:latin typeface="Calibri"/>
              <a:ea typeface="Calibri"/>
              <a:cs typeface="Calibri"/>
              <a:sym typeface="Calibri"/>
            </a:endParaRPr>
          </a:p>
          <a:p>
            <a:pPr indent="0" lvl="0" marL="0" marR="0" rtl="0" algn="l">
              <a:lnSpc>
                <a:spcPct val="110000"/>
              </a:lnSpc>
              <a:spcBef>
                <a:spcPts val="0"/>
              </a:spcBef>
              <a:spcAft>
                <a:spcPts val="0"/>
              </a:spcAft>
              <a:buClr>
                <a:srgbClr val="2A3547"/>
              </a:buClr>
              <a:buSzPts val="1350"/>
              <a:buFont typeface="Calibri"/>
              <a:buNone/>
            </a:pPr>
            <a:r>
              <a:rPr lang="en-US" sz="1350">
                <a:solidFill>
                  <a:srgbClr val="2A3547"/>
                </a:solidFill>
                <a:latin typeface="Calibri"/>
                <a:ea typeface="Calibri"/>
                <a:cs typeface="Calibri"/>
                <a:sym typeface="Calibri"/>
              </a:rPr>
              <a:t>S</a:t>
            </a:r>
            <a:r>
              <a:rPr b="0" i="0" lang="en-US" sz="1350" u="none" cap="none" strike="noStrike">
                <a:solidFill>
                  <a:srgbClr val="2A3547"/>
                </a:solidFill>
                <a:latin typeface="Calibri"/>
                <a:ea typeface="Calibri"/>
                <a:cs typeface="Calibri"/>
                <a:sym typeface="Calibri"/>
              </a:rPr>
              <a:t>mall gap between frames  </a:t>
            </a:r>
            <a:endParaRPr sz="1350">
              <a:solidFill>
                <a:srgbClr val="2A3547"/>
              </a:solidFill>
              <a:latin typeface="Calibri"/>
              <a:ea typeface="Calibri"/>
              <a:cs typeface="Calibri"/>
              <a:sym typeface="Calibri"/>
            </a:endParaRPr>
          </a:p>
          <a:p>
            <a:pPr indent="0" lvl="0" marL="0" marR="0" rtl="0" algn="l">
              <a:lnSpc>
                <a:spcPct val="110000"/>
              </a:lnSpc>
              <a:spcBef>
                <a:spcPts val="0"/>
              </a:spcBef>
              <a:spcAft>
                <a:spcPts val="0"/>
              </a:spcAft>
              <a:buClr>
                <a:srgbClr val="2A3547"/>
              </a:buClr>
              <a:buSzPts val="1350"/>
              <a:buFont typeface="Calibri"/>
              <a:buNone/>
            </a:pPr>
            <a:r>
              <a:rPr lang="en-US" sz="1350">
                <a:solidFill>
                  <a:srgbClr val="2A3547"/>
                </a:solidFill>
                <a:latin typeface="Calibri"/>
                <a:ea typeface="Calibri"/>
                <a:cs typeface="Calibri"/>
                <a:sym typeface="Calibri"/>
              </a:rPr>
              <a:t>P</a:t>
            </a:r>
            <a:r>
              <a:rPr b="0" i="0" lang="en-US" sz="1350" u="none" cap="none" strike="noStrike">
                <a:solidFill>
                  <a:srgbClr val="2A3547"/>
                </a:solidFill>
                <a:latin typeface="Calibri"/>
                <a:ea typeface="Calibri"/>
                <a:cs typeface="Calibri"/>
                <a:sym typeface="Calibri"/>
              </a:rPr>
              <a:t>ersistent  </a:t>
            </a:r>
            <a:endParaRPr b="0" i="0" sz="1350" u="none" cap="none" strike="noStrike">
              <a:solidFill>
                <a:srgbClr val="2A3547"/>
              </a:solidFill>
              <a:latin typeface="Calibri"/>
              <a:ea typeface="Calibri"/>
              <a:cs typeface="Calibri"/>
              <a:sym typeface="Calibri"/>
            </a:endParaRPr>
          </a:p>
          <a:p>
            <a:pPr indent="0" lvl="0" marL="0" marR="0" rtl="0" algn="l">
              <a:lnSpc>
                <a:spcPct val="110000"/>
              </a:lnSpc>
              <a:spcBef>
                <a:spcPts val="0"/>
              </a:spcBef>
              <a:spcAft>
                <a:spcPts val="0"/>
              </a:spcAft>
              <a:buClr>
                <a:srgbClr val="2A3547"/>
              </a:buClr>
              <a:buSzPts val="1350"/>
              <a:buFont typeface="Calibri"/>
              <a:buNone/>
            </a:pPr>
            <a:r>
              <a:rPr lang="en-US" sz="1350">
                <a:solidFill>
                  <a:srgbClr val="2A3547"/>
                </a:solidFill>
                <a:latin typeface="Calibri"/>
                <a:ea typeface="Calibri"/>
                <a:cs typeface="Calibri"/>
                <a:sym typeface="Calibri"/>
              </a:rPr>
              <a:t>In</a:t>
            </a:r>
            <a:r>
              <a:rPr b="0" i="0" lang="en-US" sz="1350" u="none" cap="none" strike="noStrike">
                <a:solidFill>
                  <a:srgbClr val="2A3547"/>
                </a:solidFill>
                <a:latin typeface="Calibri"/>
                <a:ea typeface="Calibri"/>
                <a:cs typeface="Calibri"/>
                <a:sym typeface="Calibri"/>
              </a:rPr>
              <a:t>ner cores (Camden, Tower Hamlets)</a:t>
            </a:r>
            <a:endParaRPr b="0" i="0" sz="1350" u="none" cap="none" strike="noStrike">
              <a:solidFill>
                <a:schemeClr val="dk1"/>
              </a:solidFill>
              <a:latin typeface="Calibri"/>
              <a:ea typeface="Calibri"/>
              <a:cs typeface="Calibri"/>
              <a:sym typeface="Calibri"/>
            </a:endParaRPr>
          </a:p>
        </p:txBody>
      </p:sp>
      <p:sp>
        <p:nvSpPr>
          <p:cNvPr id="222" name="Google Shape;222;p11"/>
          <p:cNvSpPr/>
          <p:nvPr/>
        </p:nvSpPr>
        <p:spPr>
          <a:xfrm>
            <a:off x="6309360" y="3703320"/>
            <a:ext cx="5285232" cy="1600200"/>
          </a:xfrm>
          <a:prstGeom prst="roundRect">
            <a:avLst>
              <a:gd fmla="val 5143" name="adj"/>
            </a:avLst>
          </a:prstGeom>
          <a:solidFill>
            <a:srgbClr val="DCE8F4"/>
          </a:solidFill>
          <a:ln>
            <a:noFill/>
          </a:ln>
          <a:effectLst>
            <a:outerShdw blurRad="101600" rotWithShape="0" algn="bl" dir="5400000" dist="38100">
              <a:srgbClr val="9AA6B8">
                <a:alpha val="27843"/>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3" name="Google Shape;223;p11"/>
          <p:cNvSpPr/>
          <p:nvPr/>
        </p:nvSpPr>
        <p:spPr>
          <a:xfrm>
            <a:off x="6565392" y="3822192"/>
            <a:ext cx="4572000" cy="3200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45C99"/>
              </a:buClr>
              <a:buSzPts val="1450"/>
              <a:buFont typeface="Calibri"/>
              <a:buNone/>
            </a:pPr>
            <a:r>
              <a:rPr b="1" i="0" lang="en-US" sz="1450" u="none" cap="none" strike="noStrike">
                <a:solidFill>
                  <a:srgbClr val="245C99"/>
                </a:solidFill>
                <a:latin typeface="Calibri"/>
                <a:ea typeface="Calibri"/>
                <a:cs typeface="Calibri"/>
                <a:sym typeface="Calibri"/>
              </a:rPr>
              <a:t>Pandemic exodus</a:t>
            </a:r>
            <a:endParaRPr b="0" i="0" sz="1450" u="none" cap="none" strike="noStrike">
              <a:solidFill>
                <a:schemeClr val="dk1"/>
              </a:solidFill>
              <a:latin typeface="Calibri"/>
              <a:ea typeface="Calibri"/>
              <a:cs typeface="Calibri"/>
              <a:sym typeface="Calibri"/>
            </a:endParaRPr>
          </a:p>
        </p:txBody>
      </p:sp>
      <p:sp>
        <p:nvSpPr>
          <p:cNvPr id="224" name="Google Shape;224;p11"/>
          <p:cNvSpPr/>
          <p:nvPr/>
        </p:nvSpPr>
        <p:spPr>
          <a:xfrm>
            <a:off x="6565392" y="4160520"/>
            <a:ext cx="4773168" cy="1051560"/>
          </a:xfrm>
          <a:prstGeom prst="rect">
            <a:avLst/>
          </a:prstGeom>
          <a:noFill/>
          <a:ln>
            <a:noFill/>
          </a:ln>
        </p:spPr>
        <p:txBody>
          <a:bodyPr anchorCtr="0" anchor="ctr" bIns="0" lIns="0" spcFirstLastPara="1" rIns="0" wrap="square" tIns="0">
            <a:noAutofit/>
          </a:bodyPr>
          <a:lstStyle/>
          <a:p>
            <a:pPr indent="0" lvl="0" marL="0" marR="0" rtl="0" algn="l">
              <a:lnSpc>
                <a:spcPct val="110000"/>
              </a:lnSpc>
              <a:spcBef>
                <a:spcPts val="0"/>
              </a:spcBef>
              <a:spcAft>
                <a:spcPts val="0"/>
              </a:spcAft>
              <a:buClr>
                <a:srgbClr val="2A3547"/>
              </a:buClr>
              <a:buSzPts val="1350"/>
              <a:buFont typeface="Calibri"/>
              <a:buNone/>
            </a:pPr>
            <a:r>
              <a:rPr b="1" lang="en-US" sz="1350">
                <a:solidFill>
                  <a:srgbClr val="2A3547"/>
                </a:solidFill>
                <a:latin typeface="Calibri"/>
                <a:ea typeface="Calibri"/>
                <a:cs typeface="Calibri"/>
                <a:sym typeface="Calibri"/>
              </a:rPr>
              <a:t>L</a:t>
            </a:r>
            <a:r>
              <a:rPr b="1" i="0" lang="en-US" sz="1350" u="none" cap="none" strike="noStrike">
                <a:solidFill>
                  <a:srgbClr val="2A3547"/>
                </a:solidFill>
                <a:latin typeface="Calibri"/>
                <a:ea typeface="Calibri"/>
                <a:cs typeface="Calibri"/>
                <a:sym typeface="Calibri"/>
              </a:rPr>
              <a:t>ow inflow share</a:t>
            </a:r>
            <a:r>
              <a:rPr b="0" i="0" lang="en-US" sz="1350" u="none" cap="none" strike="noStrike">
                <a:solidFill>
                  <a:srgbClr val="2A3547"/>
                </a:solidFill>
                <a:latin typeface="Calibri"/>
                <a:ea typeface="Calibri"/>
                <a:cs typeface="Calibri"/>
                <a:sym typeface="Calibri"/>
              </a:rPr>
              <a:t> </a:t>
            </a:r>
            <a:endParaRPr sz="1350">
              <a:solidFill>
                <a:srgbClr val="2A3547"/>
              </a:solidFill>
              <a:latin typeface="Calibri"/>
              <a:ea typeface="Calibri"/>
              <a:cs typeface="Calibri"/>
              <a:sym typeface="Calibri"/>
            </a:endParaRPr>
          </a:p>
          <a:p>
            <a:pPr indent="0" lvl="0" marL="0" marR="0" rtl="0" algn="l">
              <a:lnSpc>
                <a:spcPct val="110000"/>
              </a:lnSpc>
              <a:spcBef>
                <a:spcPts val="0"/>
              </a:spcBef>
              <a:spcAft>
                <a:spcPts val="0"/>
              </a:spcAft>
              <a:buClr>
                <a:srgbClr val="2A3547"/>
              </a:buClr>
              <a:buSzPts val="1350"/>
              <a:buFont typeface="Calibri"/>
              <a:buNone/>
            </a:pPr>
            <a:r>
              <a:rPr lang="en-US" sz="1350">
                <a:solidFill>
                  <a:srgbClr val="2A3547"/>
                </a:solidFill>
                <a:latin typeface="Calibri"/>
                <a:ea typeface="Calibri"/>
                <a:cs typeface="Calibri"/>
                <a:sym typeface="Calibri"/>
              </a:rPr>
              <a:t>L</a:t>
            </a:r>
            <a:r>
              <a:rPr b="0" i="0" lang="en-US" sz="1350" u="none" cap="none" strike="noStrike">
                <a:solidFill>
                  <a:srgbClr val="2A3547"/>
                </a:solidFill>
                <a:latin typeface="Calibri"/>
                <a:ea typeface="Calibri"/>
                <a:cs typeface="Calibri"/>
                <a:sym typeface="Calibri"/>
              </a:rPr>
              <a:t>arge gap between frames  </a:t>
            </a:r>
            <a:endParaRPr sz="1350">
              <a:solidFill>
                <a:srgbClr val="2A3547"/>
              </a:solidFill>
              <a:latin typeface="Calibri"/>
              <a:ea typeface="Calibri"/>
              <a:cs typeface="Calibri"/>
              <a:sym typeface="Calibri"/>
            </a:endParaRPr>
          </a:p>
          <a:p>
            <a:pPr indent="0" lvl="0" marL="0" marR="0" rtl="0" algn="l">
              <a:lnSpc>
                <a:spcPct val="110000"/>
              </a:lnSpc>
              <a:spcBef>
                <a:spcPts val="0"/>
              </a:spcBef>
              <a:spcAft>
                <a:spcPts val="0"/>
              </a:spcAft>
              <a:buClr>
                <a:srgbClr val="2A3547"/>
              </a:buClr>
              <a:buSzPts val="1350"/>
              <a:buFont typeface="Calibri"/>
              <a:buNone/>
            </a:pPr>
            <a:r>
              <a:rPr lang="en-US" sz="1350">
                <a:solidFill>
                  <a:srgbClr val="2A3547"/>
                </a:solidFill>
                <a:latin typeface="Calibri"/>
                <a:ea typeface="Calibri"/>
                <a:cs typeface="Calibri"/>
                <a:sym typeface="Calibri"/>
              </a:rPr>
              <a:t>E</a:t>
            </a:r>
            <a:r>
              <a:rPr b="0" i="0" lang="en-US" sz="1350" u="none" cap="none" strike="noStrike">
                <a:solidFill>
                  <a:srgbClr val="2A3547"/>
                </a:solidFill>
                <a:latin typeface="Calibri"/>
                <a:ea typeface="Calibri"/>
                <a:cs typeface="Calibri"/>
                <a:sym typeface="Calibri"/>
              </a:rPr>
              <a:t>pisodic  </a:t>
            </a:r>
            <a:endParaRPr sz="1350">
              <a:solidFill>
                <a:srgbClr val="2A3547"/>
              </a:solidFill>
              <a:latin typeface="Calibri"/>
              <a:ea typeface="Calibri"/>
              <a:cs typeface="Calibri"/>
              <a:sym typeface="Calibri"/>
            </a:endParaRPr>
          </a:p>
          <a:p>
            <a:pPr indent="0" lvl="0" marL="0" marR="0" rtl="0" algn="l">
              <a:lnSpc>
                <a:spcPct val="110000"/>
              </a:lnSpc>
              <a:spcBef>
                <a:spcPts val="0"/>
              </a:spcBef>
              <a:spcAft>
                <a:spcPts val="0"/>
              </a:spcAft>
              <a:buClr>
                <a:srgbClr val="2A3547"/>
              </a:buClr>
              <a:buSzPts val="1350"/>
              <a:buFont typeface="Calibri"/>
              <a:buNone/>
            </a:pPr>
            <a:r>
              <a:rPr lang="en-US" sz="1350">
                <a:solidFill>
                  <a:srgbClr val="2A3547"/>
                </a:solidFill>
                <a:latin typeface="Calibri"/>
                <a:ea typeface="Calibri"/>
                <a:cs typeface="Calibri"/>
                <a:sym typeface="Calibri"/>
              </a:rPr>
              <a:t>O</a:t>
            </a:r>
            <a:r>
              <a:rPr b="0" i="0" lang="en-US" sz="1350" u="none" cap="none" strike="noStrike">
                <a:solidFill>
                  <a:srgbClr val="2A3547"/>
                </a:solidFill>
                <a:latin typeface="Calibri"/>
                <a:ea typeface="Calibri"/>
                <a:cs typeface="Calibri"/>
                <a:sym typeface="Calibri"/>
              </a:rPr>
              <a:t>uter ring (Kingston, Harrow, Richmond, Sutton)</a:t>
            </a:r>
            <a:endParaRPr b="0" i="0" sz="1350" u="none" cap="none" strike="noStrike">
              <a:solidFill>
                <a:schemeClr val="dk1"/>
              </a:solidFill>
              <a:latin typeface="Calibri"/>
              <a:ea typeface="Calibri"/>
              <a:cs typeface="Calibri"/>
              <a:sym typeface="Calibri"/>
            </a:endParaRPr>
          </a:p>
        </p:txBody>
      </p:sp>
      <p:sp>
        <p:nvSpPr>
          <p:cNvPr id="225" name="Google Shape;225;p11"/>
          <p:cNvSpPr/>
          <p:nvPr/>
        </p:nvSpPr>
        <p:spPr>
          <a:xfrm>
            <a:off x="594360" y="5532120"/>
            <a:ext cx="11000232" cy="777240"/>
          </a:xfrm>
          <a:prstGeom prst="rect">
            <a:avLst/>
          </a:prstGeom>
          <a:noFill/>
          <a:ln>
            <a:noFill/>
          </a:ln>
        </p:spPr>
        <p:txBody>
          <a:bodyPr anchorCtr="0" anchor="ctr" bIns="0" lIns="0" spcFirstLastPara="1" rIns="0" wrap="square" tIns="0">
            <a:noAutofit/>
          </a:bodyPr>
          <a:lstStyle/>
          <a:p>
            <a:pPr indent="0" lvl="0" marL="0" marR="0" rtl="0" algn="l">
              <a:lnSpc>
                <a:spcPct val="105000"/>
              </a:lnSpc>
              <a:spcBef>
                <a:spcPts val="0"/>
              </a:spcBef>
              <a:spcAft>
                <a:spcPts val="0"/>
              </a:spcAft>
              <a:buClr>
                <a:srgbClr val="C6551A"/>
              </a:buClr>
              <a:buSzPts val="1300"/>
              <a:buFont typeface="Calibri"/>
              <a:buNone/>
            </a:pPr>
            <a:r>
              <a:rPr b="1" i="1" lang="en-US" sz="1300" u="none" cap="none" strike="noStrike">
                <a:solidFill>
                  <a:srgbClr val="C6551A"/>
                </a:solidFill>
                <a:latin typeface="Calibri"/>
                <a:ea typeface="Calibri"/>
                <a:cs typeface="Calibri"/>
                <a:sym typeface="Calibri"/>
              </a:rPr>
              <a:t>Caveat:  </a:t>
            </a:r>
            <a:r>
              <a:rPr b="0" i="1" lang="en-US" sz="1300" u="none" cap="none" strike="noStrike">
                <a:solidFill>
                  <a:srgbClr val="6E7C90"/>
                </a:solidFill>
                <a:latin typeface="Calibri"/>
                <a:ea typeface="Calibri"/>
                <a:cs typeface="Calibri"/>
                <a:sym typeface="Calibri"/>
              </a:rPr>
              <a:t>the March 2021 census was taken under lockdown, which both caused the suburban shift and degraded migration measurement — the within-London decline shouldn't be over-read.</a:t>
            </a:r>
            <a:endParaRPr b="0" i="0" sz="1300" u="none" cap="none" strike="noStrike">
              <a:solidFill>
                <a:schemeClr val="dk1"/>
              </a:solidFill>
              <a:latin typeface="Calibri"/>
              <a:ea typeface="Calibri"/>
              <a:cs typeface="Calibri"/>
              <a:sym typeface="Calibri"/>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6233B"/>
        </a:solidFill>
      </p:bgPr>
    </p:bg>
    <p:spTree>
      <p:nvGrpSpPr>
        <p:cNvPr id="230" name="Shape 230"/>
        <p:cNvGrpSpPr/>
        <p:nvPr/>
      </p:nvGrpSpPr>
      <p:grpSpPr>
        <a:xfrm>
          <a:off x="0" y="0"/>
          <a:ext cx="0" cy="0"/>
          <a:chOff x="0" y="0"/>
          <a:chExt cx="0" cy="0"/>
        </a:xfrm>
      </p:grpSpPr>
      <p:sp>
        <p:nvSpPr>
          <p:cNvPr id="231" name="Google Shape;231;p12"/>
          <p:cNvSpPr/>
          <p:nvPr/>
        </p:nvSpPr>
        <p:spPr>
          <a:xfrm>
            <a:off x="594360" y="640080"/>
            <a:ext cx="8229600" cy="3200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8FA3C4"/>
              </a:buClr>
              <a:buSzPts val="1300"/>
              <a:buFont typeface="Calibri"/>
              <a:buNone/>
            </a:pPr>
            <a:r>
              <a:rPr b="1" i="0" lang="en-US" sz="1300" u="none" cap="none" strike="noStrike">
                <a:solidFill>
                  <a:srgbClr val="8FA3C4"/>
                </a:solidFill>
                <a:latin typeface="Calibri"/>
                <a:ea typeface="Calibri"/>
                <a:cs typeface="Calibri"/>
                <a:sym typeface="Calibri"/>
              </a:rPr>
              <a:t>CONCLUSION</a:t>
            </a:r>
            <a:endParaRPr b="0" i="0" sz="1300" u="none" cap="none" strike="noStrike">
              <a:solidFill>
                <a:schemeClr val="dk1"/>
              </a:solidFill>
              <a:latin typeface="Calibri"/>
              <a:ea typeface="Calibri"/>
              <a:cs typeface="Calibri"/>
              <a:sym typeface="Calibri"/>
            </a:endParaRPr>
          </a:p>
        </p:txBody>
      </p:sp>
      <p:sp>
        <p:nvSpPr>
          <p:cNvPr id="232" name="Google Shape;232;p12"/>
          <p:cNvSpPr/>
          <p:nvPr/>
        </p:nvSpPr>
        <p:spPr>
          <a:xfrm>
            <a:off x="594360" y="1005840"/>
            <a:ext cx="11000232" cy="914400"/>
          </a:xfrm>
          <a:prstGeom prst="rect">
            <a:avLst/>
          </a:prstGeom>
          <a:noFill/>
          <a:ln>
            <a:noFill/>
          </a:ln>
        </p:spPr>
        <p:txBody>
          <a:bodyPr anchorCtr="0" anchor="ctr" bIns="0" lIns="0" spcFirstLastPara="1" rIns="0" wrap="square" tIns="0">
            <a:noAutofit/>
          </a:bodyPr>
          <a:lstStyle/>
          <a:p>
            <a:pPr indent="0" lvl="0" marL="0" marR="0" rtl="0" algn="l">
              <a:lnSpc>
                <a:spcPct val="98000"/>
              </a:lnSpc>
              <a:spcBef>
                <a:spcPts val="0"/>
              </a:spcBef>
              <a:spcAft>
                <a:spcPts val="0"/>
              </a:spcAft>
              <a:buClr>
                <a:srgbClr val="FFFFFF"/>
              </a:buClr>
              <a:buSzPts val="3200"/>
              <a:buFont typeface="Cambria"/>
              <a:buNone/>
            </a:pPr>
            <a:r>
              <a:rPr b="1" i="0" lang="en-US" sz="3200" u="none" cap="none" strike="noStrike">
                <a:solidFill>
                  <a:srgbClr val="FFFFFF"/>
                </a:solidFill>
                <a:latin typeface="Cambria"/>
                <a:ea typeface="Cambria"/>
                <a:cs typeface="Cambria"/>
                <a:sym typeface="Cambria"/>
              </a:rPr>
              <a:t>Why cascade and gentrification don't imply each other</a:t>
            </a:r>
            <a:endParaRPr b="0" i="0" sz="3200" u="none" cap="none" strike="noStrike">
              <a:solidFill>
                <a:schemeClr val="dk1"/>
              </a:solidFill>
              <a:latin typeface="Calibri"/>
              <a:ea typeface="Calibri"/>
              <a:cs typeface="Calibri"/>
              <a:sym typeface="Calibri"/>
            </a:endParaRPr>
          </a:p>
        </p:txBody>
      </p:sp>
      <p:sp>
        <p:nvSpPr>
          <p:cNvPr id="233" name="Google Shape;233;p12"/>
          <p:cNvSpPr/>
          <p:nvPr/>
        </p:nvSpPr>
        <p:spPr>
          <a:xfrm>
            <a:off x="594360" y="2098343"/>
            <a:ext cx="5349300" cy="1828800"/>
          </a:xfrm>
          <a:prstGeom prst="roundRect">
            <a:avLst>
              <a:gd fmla="val 5000" name="adj"/>
            </a:avLst>
          </a:prstGeom>
          <a:solidFill>
            <a:srgbClr val="22325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4" name="Google Shape;234;p12"/>
          <p:cNvSpPr/>
          <p:nvPr/>
        </p:nvSpPr>
        <p:spPr>
          <a:xfrm>
            <a:off x="868680" y="2299511"/>
            <a:ext cx="548700" cy="5487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C6551A"/>
              </a:buClr>
              <a:buSzPts val="3000"/>
              <a:buFont typeface="Cambria"/>
              <a:buNone/>
            </a:pPr>
            <a:r>
              <a:rPr b="1" i="0" lang="en-US" sz="3000" u="none" cap="none" strike="noStrike">
                <a:solidFill>
                  <a:srgbClr val="C6551A"/>
                </a:solidFill>
                <a:latin typeface="Cambria"/>
                <a:ea typeface="Cambria"/>
                <a:cs typeface="Cambria"/>
                <a:sym typeface="Cambria"/>
              </a:rPr>
              <a:t>1</a:t>
            </a:r>
            <a:endParaRPr b="0" i="0" sz="3000" u="none" cap="none" strike="noStrike">
              <a:solidFill>
                <a:schemeClr val="dk1"/>
              </a:solidFill>
              <a:latin typeface="Calibri"/>
              <a:ea typeface="Calibri"/>
              <a:cs typeface="Calibri"/>
              <a:sym typeface="Calibri"/>
            </a:endParaRPr>
          </a:p>
        </p:txBody>
      </p:sp>
      <p:sp>
        <p:nvSpPr>
          <p:cNvPr id="235" name="Google Shape;235;p12"/>
          <p:cNvSpPr/>
          <p:nvPr/>
        </p:nvSpPr>
        <p:spPr>
          <a:xfrm>
            <a:off x="868680" y="2875583"/>
            <a:ext cx="4800600" cy="960000"/>
          </a:xfrm>
          <a:prstGeom prst="rect">
            <a:avLst/>
          </a:prstGeom>
          <a:noFill/>
          <a:ln>
            <a:noFill/>
          </a:ln>
        </p:spPr>
        <p:txBody>
          <a:bodyPr anchorCtr="0" anchor="ctr" bIns="0" lIns="0" spcFirstLastPara="1" rIns="0" wrap="square" tIns="0">
            <a:noAutofit/>
          </a:bodyPr>
          <a:lstStyle/>
          <a:p>
            <a:pPr indent="0" lvl="0" marL="0" marR="0" rtl="0" algn="l">
              <a:lnSpc>
                <a:spcPct val="108000"/>
              </a:lnSpc>
              <a:spcBef>
                <a:spcPts val="0"/>
              </a:spcBef>
              <a:spcAft>
                <a:spcPts val="0"/>
              </a:spcAft>
              <a:buClr>
                <a:srgbClr val="FFFFFF"/>
              </a:buClr>
              <a:buSzPts val="1700"/>
              <a:buFont typeface="Calibri"/>
              <a:buNone/>
            </a:pPr>
            <a:r>
              <a:rPr b="1" i="0" lang="en-US" sz="1700" u="none" cap="none" strike="noStrike">
                <a:solidFill>
                  <a:srgbClr val="FFFFFF"/>
                </a:solidFill>
                <a:latin typeface="Calibri"/>
                <a:ea typeface="Calibri"/>
                <a:cs typeface="Calibri"/>
                <a:sym typeface="Calibri"/>
              </a:rPr>
              <a:t>Measurement decoupling</a:t>
            </a:r>
            <a:endParaRPr b="0" i="0" sz="1700" u="none" cap="none" strike="noStrike">
              <a:solidFill>
                <a:schemeClr val="dk1"/>
              </a:solidFill>
              <a:latin typeface="Calibri"/>
              <a:ea typeface="Calibri"/>
              <a:cs typeface="Calibri"/>
              <a:sym typeface="Calibri"/>
            </a:endParaRPr>
          </a:p>
          <a:p>
            <a:pPr indent="0" lvl="0" marL="0" marR="0" rtl="0" algn="l">
              <a:lnSpc>
                <a:spcPct val="108000"/>
              </a:lnSpc>
              <a:spcBef>
                <a:spcPts val="500"/>
              </a:spcBef>
              <a:spcAft>
                <a:spcPts val="0"/>
              </a:spcAft>
              <a:buClr>
                <a:srgbClr val="CAD6EA"/>
              </a:buClr>
              <a:buSzPts val="1350"/>
              <a:buFont typeface="Calibri"/>
              <a:buNone/>
            </a:pPr>
            <a:r>
              <a:rPr b="0" i="0" lang="en-US" sz="1350" u="none" cap="none" strike="noStrike">
                <a:solidFill>
                  <a:srgbClr val="CAD6EA"/>
                </a:solidFill>
                <a:latin typeface="Calibri"/>
                <a:ea typeface="Calibri"/>
                <a:cs typeface="Calibri"/>
                <a:sym typeface="Calibri"/>
              </a:rPr>
              <a:t>Flows and attributes capture different processes — one is who is there, the other is how the hierarchy is being reshuffled.</a:t>
            </a:r>
            <a:endParaRPr b="0" i="0" sz="1700" u="none" cap="none" strike="noStrike">
              <a:solidFill>
                <a:schemeClr val="dk1"/>
              </a:solidFill>
              <a:latin typeface="Calibri"/>
              <a:ea typeface="Calibri"/>
              <a:cs typeface="Calibri"/>
              <a:sym typeface="Calibri"/>
            </a:endParaRPr>
          </a:p>
        </p:txBody>
      </p:sp>
      <p:sp>
        <p:nvSpPr>
          <p:cNvPr id="236" name="Google Shape;236;p12"/>
          <p:cNvSpPr/>
          <p:nvPr/>
        </p:nvSpPr>
        <p:spPr>
          <a:xfrm>
            <a:off x="6355080" y="2098343"/>
            <a:ext cx="5212200" cy="1828800"/>
          </a:xfrm>
          <a:prstGeom prst="roundRect">
            <a:avLst>
              <a:gd fmla="val 5000" name="adj"/>
            </a:avLst>
          </a:prstGeom>
          <a:solidFill>
            <a:srgbClr val="22325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7" name="Google Shape;237;p12"/>
          <p:cNvSpPr/>
          <p:nvPr/>
        </p:nvSpPr>
        <p:spPr>
          <a:xfrm>
            <a:off x="6629400" y="2299511"/>
            <a:ext cx="548700" cy="5487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FA0D6"/>
              </a:buClr>
              <a:buSzPts val="3000"/>
              <a:buFont typeface="Cambria"/>
              <a:buNone/>
            </a:pPr>
            <a:r>
              <a:rPr b="1" i="0" lang="en-US" sz="3000" u="none" cap="none" strike="noStrike">
                <a:solidFill>
                  <a:srgbClr val="6FA0D6"/>
                </a:solidFill>
                <a:latin typeface="Cambria"/>
                <a:ea typeface="Cambria"/>
                <a:cs typeface="Cambria"/>
                <a:sym typeface="Cambria"/>
              </a:rPr>
              <a:t>2</a:t>
            </a:r>
            <a:endParaRPr b="0" i="0" sz="3000" u="none" cap="none" strike="noStrike">
              <a:solidFill>
                <a:schemeClr val="dk1"/>
              </a:solidFill>
              <a:latin typeface="Calibri"/>
              <a:ea typeface="Calibri"/>
              <a:cs typeface="Calibri"/>
              <a:sym typeface="Calibri"/>
            </a:endParaRPr>
          </a:p>
        </p:txBody>
      </p:sp>
      <p:sp>
        <p:nvSpPr>
          <p:cNvPr id="238" name="Google Shape;238;p12"/>
          <p:cNvSpPr/>
          <p:nvPr/>
        </p:nvSpPr>
        <p:spPr>
          <a:xfrm>
            <a:off x="6629400" y="2875583"/>
            <a:ext cx="4663500" cy="960000"/>
          </a:xfrm>
          <a:prstGeom prst="rect">
            <a:avLst/>
          </a:prstGeom>
          <a:noFill/>
          <a:ln>
            <a:noFill/>
          </a:ln>
        </p:spPr>
        <p:txBody>
          <a:bodyPr anchorCtr="0" anchor="ctr" bIns="0" lIns="0" spcFirstLastPara="1" rIns="0" wrap="square" tIns="0">
            <a:noAutofit/>
          </a:bodyPr>
          <a:lstStyle/>
          <a:p>
            <a:pPr indent="0" lvl="0" marL="0" marR="0" rtl="0" algn="l">
              <a:lnSpc>
                <a:spcPct val="108000"/>
              </a:lnSpc>
              <a:spcBef>
                <a:spcPts val="0"/>
              </a:spcBef>
              <a:spcAft>
                <a:spcPts val="0"/>
              </a:spcAft>
              <a:buClr>
                <a:srgbClr val="FFFFFF"/>
              </a:buClr>
              <a:buSzPts val="1700"/>
              <a:buFont typeface="Calibri"/>
              <a:buNone/>
            </a:pPr>
            <a:r>
              <a:rPr b="1" i="0" lang="en-US" sz="1700" u="none" cap="none" strike="noStrike">
                <a:solidFill>
                  <a:srgbClr val="FFFFFF"/>
                </a:solidFill>
                <a:latin typeface="Calibri"/>
                <a:ea typeface="Calibri"/>
                <a:cs typeface="Calibri"/>
                <a:sym typeface="Calibri"/>
              </a:rPr>
              <a:t>Temporal shock</a:t>
            </a:r>
            <a:endParaRPr b="0" i="0" sz="1700" u="none" cap="none" strike="noStrike">
              <a:solidFill>
                <a:schemeClr val="dk1"/>
              </a:solidFill>
              <a:latin typeface="Calibri"/>
              <a:ea typeface="Calibri"/>
              <a:cs typeface="Calibri"/>
              <a:sym typeface="Calibri"/>
            </a:endParaRPr>
          </a:p>
          <a:p>
            <a:pPr indent="0" lvl="0" marL="0" marR="0" rtl="0" algn="l">
              <a:lnSpc>
                <a:spcPct val="108000"/>
              </a:lnSpc>
              <a:spcBef>
                <a:spcPts val="500"/>
              </a:spcBef>
              <a:spcAft>
                <a:spcPts val="0"/>
              </a:spcAft>
              <a:buClr>
                <a:srgbClr val="CAD6EA"/>
              </a:buClr>
              <a:buSzPts val="1350"/>
              <a:buFont typeface="Calibri"/>
              <a:buNone/>
            </a:pPr>
            <a:r>
              <a:rPr b="0" i="0" lang="en-US" sz="1350" u="none" cap="none" strike="noStrike">
                <a:solidFill>
                  <a:srgbClr val="CAD6EA"/>
                </a:solidFill>
                <a:latin typeface="Calibri"/>
                <a:ea typeface="Calibri"/>
                <a:cs typeface="Calibri"/>
                <a:sym typeface="Calibri"/>
              </a:rPr>
              <a:t>2021's flows are dominated by a one-off pandemic exodus, not gentrification relocating outward.</a:t>
            </a:r>
            <a:endParaRPr b="0" i="0" sz="1700" u="none" cap="none" strike="noStrike">
              <a:solidFill>
                <a:schemeClr val="dk1"/>
              </a:solidFill>
              <a:latin typeface="Calibri"/>
              <a:ea typeface="Calibri"/>
              <a:cs typeface="Calibri"/>
              <a:sym typeface="Calibri"/>
            </a:endParaRPr>
          </a:p>
        </p:txBody>
      </p:sp>
      <p:sp>
        <p:nvSpPr>
          <p:cNvPr id="239" name="Google Shape;239;p12"/>
          <p:cNvSpPr/>
          <p:nvPr/>
        </p:nvSpPr>
        <p:spPr>
          <a:xfrm>
            <a:off x="594360" y="4155743"/>
            <a:ext cx="11000100" cy="1600200"/>
          </a:xfrm>
          <a:prstGeom prst="roundRect">
            <a:avLst>
              <a:gd fmla="val 5714" name="adj"/>
            </a:avLst>
          </a:prstGeom>
          <a:solidFill>
            <a:srgbClr val="1C2E4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0" name="Google Shape;240;p12"/>
          <p:cNvSpPr/>
          <p:nvPr/>
        </p:nvSpPr>
        <p:spPr>
          <a:xfrm>
            <a:off x="868680" y="4311191"/>
            <a:ext cx="5486400" cy="274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C6551A"/>
              </a:buClr>
              <a:buSzPts val="1200"/>
              <a:buFont typeface="Calibri"/>
              <a:buNone/>
            </a:pPr>
            <a:r>
              <a:rPr b="1" i="0" lang="en-US" sz="1200" u="none" cap="none" strike="noStrike">
                <a:solidFill>
                  <a:srgbClr val="C6551A"/>
                </a:solidFill>
                <a:latin typeface="Calibri"/>
                <a:ea typeface="Calibri"/>
                <a:cs typeface="Calibri"/>
                <a:sym typeface="Calibri"/>
              </a:rPr>
              <a:t>CONTRIBUTION</a:t>
            </a:r>
            <a:endParaRPr b="0" i="0" sz="1200" u="none" cap="none" strike="noStrike">
              <a:solidFill>
                <a:schemeClr val="dk1"/>
              </a:solidFill>
              <a:latin typeface="Calibri"/>
              <a:ea typeface="Calibri"/>
              <a:cs typeface="Calibri"/>
              <a:sym typeface="Calibri"/>
            </a:endParaRPr>
          </a:p>
        </p:txBody>
      </p:sp>
      <p:sp>
        <p:nvSpPr>
          <p:cNvPr id="241" name="Google Shape;241;p12"/>
          <p:cNvSpPr/>
          <p:nvPr/>
        </p:nvSpPr>
        <p:spPr>
          <a:xfrm>
            <a:off x="868680" y="4640375"/>
            <a:ext cx="10451700" cy="1005900"/>
          </a:xfrm>
          <a:prstGeom prst="rect">
            <a:avLst/>
          </a:prstGeom>
          <a:noFill/>
          <a:ln>
            <a:noFill/>
          </a:ln>
        </p:spPr>
        <p:txBody>
          <a:bodyPr anchorCtr="0" anchor="ctr" bIns="0" lIns="0" spcFirstLastPara="1" rIns="0" wrap="square" tIns="0">
            <a:noAutofit/>
          </a:bodyPr>
          <a:lstStyle/>
          <a:p>
            <a:pPr indent="0" lvl="0" marL="0" marR="0" rtl="0" algn="l">
              <a:lnSpc>
                <a:spcPct val="112000"/>
              </a:lnSpc>
              <a:spcBef>
                <a:spcPts val="0"/>
              </a:spcBef>
              <a:spcAft>
                <a:spcPts val="0"/>
              </a:spcAft>
              <a:buClr>
                <a:srgbClr val="FFFFFF"/>
              </a:buClr>
              <a:buSzPts val="1500"/>
              <a:buFont typeface="Calibri"/>
              <a:buNone/>
            </a:pPr>
            <a:r>
              <a:rPr b="1" i="0" lang="en-US" sz="1500" u="none" cap="none" strike="noStrike">
                <a:solidFill>
                  <a:srgbClr val="FFFFFF"/>
                </a:solidFill>
                <a:latin typeface="Calibri"/>
                <a:ea typeface="Calibri"/>
                <a:cs typeface="Calibri"/>
                <a:sym typeface="Calibri"/>
              </a:rPr>
              <a:t>An open-data, whole-city flow lens plus a three-frame decomposition. </a:t>
            </a:r>
            <a:r>
              <a:rPr b="0" i="0" lang="en-US" sz="1500" u="none" cap="none" strike="noStrike">
                <a:solidFill>
                  <a:srgbClr val="D6E0F0"/>
                </a:solidFill>
                <a:latin typeface="Calibri"/>
                <a:ea typeface="Calibri"/>
                <a:cs typeface="Calibri"/>
                <a:sym typeface="Calibri"/>
              </a:rPr>
              <a:t>The divergence cells — where flows and attributes disagree — are exactly what attribute methods miss, and the decoupling converges with recent mover-level findings (Freeman et al. 2024).</a:t>
            </a:r>
            <a:endParaRPr b="0" i="0" sz="1500" u="none" cap="none" strike="noStrike">
              <a:solidFill>
                <a:schemeClr val="dk1"/>
              </a:solidFill>
              <a:latin typeface="Calibri"/>
              <a:ea typeface="Calibri"/>
              <a:cs typeface="Calibri"/>
              <a:sym typeface="Calibri"/>
            </a:endParaRPr>
          </a:p>
        </p:txBody>
      </p:sp>
      <p:sp>
        <p:nvSpPr>
          <p:cNvPr id="242" name="Google Shape;242;p12"/>
          <p:cNvSpPr/>
          <p:nvPr/>
        </p:nvSpPr>
        <p:spPr>
          <a:xfrm>
            <a:off x="594360" y="6172200"/>
            <a:ext cx="11000232" cy="4572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9FC0E6"/>
              </a:buClr>
              <a:buSzPts val="1500"/>
              <a:buFont typeface="Cambria"/>
              <a:buNone/>
            </a:pPr>
            <a:r>
              <a:rPr b="0" i="1" lang="en-US" sz="1500" u="none" cap="none" strike="noStrike">
                <a:solidFill>
                  <a:srgbClr val="9FC0E6"/>
                </a:solidFill>
                <a:latin typeface="Cambria"/>
                <a:ea typeface="Cambria"/>
                <a:cs typeface="Cambria"/>
                <a:sym typeface="Cambria"/>
              </a:rPr>
              <a:t>Takeaway: a flow lens doesn't detect gentrification worse — it measures a different process, and reveals what attributes overlook.</a:t>
            </a:r>
            <a:endParaRPr b="0" i="0" sz="1500" u="none" cap="none" strike="noStrike">
              <a:solidFill>
                <a:schemeClr val="dk1"/>
              </a:solidFill>
              <a:latin typeface="Calibri"/>
              <a:ea typeface="Calibri"/>
              <a:cs typeface="Calibri"/>
              <a:sym typeface="Calibri"/>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47" name="Shape 247"/>
        <p:cNvGrpSpPr/>
        <p:nvPr/>
      </p:nvGrpSpPr>
      <p:grpSpPr>
        <a:xfrm>
          <a:off x="0" y="0"/>
          <a:ext cx="0" cy="0"/>
          <a:chOff x="0" y="0"/>
          <a:chExt cx="0" cy="0"/>
        </a:xfrm>
      </p:grpSpPr>
      <p:sp>
        <p:nvSpPr>
          <p:cNvPr id="248" name="Google Shape;248;p13"/>
          <p:cNvSpPr/>
          <p:nvPr/>
        </p:nvSpPr>
        <p:spPr>
          <a:xfrm>
            <a:off x="594360" y="411480"/>
            <a:ext cx="11000232" cy="29260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E7C90"/>
              </a:buClr>
              <a:buSzPts val="1200"/>
              <a:buFont typeface="Calibri"/>
              <a:buNone/>
            </a:pPr>
            <a:r>
              <a:rPr b="1" i="0" lang="en-US" sz="1200" u="none" cap="none" strike="noStrike">
                <a:solidFill>
                  <a:srgbClr val="6E7C90"/>
                </a:solidFill>
                <a:latin typeface="Calibri"/>
                <a:ea typeface="Calibri"/>
                <a:cs typeface="Calibri"/>
                <a:sym typeface="Calibri"/>
              </a:rPr>
              <a:t>LIMITATIONS &amp; WHAT'S NEXT</a:t>
            </a:r>
            <a:endParaRPr b="0" i="0" sz="1200" u="none" cap="none" strike="noStrike">
              <a:solidFill>
                <a:schemeClr val="dk1"/>
              </a:solidFill>
              <a:latin typeface="Calibri"/>
              <a:ea typeface="Calibri"/>
              <a:cs typeface="Calibri"/>
              <a:sym typeface="Calibri"/>
            </a:endParaRPr>
          </a:p>
        </p:txBody>
      </p:sp>
      <p:sp>
        <p:nvSpPr>
          <p:cNvPr id="249" name="Google Shape;249;p13"/>
          <p:cNvSpPr/>
          <p:nvPr/>
        </p:nvSpPr>
        <p:spPr>
          <a:xfrm>
            <a:off x="594360" y="749808"/>
            <a:ext cx="11000232" cy="822960"/>
          </a:xfrm>
          <a:prstGeom prst="rect">
            <a:avLst/>
          </a:prstGeom>
          <a:noFill/>
          <a:ln>
            <a:noFill/>
          </a:ln>
        </p:spPr>
        <p:txBody>
          <a:bodyPr anchorCtr="0" anchor="t" bIns="0" lIns="0" spcFirstLastPara="1" rIns="0" wrap="square" tIns="0">
            <a:noAutofit/>
          </a:bodyPr>
          <a:lstStyle/>
          <a:p>
            <a:pPr indent="0" lvl="0" marL="0" marR="0" rtl="0" algn="l">
              <a:lnSpc>
                <a:spcPct val="98000"/>
              </a:lnSpc>
              <a:spcBef>
                <a:spcPts val="0"/>
              </a:spcBef>
              <a:spcAft>
                <a:spcPts val="0"/>
              </a:spcAft>
              <a:buClr>
                <a:srgbClr val="16233B"/>
              </a:buClr>
              <a:buSzPts val="3200"/>
              <a:buFont typeface="Cambria"/>
              <a:buNone/>
            </a:pPr>
            <a:r>
              <a:rPr b="1" i="0" lang="en-US" sz="3200" u="none" cap="none" strike="noStrike">
                <a:solidFill>
                  <a:srgbClr val="16233B"/>
                </a:solidFill>
                <a:latin typeface="Cambria"/>
                <a:ea typeface="Cambria"/>
                <a:cs typeface="Cambria"/>
                <a:sym typeface="Cambria"/>
              </a:rPr>
              <a:t>What this can't say — and where it goes</a:t>
            </a:r>
            <a:endParaRPr b="0" i="0" sz="3200" u="none" cap="none" strike="noStrike">
              <a:solidFill>
                <a:schemeClr val="dk1"/>
              </a:solidFill>
              <a:latin typeface="Calibri"/>
              <a:ea typeface="Calibri"/>
              <a:cs typeface="Calibri"/>
              <a:sym typeface="Calibri"/>
            </a:endParaRPr>
          </a:p>
        </p:txBody>
      </p:sp>
      <p:sp>
        <p:nvSpPr>
          <p:cNvPr id="250" name="Google Shape;250;p13"/>
          <p:cNvSpPr/>
          <p:nvPr/>
        </p:nvSpPr>
        <p:spPr>
          <a:xfrm>
            <a:off x="594360" y="1865376"/>
            <a:ext cx="146304" cy="146304"/>
          </a:xfrm>
          <a:prstGeom prst="ellipse">
            <a:avLst/>
          </a:prstGeom>
          <a:solidFill>
            <a:srgbClr val="C6551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1" name="Google Shape;251;p13"/>
          <p:cNvSpPr/>
          <p:nvPr/>
        </p:nvSpPr>
        <p:spPr>
          <a:xfrm>
            <a:off x="914400" y="1737360"/>
            <a:ext cx="6583680" cy="658368"/>
          </a:xfrm>
          <a:prstGeom prst="rect">
            <a:avLst/>
          </a:prstGeom>
          <a:noFill/>
          <a:ln>
            <a:noFill/>
          </a:ln>
        </p:spPr>
        <p:txBody>
          <a:bodyPr anchorCtr="0" anchor="t" bIns="0" lIns="0" spcFirstLastPara="1" rIns="0" wrap="square" tIns="0">
            <a:noAutofit/>
          </a:bodyPr>
          <a:lstStyle/>
          <a:p>
            <a:pPr indent="0" lvl="0" marL="0" marR="0" rtl="0" algn="l">
              <a:lnSpc>
                <a:spcPct val="103000"/>
              </a:lnSpc>
              <a:spcBef>
                <a:spcPts val="0"/>
              </a:spcBef>
              <a:spcAft>
                <a:spcPts val="0"/>
              </a:spcAft>
              <a:buClr>
                <a:srgbClr val="16233B"/>
              </a:buClr>
              <a:buSzPts val="1450"/>
              <a:buFont typeface="Calibri"/>
              <a:buNone/>
            </a:pPr>
            <a:r>
              <a:rPr b="1" i="0" lang="en-US" sz="1450" u="none" cap="none" strike="noStrike">
                <a:solidFill>
                  <a:srgbClr val="16233B"/>
                </a:solidFill>
                <a:latin typeface="Calibri"/>
                <a:ea typeface="Calibri"/>
                <a:cs typeface="Calibri"/>
                <a:sym typeface="Calibri"/>
              </a:rPr>
              <a:t>Aggregation / ecological — </a:t>
            </a:r>
            <a:r>
              <a:rPr b="0" i="0" lang="en-US" sz="1450" u="none" cap="none" strike="noStrike">
                <a:solidFill>
                  <a:srgbClr val="2A3547"/>
                </a:solidFill>
                <a:latin typeface="Calibri"/>
                <a:ea typeface="Calibri"/>
                <a:cs typeface="Calibri"/>
                <a:sym typeface="Calibri"/>
              </a:rPr>
              <a:t>area-of-origin deprivation is a noisy proxy for a mover's wealth — no individual data.</a:t>
            </a:r>
            <a:endParaRPr b="0" i="0" sz="1450" u="none" cap="none" strike="noStrike">
              <a:solidFill>
                <a:schemeClr val="dk1"/>
              </a:solidFill>
              <a:latin typeface="Calibri"/>
              <a:ea typeface="Calibri"/>
              <a:cs typeface="Calibri"/>
              <a:sym typeface="Calibri"/>
            </a:endParaRPr>
          </a:p>
        </p:txBody>
      </p:sp>
      <p:sp>
        <p:nvSpPr>
          <p:cNvPr id="252" name="Google Shape;252;p13"/>
          <p:cNvSpPr/>
          <p:nvPr/>
        </p:nvSpPr>
        <p:spPr>
          <a:xfrm>
            <a:off x="594360" y="2578608"/>
            <a:ext cx="146304" cy="146304"/>
          </a:xfrm>
          <a:prstGeom prst="ellipse">
            <a:avLst/>
          </a:prstGeom>
          <a:solidFill>
            <a:srgbClr val="C6551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3" name="Google Shape;253;p13"/>
          <p:cNvSpPr/>
          <p:nvPr/>
        </p:nvSpPr>
        <p:spPr>
          <a:xfrm>
            <a:off x="914400" y="2450592"/>
            <a:ext cx="6583680" cy="658368"/>
          </a:xfrm>
          <a:prstGeom prst="rect">
            <a:avLst/>
          </a:prstGeom>
          <a:noFill/>
          <a:ln>
            <a:noFill/>
          </a:ln>
        </p:spPr>
        <p:txBody>
          <a:bodyPr anchorCtr="0" anchor="t" bIns="0" lIns="0" spcFirstLastPara="1" rIns="0" wrap="square" tIns="0">
            <a:noAutofit/>
          </a:bodyPr>
          <a:lstStyle/>
          <a:p>
            <a:pPr indent="0" lvl="0" marL="0" marR="0" rtl="0" algn="l">
              <a:lnSpc>
                <a:spcPct val="103000"/>
              </a:lnSpc>
              <a:spcBef>
                <a:spcPts val="0"/>
              </a:spcBef>
              <a:spcAft>
                <a:spcPts val="0"/>
              </a:spcAft>
              <a:buClr>
                <a:srgbClr val="16233B"/>
              </a:buClr>
              <a:buSzPts val="1450"/>
              <a:buFont typeface="Calibri"/>
              <a:buNone/>
            </a:pPr>
            <a:r>
              <a:rPr b="1" i="0" lang="en-US" sz="1450" u="none" cap="none" strike="noStrike">
                <a:solidFill>
                  <a:srgbClr val="16233B"/>
                </a:solidFill>
                <a:latin typeface="Calibri"/>
                <a:ea typeface="Calibri"/>
                <a:cs typeface="Calibri"/>
                <a:sym typeface="Calibri"/>
              </a:rPr>
              <a:t>Temporal mismatch — </a:t>
            </a:r>
            <a:r>
              <a:rPr b="0" i="0" lang="en-US" sz="1450" u="none" cap="none" strike="noStrike">
                <a:solidFill>
                  <a:srgbClr val="2A3547"/>
                </a:solidFill>
                <a:latin typeface="Calibri"/>
                <a:ea typeface="Calibri"/>
                <a:cs typeface="Calibri"/>
                <a:sym typeface="Calibri"/>
              </a:rPr>
              <a:t>flows are 2011/2021; the IMD outcome is 2010→2019.</a:t>
            </a:r>
            <a:endParaRPr b="0" i="0" sz="1450" u="none" cap="none" strike="noStrike">
              <a:solidFill>
                <a:schemeClr val="dk1"/>
              </a:solidFill>
              <a:latin typeface="Calibri"/>
              <a:ea typeface="Calibri"/>
              <a:cs typeface="Calibri"/>
              <a:sym typeface="Calibri"/>
            </a:endParaRPr>
          </a:p>
        </p:txBody>
      </p:sp>
      <p:sp>
        <p:nvSpPr>
          <p:cNvPr id="254" name="Google Shape;254;p13"/>
          <p:cNvSpPr/>
          <p:nvPr/>
        </p:nvSpPr>
        <p:spPr>
          <a:xfrm>
            <a:off x="594360" y="3291840"/>
            <a:ext cx="146304" cy="146304"/>
          </a:xfrm>
          <a:prstGeom prst="ellipse">
            <a:avLst/>
          </a:prstGeom>
          <a:solidFill>
            <a:srgbClr val="C6551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5" name="Google Shape;255;p13"/>
          <p:cNvSpPr/>
          <p:nvPr/>
        </p:nvSpPr>
        <p:spPr>
          <a:xfrm>
            <a:off x="914400" y="3163824"/>
            <a:ext cx="6583680" cy="658368"/>
          </a:xfrm>
          <a:prstGeom prst="rect">
            <a:avLst/>
          </a:prstGeom>
          <a:noFill/>
          <a:ln>
            <a:noFill/>
          </a:ln>
        </p:spPr>
        <p:txBody>
          <a:bodyPr anchorCtr="0" anchor="t" bIns="0" lIns="0" spcFirstLastPara="1" rIns="0" wrap="square" tIns="0">
            <a:noAutofit/>
          </a:bodyPr>
          <a:lstStyle/>
          <a:p>
            <a:pPr indent="0" lvl="0" marL="0" marR="0" rtl="0" algn="l">
              <a:lnSpc>
                <a:spcPct val="103000"/>
              </a:lnSpc>
              <a:spcBef>
                <a:spcPts val="0"/>
              </a:spcBef>
              <a:spcAft>
                <a:spcPts val="0"/>
              </a:spcAft>
              <a:buClr>
                <a:srgbClr val="16233B"/>
              </a:buClr>
              <a:buSzPts val="1450"/>
              <a:buFont typeface="Calibri"/>
              <a:buNone/>
            </a:pPr>
            <a:r>
              <a:rPr b="1" i="0" lang="en-US" sz="1450" u="none" cap="none" strike="noStrike">
                <a:solidFill>
                  <a:srgbClr val="16233B"/>
                </a:solidFill>
                <a:latin typeface="Calibri"/>
                <a:ea typeface="Calibri"/>
                <a:cs typeface="Calibri"/>
                <a:sym typeface="Calibri"/>
              </a:rPr>
              <a:t>Aging ladder — </a:t>
            </a:r>
            <a:r>
              <a:rPr b="0" i="0" lang="en-US" sz="1450" u="none" cap="none" strike="noStrike">
                <a:solidFill>
                  <a:srgbClr val="2A3547"/>
                </a:solidFill>
                <a:latin typeface="Calibri"/>
                <a:ea typeface="Calibri"/>
                <a:cs typeface="Calibri"/>
                <a:sym typeface="Calibri"/>
              </a:rPr>
              <a:t>a 2010 baseline is eleven years stale by 2021 — a decade of gentrification is scored on old deprivation.</a:t>
            </a:r>
            <a:endParaRPr b="0" i="0" sz="1450" u="none" cap="none" strike="noStrike">
              <a:solidFill>
                <a:schemeClr val="dk1"/>
              </a:solidFill>
              <a:latin typeface="Calibri"/>
              <a:ea typeface="Calibri"/>
              <a:cs typeface="Calibri"/>
              <a:sym typeface="Calibri"/>
            </a:endParaRPr>
          </a:p>
        </p:txBody>
      </p:sp>
      <p:sp>
        <p:nvSpPr>
          <p:cNvPr id="256" name="Google Shape;256;p13"/>
          <p:cNvSpPr/>
          <p:nvPr/>
        </p:nvSpPr>
        <p:spPr>
          <a:xfrm>
            <a:off x="594360" y="4005072"/>
            <a:ext cx="146304" cy="146304"/>
          </a:xfrm>
          <a:prstGeom prst="ellipse">
            <a:avLst/>
          </a:prstGeom>
          <a:solidFill>
            <a:srgbClr val="C6551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7" name="Google Shape;257;p13"/>
          <p:cNvSpPr/>
          <p:nvPr/>
        </p:nvSpPr>
        <p:spPr>
          <a:xfrm>
            <a:off x="914400" y="3877056"/>
            <a:ext cx="6583680" cy="658368"/>
          </a:xfrm>
          <a:prstGeom prst="rect">
            <a:avLst/>
          </a:prstGeom>
          <a:noFill/>
          <a:ln>
            <a:noFill/>
          </a:ln>
        </p:spPr>
        <p:txBody>
          <a:bodyPr anchorCtr="0" anchor="t" bIns="0" lIns="0" spcFirstLastPara="1" rIns="0" wrap="square" tIns="0">
            <a:noAutofit/>
          </a:bodyPr>
          <a:lstStyle/>
          <a:p>
            <a:pPr indent="0" lvl="0" marL="0" marR="0" rtl="0" algn="l">
              <a:lnSpc>
                <a:spcPct val="103000"/>
              </a:lnSpc>
              <a:spcBef>
                <a:spcPts val="0"/>
              </a:spcBef>
              <a:spcAft>
                <a:spcPts val="0"/>
              </a:spcAft>
              <a:buClr>
                <a:srgbClr val="16233B"/>
              </a:buClr>
              <a:buSzPts val="1450"/>
              <a:buFont typeface="Calibri"/>
              <a:buNone/>
            </a:pPr>
            <a:r>
              <a:rPr b="1" i="0" lang="en-US" sz="1450" u="none" cap="none" strike="noStrike">
                <a:solidFill>
                  <a:srgbClr val="16233B"/>
                </a:solidFill>
                <a:latin typeface="Calibri"/>
                <a:ea typeface="Calibri"/>
                <a:cs typeface="Calibri"/>
                <a:sym typeface="Calibri"/>
              </a:rPr>
              <a:t>Lockdown measurement — </a:t>
            </a:r>
            <a:r>
              <a:rPr b="0" i="0" lang="en-US" sz="1450" u="none" cap="none" strike="noStrike">
                <a:solidFill>
                  <a:srgbClr val="2A3547"/>
                </a:solidFill>
                <a:latin typeface="Calibri"/>
                <a:ea typeface="Calibri"/>
                <a:cs typeface="Calibri"/>
                <a:sym typeface="Calibri"/>
              </a:rPr>
              <a:t>2021 census suppression / imputation degrades the flow estimates.</a:t>
            </a:r>
            <a:endParaRPr b="0" i="0" sz="1450" u="none" cap="none" strike="noStrike">
              <a:solidFill>
                <a:schemeClr val="dk1"/>
              </a:solidFill>
              <a:latin typeface="Calibri"/>
              <a:ea typeface="Calibri"/>
              <a:cs typeface="Calibri"/>
              <a:sym typeface="Calibri"/>
            </a:endParaRPr>
          </a:p>
        </p:txBody>
      </p:sp>
      <p:sp>
        <p:nvSpPr>
          <p:cNvPr id="258" name="Google Shape;258;p13"/>
          <p:cNvSpPr/>
          <p:nvPr/>
        </p:nvSpPr>
        <p:spPr>
          <a:xfrm>
            <a:off x="7452360" y="1828800"/>
            <a:ext cx="4142232" cy="3794760"/>
          </a:xfrm>
          <a:prstGeom prst="roundRect">
            <a:avLst>
              <a:gd fmla="val 2169" name="adj"/>
            </a:avLst>
          </a:prstGeom>
          <a:solidFill>
            <a:srgbClr val="F3F6FB"/>
          </a:solidFill>
          <a:ln>
            <a:noFill/>
          </a:ln>
          <a:effectLst>
            <a:outerShdw blurRad="101600" rotWithShape="0" algn="bl" dir="5400000" dist="38100">
              <a:srgbClr val="9AA6B8">
                <a:alpha val="27843"/>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9" name="Google Shape;259;p13"/>
          <p:cNvSpPr/>
          <p:nvPr/>
        </p:nvSpPr>
        <p:spPr>
          <a:xfrm>
            <a:off x="7680960" y="1965960"/>
            <a:ext cx="3657600" cy="3200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6233B"/>
              </a:buClr>
              <a:buSzPts val="1450"/>
              <a:buFont typeface="Calibri"/>
              <a:buNone/>
            </a:pPr>
            <a:r>
              <a:rPr b="1" i="0" lang="en-US" sz="1450" u="none" cap="none" strike="noStrike">
                <a:solidFill>
                  <a:srgbClr val="16233B"/>
                </a:solidFill>
                <a:latin typeface="Calibri"/>
                <a:ea typeface="Calibri"/>
                <a:cs typeface="Calibri"/>
                <a:sym typeface="Calibri"/>
              </a:rPr>
              <a:t>Key references</a:t>
            </a:r>
            <a:endParaRPr b="0" i="0" sz="1450" u="none" cap="none" strike="noStrike">
              <a:solidFill>
                <a:schemeClr val="dk1"/>
              </a:solidFill>
              <a:latin typeface="Calibri"/>
              <a:ea typeface="Calibri"/>
              <a:cs typeface="Calibri"/>
              <a:sym typeface="Calibri"/>
            </a:endParaRPr>
          </a:p>
        </p:txBody>
      </p:sp>
      <p:sp>
        <p:nvSpPr>
          <p:cNvPr id="260" name="Google Shape;260;p13"/>
          <p:cNvSpPr/>
          <p:nvPr/>
        </p:nvSpPr>
        <p:spPr>
          <a:xfrm>
            <a:off x="7680960" y="2377440"/>
            <a:ext cx="3685032" cy="3108960"/>
          </a:xfrm>
          <a:prstGeom prst="rect">
            <a:avLst/>
          </a:prstGeom>
          <a:noFill/>
          <a:ln>
            <a:noFill/>
          </a:ln>
        </p:spPr>
        <p:txBody>
          <a:bodyPr anchorCtr="0" anchor="ctr" bIns="0" lIns="0" spcFirstLastPara="1" rIns="0" wrap="square" tIns="0">
            <a:noAutofit/>
          </a:bodyPr>
          <a:lstStyle/>
          <a:p>
            <a:pPr indent="-342900" lvl="0" marL="342900" marR="0" rtl="0" algn="l">
              <a:lnSpc>
                <a:spcPct val="105000"/>
              </a:lnSpc>
              <a:spcBef>
                <a:spcPts val="0"/>
              </a:spcBef>
              <a:spcAft>
                <a:spcPts val="0"/>
              </a:spcAft>
              <a:buClr>
                <a:srgbClr val="2A3547"/>
              </a:buClr>
              <a:buSzPts val="1200"/>
              <a:buFont typeface="Calibri"/>
              <a:buChar char="•"/>
            </a:pPr>
            <a:r>
              <a:rPr b="0" i="0" lang="en-US" sz="1200" u="none" cap="none" strike="noStrike">
                <a:solidFill>
                  <a:srgbClr val="2A3547"/>
                </a:solidFill>
                <a:latin typeface="Calibri"/>
                <a:ea typeface="Calibri"/>
                <a:cs typeface="Calibri"/>
                <a:sym typeface="Calibri"/>
              </a:rPr>
              <a:t>Marcuse, P. (1985). J. Urb. &amp; Contemp. Law 28.</a:t>
            </a:r>
            <a:endParaRPr b="0" i="0" sz="1200" u="none" cap="none" strike="noStrike">
              <a:solidFill>
                <a:schemeClr val="dk1"/>
              </a:solidFill>
              <a:latin typeface="Calibri"/>
              <a:ea typeface="Calibri"/>
              <a:cs typeface="Calibri"/>
              <a:sym typeface="Calibri"/>
            </a:endParaRPr>
          </a:p>
          <a:p>
            <a:pPr indent="-342900" lvl="0" marL="342900" marR="0" rtl="0" algn="l">
              <a:lnSpc>
                <a:spcPct val="105000"/>
              </a:lnSpc>
              <a:spcBef>
                <a:spcPts val="600"/>
              </a:spcBef>
              <a:spcAft>
                <a:spcPts val="0"/>
              </a:spcAft>
              <a:buClr>
                <a:srgbClr val="2A3547"/>
              </a:buClr>
              <a:buSzPts val="1200"/>
              <a:buFont typeface="Calibri"/>
              <a:buChar char="•"/>
            </a:pPr>
            <a:r>
              <a:rPr b="0" i="0" lang="en-US" sz="1200" u="none" cap="none" strike="noStrike">
                <a:solidFill>
                  <a:srgbClr val="2A3547"/>
                </a:solidFill>
                <a:latin typeface="Calibri"/>
                <a:ea typeface="Calibri"/>
                <a:cs typeface="Calibri"/>
                <a:sym typeface="Calibri"/>
              </a:rPr>
              <a:t>Dennett &amp; Stillwell (2008). Population Trends 134.</a:t>
            </a:r>
            <a:endParaRPr b="0" i="0" sz="1200" u="none" cap="none" strike="noStrike">
              <a:solidFill>
                <a:schemeClr val="dk1"/>
              </a:solidFill>
              <a:latin typeface="Calibri"/>
              <a:ea typeface="Calibri"/>
              <a:cs typeface="Calibri"/>
              <a:sym typeface="Calibri"/>
            </a:endParaRPr>
          </a:p>
          <a:p>
            <a:pPr indent="-342900" lvl="0" marL="342900" marR="0" rtl="0" algn="l">
              <a:lnSpc>
                <a:spcPct val="105000"/>
              </a:lnSpc>
              <a:spcBef>
                <a:spcPts val="600"/>
              </a:spcBef>
              <a:spcAft>
                <a:spcPts val="0"/>
              </a:spcAft>
              <a:buClr>
                <a:srgbClr val="2A3547"/>
              </a:buClr>
              <a:buSzPts val="1200"/>
              <a:buFont typeface="Calibri"/>
              <a:buChar char="•"/>
            </a:pPr>
            <a:r>
              <a:rPr b="0" i="0" lang="en-US" sz="1200" u="none" cap="none" strike="noStrike">
                <a:solidFill>
                  <a:srgbClr val="2A3547"/>
                </a:solidFill>
                <a:latin typeface="Calibri"/>
                <a:ea typeface="Calibri"/>
                <a:cs typeface="Calibri"/>
                <a:sym typeface="Calibri"/>
              </a:rPr>
              <a:t>Yee &amp; Dennett (2022).</a:t>
            </a:r>
            <a:endParaRPr b="0" i="0" sz="1200" u="none" cap="none" strike="noStrike">
              <a:solidFill>
                <a:schemeClr val="dk1"/>
              </a:solidFill>
              <a:latin typeface="Calibri"/>
              <a:ea typeface="Calibri"/>
              <a:cs typeface="Calibri"/>
              <a:sym typeface="Calibri"/>
            </a:endParaRPr>
          </a:p>
          <a:p>
            <a:pPr indent="-342900" lvl="0" marL="342900" marR="0" rtl="0" algn="l">
              <a:lnSpc>
                <a:spcPct val="105000"/>
              </a:lnSpc>
              <a:spcBef>
                <a:spcPts val="600"/>
              </a:spcBef>
              <a:spcAft>
                <a:spcPts val="0"/>
              </a:spcAft>
              <a:buClr>
                <a:srgbClr val="2A3547"/>
              </a:buClr>
              <a:buSzPts val="1200"/>
              <a:buFont typeface="Calibri"/>
              <a:buChar char="•"/>
            </a:pPr>
            <a:r>
              <a:rPr b="0" i="0" lang="en-US" sz="1200" u="none" cap="none" strike="noStrike">
                <a:solidFill>
                  <a:srgbClr val="2A3547"/>
                </a:solidFill>
                <a:latin typeface="Calibri"/>
                <a:ea typeface="Calibri"/>
                <a:cs typeface="Calibri"/>
                <a:sym typeface="Calibri"/>
              </a:rPr>
              <a:t>Ding, Hwang &amp; Divringi (2016). Reg. Sci. Urban Econ. 61.</a:t>
            </a:r>
            <a:endParaRPr b="0" i="0" sz="1200" u="none" cap="none" strike="noStrike">
              <a:solidFill>
                <a:schemeClr val="dk1"/>
              </a:solidFill>
              <a:latin typeface="Calibri"/>
              <a:ea typeface="Calibri"/>
              <a:cs typeface="Calibri"/>
              <a:sym typeface="Calibri"/>
            </a:endParaRPr>
          </a:p>
          <a:p>
            <a:pPr indent="-342900" lvl="0" marL="342900" marR="0" rtl="0" algn="l">
              <a:lnSpc>
                <a:spcPct val="105000"/>
              </a:lnSpc>
              <a:spcBef>
                <a:spcPts val="600"/>
              </a:spcBef>
              <a:spcAft>
                <a:spcPts val="0"/>
              </a:spcAft>
              <a:buClr>
                <a:srgbClr val="2A3547"/>
              </a:buClr>
              <a:buSzPts val="1200"/>
              <a:buFont typeface="Calibri"/>
              <a:buChar char="•"/>
            </a:pPr>
            <a:r>
              <a:rPr b="0" i="0" lang="en-US" sz="1200" u="none" cap="none" strike="noStrike">
                <a:solidFill>
                  <a:srgbClr val="2A3547"/>
                </a:solidFill>
                <a:latin typeface="Calibri"/>
                <a:ea typeface="Calibri"/>
                <a:cs typeface="Calibri"/>
                <a:sym typeface="Calibri"/>
              </a:rPr>
              <a:t>Freeman, Hwang, Haupert &amp; Zhang (2024). Urban Affairs Rev. 60(1).</a:t>
            </a:r>
            <a:endParaRPr b="0" i="0" sz="1200" u="none" cap="none" strike="noStrike">
              <a:solidFill>
                <a:schemeClr val="dk1"/>
              </a:solidFill>
              <a:latin typeface="Calibri"/>
              <a:ea typeface="Calibri"/>
              <a:cs typeface="Calibri"/>
              <a:sym typeface="Calibri"/>
            </a:endParaRPr>
          </a:p>
          <a:p>
            <a:pPr indent="-342900" lvl="0" marL="342900" marR="0" rtl="0" algn="l">
              <a:lnSpc>
                <a:spcPct val="105000"/>
              </a:lnSpc>
              <a:spcBef>
                <a:spcPts val="600"/>
              </a:spcBef>
              <a:spcAft>
                <a:spcPts val="0"/>
              </a:spcAft>
              <a:buClr>
                <a:srgbClr val="2A3547"/>
              </a:buClr>
              <a:buSzPts val="1200"/>
              <a:buFont typeface="Calibri"/>
              <a:buChar char="•"/>
            </a:pPr>
            <a:r>
              <a:rPr b="0" i="0" lang="en-US" sz="1200" u="none" cap="none" strike="noStrike">
                <a:solidFill>
                  <a:srgbClr val="2A3547"/>
                </a:solidFill>
                <a:latin typeface="Calibri"/>
                <a:ea typeface="Calibri"/>
                <a:cs typeface="Calibri"/>
                <a:sym typeface="Calibri"/>
              </a:rPr>
              <a:t>Reades, Lees, Hubbard &amp; Lansley (2023). EPA 55(4).</a:t>
            </a:r>
            <a:endParaRPr b="0" i="0" sz="1200" u="none" cap="none" strike="noStrike">
              <a:solidFill>
                <a:schemeClr val="dk1"/>
              </a:solidFill>
              <a:latin typeface="Calibri"/>
              <a:ea typeface="Calibri"/>
              <a:cs typeface="Calibri"/>
              <a:sym typeface="Calibri"/>
            </a:endParaRPr>
          </a:p>
        </p:txBody>
      </p:sp>
      <p:sp>
        <p:nvSpPr>
          <p:cNvPr id="261" name="Google Shape;261;p13"/>
          <p:cNvSpPr/>
          <p:nvPr/>
        </p:nvSpPr>
        <p:spPr>
          <a:xfrm>
            <a:off x="594360" y="5989320"/>
            <a:ext cx="6400800" cy="457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6233B"/>
              </a:buClr>
              <a:buSzPts val="1700"/>
              <a:buFont typeface="Cambria"/>
              <a:buNone/>
            </a:pPr>
            <a:r>
              <a:rPr b="1" i="0" lang="en-US" sz="1700" u="none" cap="none" strike="noStrike">
                <a:solidFill>
                  <a:srgbClr val="16233B"/>
                </a:solidFill>
                <a:latin typeface="Cambria"/>
                <a:ea typeface="Cambria"/>
                <a:cs typeface="Cambria"/>
                <a:sym typeface="Cambria"/>
              </a:rPr>
              <a:t>Thank you  ·  questions welcome</a:t>
            </a:r>
            <a:endParaRPr b="0" i="0" sz="1700" u="none" cap="none" strike="noStrike">
              <a:solidFill>
                <a:schemeClr val="dk1"/>
              </a:solidFill>
              <a:latin typeface="Calibri"/>
              <a:ea typeface="Calibri"/>
              <a:cs typeface="Calibri"/>
              <a:sym typeface="Calibri"/>
            </a:endParaRPr>
          </a:p>
        </p:txBody>
      </p:sp>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