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Yujing Xi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D45CC4-12D4-4EA8-93D6-5003CA148E23}">
  <a:tblStyle styleId="{19D45CC4-12D4-4EA8-93D6-5003CA148E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02T21:22:39.744">
    <p:pos x="5604" y="1820"/>
    <p:text>I want a interactive pop-up, with the simplified ladder diagram, including 3 boxed and 4 arrows.
Each cell of this matrix has its own little diagram to visualise why we call this name.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measure gentrification by tracking the actual movement of people across London's deprivation hierarchy between the 2011 and 2021 censuses, and I test whether that flow lens agrees with the usual attribute-based way of detecting gentrification.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mostly doesn't — and that's the finding.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intuition — and it's an old, respectable one from Marcuse — is that gentrification radiates outward as a chain of moves, so if you follow the flows you've found gentrification. Two caveats I state up front so no one thinks I'm over-claiming: I measure area-level restructuring, not individual gentrifiers; and a move from a wealthier AREA doesn't mean a wealthier PERSON. The question is whether the flow lens lines up with attribute methods.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one design choice everything rests on: the deprivation ruler is held still at 2010 across both census years.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reasons for this design — any change 2011 to 2021 is then attributable to how people moved, not to neighbourhoods being re-ranked underneath them; and it keeps the 2019 IMD entirely on the outcome side, so when I later validate against 2010–2019 deprivation change the classifier isn't being marked against data it already used. The cost — an eleven-year-stale ladder — I'll flag at the end.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classic chain has a signature: wealthier arriving, poorer leaving downward. I split every hierarchy-crossing move into four elementary flows.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two orange ones </a:t>
            </a:r>
            <a:r>
              <a:rPr lang="en-US"/>
              <a:t>make up the cascade</a:t>
            </a:r>
            <a:r>
              <a:rPr lang="en-US"/>
              <a:t> — inflow-from-wealthier and outflow-to-poore.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two blue ones make up the counter direction.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Again: area-to-area, not individual movers.</a:t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07aab7c83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07aab7c83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question first: churn asks about the CHARACTER of turnover — which direction of hierarchy-crossing movement carries the volume. Measure: the addition family, Cascade_Churn = IW + OP and Counter_Churn = OW + IP, following Dennett &amp; Stillwell's additive churn principle, adapted to flows that cross the deprivation ladder. Classify on two axes: Cascade Dominance (which direction carries the churn) and Cross-Decile Share (how much turnover engages the ladder at all). The answer is four regimes: Counter-led below 0.48, Symmetric in the band, Cascade-led above 0.52 — and Lateral where cross-decile exchange sits below the 25th percentile. Cascade-led is what the classic assumption equates with gentrification, and this typology is what the validation tests. Bridge: churn asks about character; net flows ask which way the area sorts on balance — next slide.</a:t>
            </a:r>
            <a:endParaRPr/>
          </a:p>
        </p:txBody>
      </p:sp>
      <p:sp>
        <p:nvSpPr>
          <p:cNvPr id="125" name="Google Shape;125;g3f07aab7c83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07aab7c83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07aab7c83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question first: net asks which way the area sorts ON BALANCE — and whether its two directions agree. The subtraction family: Net_Cascade is wealthier-in minus poorer-out; Net_Counter is wealthier-out minus poorer-in. The two signs give a second classification, genuinely different from the churn typology. Diagonal cells are concordant — both nets point the same way: a throughflow node connected upward, or a downward sink, its mirror. Off-diagonal cells are divergent: a net receiver gains movers from both directions; a net exporter loses movers in both directions. Diagonal vs off-diagonal is the Sign_Concordance variable. Hold one cell: the net exporter, bottom-left — that's where 2021's exodus lives, and we count exactly those MSOAs in Findings 2. (The fully annotated matrix is in the dissertation.)</a:t>
            </a:r>
            <a:endParaRPr/>
          </a:p>
        </p:txBody>
      </p:sp>
      <p:sp>
        <p:nvSpPr>
          <p:cNvPr id="151" name="Google Shape;151;g3f07aab7c83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naïve London-vs-national comparison confounds two things: changing the ruler and adding external moves. Frame B separates them, so I can attribute every change to re-ranking or to external flows. That's why London-only stays the core — it's the ruler on which moving up within London still means gentrification, since most of London sits low on the national scale. External flows aren't discarded: fig 20b shows within-London dominates the volume, but the big 2021 change is the London-to-outside surge — small channel, big shock — which is the pandemic exodus.</a:t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07aab7c83_0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07aab7c83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question drives the design: if cascade really equals gentrification, then three yardsticks built independently of the flow metrics should agree with the typology. Check one — the outcome check: IMD percentile change, 2010 to 2019, did the area's deprivation actually improve? Constructed entirely on the outcome side; the classifier never sees it. Check two — the attribute check: Yee &amp; Dennett's 2022 gentrification classification. Check three — the composition check: occupational ascent, a Duncan-style rise in SOC major groups 1–3, replacing the non-comparable NS-SeC. Three independent instruments, one hypothesis. The next two slides are what happens when you check.</a:t>
            </a:r>
            <a:endParaRPr/>
          </a:p>
        </p:txBody>
      </p:sp>
      <p:sp>
        <p:nvSpPr>
          <p:cNvPr id="194" name="Google Shape;194;g3f07aab7c83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centrepiece. Of the areas either method flags as its version of gentrification, only 58 agree, while 149 are attribute-only and 155 are flow-only. Cramér's V of 0.10 and an Adjusted Rand Index of essentially zero say the two schemes agree no better than random. And the IMD check: Yee's attribute-gentrifying areas improve on deprivation, but adding a cascade signal on top actually weakens the gain — so cascade is not the engine of measured gentrification. The twist: the flow method's own deprivation signal sits in the counter direction, and the only place the two methods agree is classic 2011 inner-London gentrification.</a:t>
            </a:r>
            <a:endParaRPr/>
          </a:p>
        </p:txBody>
      </p:sp>
      <p:sp>
        <p:nvSpPr>
          <p:cNvPr id="223" name="Google Shape;2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07aab7c83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07aab7c83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temporal reason the equivalence fails. The map: in 2011 the cascade-extreme tail is 8-of-12 inner — Camden, Southwark, Islington, Tower Hamlets — and by 2021 it has flipped to outer high-decile boroughs: Kingston, Harrow, Richmond, Barnet, Sutton. Almost no black outlines: persistence is rare. The key point is the two arms. Cascade churn is an addition — Inflow_Wealthier plus Outflow_Poorer — so the SAME headline number can be produced by opposite processes. In 2011 the extremes are the inflow arm: 40–93% of cascade churn is people arriving from wealthier areas — genuine affluent in-migration into inner London. In 2021 the outer extremes are almost entirely the outflow arm: inflow share collapses to 1–35% — Harrow's cascade is 99% outflow. That's affluent residents leaving down the national ladder for cheaper places outside London: the pandemic exodus, not gentrification relocating outward. And these outer extremes are exactly the net-exporter cell of the sign matrix — 53 to 116 MSOAs, external outflow up 51%, 85% of 2021 cascade-led areas outer. Caveat: the lockdown census both caused this and degraded measurement, so I don't over-read within-London numbers.</a:t>
            </a:r>
            <a:endParaRPr/>
          </a:p>
        </p:txBody>
      </p:sp>
      <p:sp>
        <p:nvSpPr>
          <p:cNvPr id="244" name="Google Shape;244;g3f07aab7c83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Pull it together. The classic equivalence fails on two axes: conceptually, flows and attributes measure different things; and temporally, 2021 is a one-off shock. The contribution is an open-data, reproducible, whole-city flow lens with a decomposition that pre-empts the obvious objections — and the divergence between the two methods is itself the finding, converging with the best recent micro-data work. The line I'd leave the room with: the flow lens isn't a worse gentrification detector, it's a different instrument.</a:t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Limitations, stated plainly so they don't get raised as objections. The big one — aggregation — actually explains the decoupling: area origin is a noisy proxy for mover wealth, so flows and attributes needn't align. Temporal mismatch, the stale 2010 ladder, and lockdown measurement degradation round it out. Then thanks and questions.</a:t>
            </a:r>
            <a:endParaRPr/>
          </a:p>
        </p:txBody>
      </p:sp>
      <p:sp>
        <p:nvSpPr>
          <p:cNvPr id="280" name="Google Shape;28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MSc DISSERTATION  ·  </a:t>
            </a:r>
            <a:r>
              <a:rPr b="1" lang="en-US" sz="1300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CASA</a:t>
            </a:r>
            <a:endParaRPr b="1" sz="1300">
              <a:solidFill>
                <a:srgbClr val="8FA3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94360" y="1463040"/>
            <a:ext cx="8595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Flow-Based Definition of Gentrification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306324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6E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AD6EA"/>
                </a:solidFill>
                <a:latin typeface="Calibri"/>
                <a:ea typeface="Calibri"/>
                <a:cs typeface="Calibri"/>
                <a:sym typeface="Calibri"/>
              </a:rPr>
              <a:t>Analyzing socio-economic displacement in London using Census Origin–Destination data, 2011–2021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4069080"/>
            <a:ext cx="7772400" cy="685800"/>
          </a:xfrm>
          <a:prstGeom prst="roundRect">
            <a:avLst>
              <a:gd fmla="val 13333" name="adj"/>
            </a:avLst>
          </a:prstGeom>
          <a:solidFill>
            <a:srgbClr val="2232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2960" y="406908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E4ECF7"/>
                </a:solidFill>
                <a:latin typeface="Cambria"/>
                <a:ea typeface="Cambria"/>
                <a:cs typeface="Cambria"/>
                <a:sym typeface="Cambria"/>
              </a:rPr>
              <a:t>Does tracking who moves recover what attribute methods call gentrification?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" y="6126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6EA"/>
              </a:buClr>
              <a:buSzPts val="1200"/>
              <a:buFont typeface="Calibri"/>
              <a:buNone/>
            </a:pPr>
            <a:r>
              <a:rPr lang="en-US" sz="2100">
                <a:solidFill>
                  <a:srgbClr val="CAD6EA"/>
                </a:solidFill>
                <a:latin typeface="Calibri"/>
                <a:ea typeface="Calibri"/>
                <a:cs typeface="Calibri"/>
                <a:sym typeface="Calibri"/>
              </a:rPr>
              <a:t>Yujing (Olivia) Xing</a:t>
            </a:r>
            <a:endParaRPr sz="2100">
              <a:solidFill>
                <a:srgbClr val="CAD6E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195560" y="1371600"/>
            <a:ext cx="457200" cy="379476"/>
          </a:xfrm>
          <a:prstGeom prst="roundRect">
            <a:avLst>
              <a:gd fmla="val 7229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195560" y="1796796"/>
            <a:ext cx="457200" cy="379476"/>
          </a:xfrm>
          <a:prstGeom prst="roundRect">
            <a:avLst>
              <a:gd fmla="val 7229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195560" y="2221992"/>
            <a:ext cx="457200" cy="379476"/>
          </a:xfrm>
          <a:prstGeom prst="roundRect">
            <a:avLst>
              <a:gd fmla="val 7229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0195560" y="2647188"/>
            <a:ext cx="457200" cy="379476"/>
          </a:xfrm>
          <a:prstGeom prst="roundRect">
            <a:avLst>
              <a:gd fmla="val 7229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195560" y="3072384"/>
            <a:ext cx="457200" cy="379476"/>
          </a:xfrm>
          <a:prstGeom prst="roundRect">
            <a:avLst>
              <a:gd fmla="val 7229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195560" y="3497580"/>
            <a:ext cx="457200" cy="379476"/>
          </a:xfrm>
          <a:prstGeom prst="roundRect">
            <a:avLst>
              <a:gd fmla="val 7229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195560" y="3922776"/>
            <a:ext cx="457200" cy="379476"/>
          </a:xfrm>
          <a:prstGeom prst="roundRect">
            <a:avLst>
              <a:gd fmla="val 7229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195560" y="4347972"/>
            <a:ext cx="457200" cy="379476"/>
          </a:xfrm>
          <a:prstGeom prst="roundRect">
            <a:avLst>
              <a:gd fmla="val 7229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0195560" y="4773168"/>
            <a:ext cx="457200" cy="379476"/>
          </a:xfrm>
          <a:prstGeom prst="roundRect">
            <a:avLst>
              <a:gd fmla="val 7229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195560" y="5198364"/>
            <a:ext cx="457200" cy="379476"/>
          </a:xfrm>
          <a:prstGeom prst="roundRect">
            <a:avLst>
              <a:gd fmla="val 7229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802368" y="17373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0625328" y="44805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A0D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6FA0D6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The assumption this study puts to the test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9436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The classic chain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94360" y="2148840"/>
            <a:ext cx="5486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Gentrification is read as a </a:t>
            </a:r>
            <a:r>
              <a:rPr b="1" i="1" lang="en-US" sz="15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cascade</a:t>
            </a:r>
            <a:r>
              <a:rPr b="0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: affluent residents move in, and poorer residents are pushed down the deprivation hierarchy.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" y="3127248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Richly theorised</a:t>
            </a:r>
            <a:r>
              <a:rPr b="0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— Marcuse's (1985) chain displacement — but rarely tested at whole-city scale with open flow data.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94360" y="397764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Recent direct tests</a:t>
            </a:r>
            <a:r>
              <a:rPr b="0" i="0" lang="en-US" sz="15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find the downward cascade weak or mixed (Ding et al. 2016; Freeman et al. 2024).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537960" y="1783080"/>
            <a:ext cx="5029200" cy="1783080"/>
          </a:xfrm>
          <a:prstGeom prst="roundRect">
            <a:avLst>
              <a:gd fmla="val 4615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793992" y="1938528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What this measures — and what it doesn't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793992" y="2331720"/>
            <a:ext cx="451713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Area-level restructuring</a:t>
            </a:r>
            <a:r>
              <a:rPr b="0" i="0" lang="en-US" sz="13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along a deprivation ladder — a candidate signature of displacement pressure, not gentrifiers themselves.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45C9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“From a wealthier area” ≠ “a wealthier person.”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537960" y="3749040"/>
            <a:ext cx="5029200" cy="1371600"/>
          </a:xfrm>
          <a:prstGeom prst="roundRect">
            <a:avLst>
              <a:gd fmla="val 6000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793992" y="3913632"/>
            <a:ext cx="45171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THE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93992" y="4224528"/>
            <a:ext cx="45171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a flow lens recover what attribute-based methods call gentrification?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1 OF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210544" y="365760"/>
            <a:ext cx="384048" cy="384048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210544" y="365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Data, and a deprivation ladder fixed at 2010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94360" y="1892808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914400" y="1755648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Unit  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982 London MSOAs (Camden 024/025 merged in 2021).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94360" y="2606040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914400" y="2468880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Flows  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Census Origin–Destination migration, 2011 &amp; 2021 (Nomis, Open Geography).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" y="3319272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14400" y="3182112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Ladder  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IMD 2010 aggregated to MSOA, ranked into wealth deciles — 10 = least deprived, 1 = most deprived.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4032504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14400" y="3895344"/>
            <a:ext cx="6766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Access  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Entirely secondary, anonymised, open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686800" y="1828800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686800" y="2121408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686800" y="2414016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686800" y="2706624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686800" y="2999232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686800" y="3291840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8686800" y="3584448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686800" y="3877056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686800" y="4169664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686800" y="4462272"/>
            <a:ext cx="566928" cy="246888"/>
          </a:xfrm>
          <a:prstGeom prst="roundRect">
            <a:avLst>
              <a:gd fmla="val 11111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363456" y="1783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D10 · least deprived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363456" y="4480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D1 · most deprived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104120" y="2971800"/>
            <a:ext cx="1554480" cy="548640"/>
          </a:xfrm>
          <a:prstGeom prst="roundRect">
            <a:avLst>
              <a:gd fmla="val 13333" name="adj"/>
            </a:avLst>
          </a:prstGeom>
          <a:solidFill>
            <a:srgbClr val="F9E6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0104120" y="297180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FIXED · 2010 IMD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4360" y="5074920"/>
            <a:ext cx="11000232" cy="1143000"/>
          </a:xfrm>
          <a:prstGeom prst="roundRect">
            <a:avLst>
              <a:gd fmla="val 7200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50392" y="5193792"/>
            <a:ext cx="104881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Why fix the ladder?  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So change between censuses reflects </a:t>
            </a:r>
            <a:r>
              <a:rPr b="1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movement, not re-ranking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— and so IMD 2019 stays reserved as an </a:t>
            </a:r>
            <a:r>
              <a:rPr b="1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independent outcome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the typology never sees. The validation is non-circular by construction.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2 OF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210544" y="365760"/>
            <a:ext cx="384048" cy="384048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1210544" y="365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Every cross-decile move becomes one of four flows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943600" y="1920240"/>
            <a:ext cx="301752" cy="278892"/>
          </a:xfrm>
          <a:prstGeom prst="roundRect">
            <a:avLst>
              <a:gd fmla="val 9836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943600" y="2244852"/>
            <a:ext cx="301752" cy="278892"/>
          </a:xfrm>
          <a:prstGeom prst="roundRect">
            <a:avLst>
              <a:gd fmla="val 9836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5943600" y="2569464"/>
            <a:ext cx="301752" cy="278892"/>
          </a:xfrm>
          <a:prstGeom prst="roundRect">
            <a:avLst>
              <a:gd fmla="val 9836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943600" y="2894076"/>
            <a:ext cx="301752" cy="278892"/>
          </a:xfrm>
          <a:prstGeom prst="roundRect">
            <a:avLst>
              <a:gd fmla="val 9836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943600" y="3218688"/>
            <a:ext cx="301752" cy="278892"/>
          </a:xfrm>
          <a:prstGeom prst="roundRect">
            <a:avLst>
              <a:gd fmla="val 9836" name="adj"/>
            </a:avLst>
          </a:prstGeom>
          <a:solidFill>
            <a:srgbClr val="3E55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5943600" y="3543300"/>
            <a:ext cx="301752" cy="278892"/>
          </a:xfrm>
          <a:prstGeom prst="roundRect">
            <a:avLst>
              <a:gd fmla="val 9836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5943600" y="3867912"/>
            <a:ext cx="301752" cy="278892"/>
          </a:xfrm>
          <a:prstGeom prst="roundRect">
            <a:avLst>
              <a:gd fmla="val 9836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943600" y="4192524"/>
            <a:ext cx="301752" cy="278892"/>
          </a:xfrm>
          <a:prstGeom prst="roundRect">
            <a:avLst>
              <a:gd fmla="val 9836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943600" y="4517136"/>
            <a:ext cx="301752" cy="278892"/>
          </a:xfrm>
          <a:prstGeom prst="roundRect">
            <a:avLst>
              <a:gd fmla="val 9836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0" y="4841748"/>
            <a:ext cx="301752" cy="278892"/>
          </a:xfrm>
          <a:prstGeom prst="roundRect">
            <a:avLst>
              <a:gd fmla="val 9836" name="adj"/>
            </a:avLst>
          </a:prstGeom>
          <a:solidFill>
            <a:srgbClr val="26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532120" y="3246120"/>
            <a:ext cx="1143000" cy="566928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532120" y="3246120"/>
            <a:ext cx="11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MSOA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94360" y="2057400"/>
            <a:ext cx="3108960" cy="841248"/>
          </a:xfrm>
          <a:prstGeom prst="roundRect">
            <a:avLst>
              <a:gd fmla="val 8696" name="adj"/>
            </a:avLst>
          </a:prstGeom>
          <a:solidFill>
            <a:srgbClr val="F9E6D6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04088" y="2057400"/>
            <a:ext cx="457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61288" y="2130552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IW — Inflow from Wealthier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arriving from a less-deprived decile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94360" y="3063240"/>
            <a:ext cx="3108960" cy="841248"/>
          </a:xfrm>
          <a:prstGeom prst="roundRect">
            <a:avLst>
              <a:gd fmla="val 8696" name="adj"/>
            </a:avLst>
          </a:prstGeom>
          <a:solidFill>
            <a:srgbClr val="F9E6D6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04088" y="3063240"/>
            <a:ext cx="457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61288" y="3136392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OP — Outflow to Poorer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leaving to a more-deprived decile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49640" y="2057400"/>
            <a:ext cx="3108960" cy="841248"/>
          </a:xfrm>
          <a:prstGeom prst="roundRect">
            <a:avLst>
              <a:gd fmla="val 8696" name="adj"/>
            </a:avLst>
          </a:prstGeom>
          <a:solidFill>
            <a:srgbClr val="DCE8F4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8659368" y="2057400"/>
            <a:ext cx="457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116568" y="2130552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OW — Outflow to Wealthier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leaving to a less-deprived decile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549640" y="3063240"/>
            <a:ext cx="3108960" cy="841248"/>
          </a:xfrm>
          <a:prstGeom prst="roundRect">
            <a:avLst>
              <a:gd fmla="val 8696" name="adj"/>
            </a:avLst>
          </a:prstGeom>
          <a:solidFill>
            <a:srgbClr val="DCE8F4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8659368" y="3063240"/>
            <a:ext cx="4572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116568" y="3136392"/>
            <a:ext cx="2423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IP — Inflow from Poorer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arriving from a more-deprived decile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94360" y="4160520"/>
            <a:ext cx="3108960" cy="868680"/>
          </a:xfrm>
          <a:prstGeom prst="roundRect">
            <a:avLst>
              <a:gd fmla="val 8421" name="adj"/>
            </a:avLst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77240" y="416052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CASCADE  =  IW + 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wealthier in, poorer out-and-down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549640" y="4160520"/>
            <a:ext cx="3108960" cy="868680"/>
          </a:xfrm>
          <a:prstGeom prst="roundRect">
            <a:avLst>
              <a:gd fmla="val 8421" name="adj"/>
            </a:avLst>
          </a:prstGeom>
          <a:solidFill>
            <a:srgbClr val="245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732520" y="416052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COUNTER-CASCADE  =  OW + 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reverse direction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4360" y="5806440"/>
            <a:ext cx="11000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These are area-to-area flows across the ladder — not statements about individual movers.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594360" y="411480"/>
            <a:ext cx="110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3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210544" y="365760"/>
            <a:ext cx="384000" cy="384000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1210544" y="3657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94360" y="749808"/>
            <a:ext cx="1100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From churn to a restructuring typology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94360" y="1444752"/>
            <a:ext cx="11000100" cy="658500"/>
          </a:xfrm>
          <a:prstGeom prst="roundRect">
            <a:avLst>
              <a:gd fmla="val 12500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914400" y="1444752"/>
            <a:ext cx="10360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FB2CF"/>
                </a:solidFill>
                <a:latin typeface="Calibri"/>
                <a:ea typeface="Calibri"/>
                <a:cs typeface="Calibri"/>
                <a:sym typeface="Calibri"/>
              </a:rPr>
              <a:t>THE QUESTION   </a:t>
            </a: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Which direction of hierarchy-crossing movement carries an area's turnover?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94360" y="2487168"/>
            <a:ext cx="5074800" cy="14814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68680" y="2651760"/>
            <a:ext cx="452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MEASURE — churn (addition)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68680" y="2944368"/>
            <a:ext cx="45264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C6551A"/>
                </a:solidFill>
                <a:latin typeface="Courier New"/>
                <a:ea typeface="Courier New"/>
                <a:cs typeface="Courier New"/>
                <a:sym typeface="Courier New"/>
              </a:rPr>
              <a:t>Cascade_Churn = IW + 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45C9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245C99"/>
                </a:solidFill>
                <a:latin typeface="Courier New"/>
                <a:ea typeface="Courier New"/>
                <a:cs typeface="Courier New"/>
                <a:sym typeface="Courier New"/>
              </a:rPr>
              <a:t>Counter_Churn = OW + 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E7C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after Dennett &amp; Stillwell (2008)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989320" y="2487168"/>
            <a:ext cx="5605200" cy="14814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263640" y="2651760"/>
            <a:ext cx="505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CLASSIFY — two axes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263640" y="2990088"/>
            <a:ext cx="5056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Cascade Dominance</a:t>
            </a: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— which direction carries the churn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Cross-Decile Share</a:t>
            </a: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— how much turnover crosses the ladder at 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94360" y="431596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ANSWER — four regimes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94360" y="4663440"/>
            <a:ext cx="4345200" cy="567000"/>
          </a:xfrm>
          <a:prstGeom prst="roundRect">
            <a:avLst>
              <a:gd fmla="val 9677" name="adj"/>
            </a:avLst>
          </a:prstGeom>
          <a:solidFill>
            <a:srgbClr val="245C99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94360" y="4663440"/>
            <a:ext cx="434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Counter-led   ·   Dominance &lt; 0.48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994453" y="4663440"/>
            <a:ext cx="2145300" cy="567000"/>
          </a:xfrm>
          <a:prstGeom prst="roundRect">
            <a:avLst>
              <a:gd fmla="val 9677" name="adj"/>
            </a:avLst>
          </a:prstGeom>
          <a:solidFill>
            <a:srgbClr val="C3CAD5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994453" y="4663440"/>
            <a:ext cx="2145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Symmetric  0.48 – 0.52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194499" y="4663440"/>
            <a:ext cx="4345200" cy="567000"/>
          </a:xfrm>
          <a:prstGeom prst="roundRect">
            <a:avLst>
              <a:gd fmla="val 9677" name="adj"/>
            </a:avLst>
          </a:prstGeom>
          <a:solidFill>
            <a:srgbClr val="C6551A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194499" y="4663440"/>
            <a:ext cx="4345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Cascade-led   ·   Dominance &gt; 0.52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4360" y="5358384"/>
            <a:ext cx="110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 —  Cross-Decile Share below P25: barely engages the hierarchy.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94360" y="6108192"/>
            <a:ext cx="1100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This is the typology the validation tests.   </a:t>
            </a:r>
            <a:r>
              <a:rPr b="1" i="0" lang="en-US" sz="13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Net flows answer a different question — next 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B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94360" y="411480"/>
            <a:ext cx="110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4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1210544" y="365760"/>
            <a:ext cx="384000" cy="384000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1210544" y="3657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94360" y="749808"/>
            <a:ext cx="1100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From net flows to a sign-concordance matrix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94360" y="1417320"/>
            <a:ext cx="11000100" cy="585300"/>
          </a:xfrm>
          <a:prstGeom prst="roundRect">
            <a:avLst>
              <a:gd fmla="val 14063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914400" y="1417320"/>
            <a:ext cx="10360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FB2CF"/>
                </a:solidFill>
                <a:latin typeface="Calibri"/>
                <a:ea typeface="Calibri"/>
                <a:cs typeface="Calibri"/>
                <a:sym typeface="Calibri"/>
              </a:rPr>
              <a:t>THE QUESTION   </a:t>
            </a: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Which way does the area sort, on balance — and do its two directions agree?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94360" y="2743200"/>
            <a:ext cx="3977700" cy="155460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68680" y="2907792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MEASURE — net (subtraction)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68680" y="3218688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C6551A"/>
                </a:solidFill>
                <a:latin typeface="Courier New"/>
                <a:ea typeface="Courier New"/>
                <a:cs typeface="Courier New"/>
                <a:sym typeface="Courier New"/>
              </a:rPr>
              <a:t>Net_Cascade = IW − 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45C99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245C99"/>
                </a:solidFill>
                <a:latin typeface="Courier New"/>
                <a:ea typeface="Courier New"/>
                <a:cs typeface="Courier New"/>
                <a:sym typeface="Courier New"/>
              </a:rPr>
              <a:t>Net_Counter = OW − IP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94360" y="4617720"/>
            <a:ext cx="3977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ANSWER — two signs, four regimes.  </a:t>
            </a:r>
            <a:endParaRPr b="1" i="0" sz="1250" u="none" cap="none" strike="noStrike">
              <a:solidFill>
                <a:srgbClr val="1623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Diagonal = concordant </a:t>
            </a:r>
            <a:endParaRPr sz="1250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ff-diagonal = divergent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0" y="2743200"/>
            <a:ext cx="3063300" cy="1664100"/>
          </a:xfrm>
          <a:prstGeom prst="roundRect">
            <a:avLst>
              <a:gd fmla="val 5495" name="adj"/>
            </a:avLst>
          </a:prstGeom>
          <a:solidFill>
            <a:srgbClr val="FFF4D6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687568" y="2889504"/>
            <a:ext cx="266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A7B1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A7B1E"/>
                </a:solidFill>
                <a:latin typeface="Cambria"/>
                <a:ea typeface="Cambria"/>
                <a:cs typeface="Cambria"/>
                <a:sym typeface="Cambria"/>
              </a:rPr>
              <a:t>Throughflow node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connected upward, both directions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695944" y="2743200"/>
            <a:ext cx="3063300" cy="1664100"/>
          </a:xfrm>
          <a:prstGeom prst="roundRect">
            <a:avLst>
              <a:gd fmla="val 5495" name="adj"/>
            </a:avLst>
          </a:prstGeom>
          <a:solidFill>
            <a:srgbClr val="FBE4E4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8897112" y="2889504"/>
            <a:ext cx="266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03A2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03A2E"/>
                </a:solidFill>
                <a:latin typeface="Cambria"/>
                <a:ea typeface="Cambria"/>
                <a:cs typeface="Cambria"/>
                <a:sym typeface="Cambria"/>
              </a:rPr>
              <a:t>Net receiver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gains movers from both directions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486400" y="4553712"/>
            <a:ext cx="3063300" cy="1664100"/>
          </a:xfrm>
          <a:prstGeom prst="roundRect">
            <a:avLst>
              <a:gd fmla="val 5495" name="adj"/>
            </a:avLst>
          </a:prstGeom>
          <a:solidFill>
            <a:srgbClr val="DCE8F4"/>
          </a:solidFill>
          <a:ln cap="flat" cmpd="sng" w="31750">
            <a:solidFill>
              <a:srgbClr val="245C9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687568" y="4700016"/>
            <a:ext cx="266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45C99"/>
                </a:solidFill>
                <a:latin typeface="Cambria"/>
                <a:ea typeface="Cambria"/>
                <a:cs typeface="Cambria"/>
                <a:sym typeface="Cambria"/>
              </a:rPr>
              <a:t>Net exporter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loses movers in both directions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695944" y="4553712"/>
            <a:ext cx="3063300" cy="1664100"/>
          </a:xfrm>
          <a:prstGeom prst="roundRect">
            <a:avLst>
              <a:gd fmla="val 5495" name="adj"/>
            </a:avLst>
          </a:prstGeom>
          <a:solidFill>
            <a:srgbClr val="E3F1E6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897112" y="4700016"/>
            <a:ext cx="266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7D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A7D44"/>
                </a:solidFill>
                <a:latin typeface="Cambria"/>
                <a:ea typeface="Cambria"/>
                <a:cs typeface="Cambria"/>
                <a:sym typeface="Cambria"/>
              </a:rPr>
              <a:t>Downward sink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connected downward, both directions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0" y="2121408"/>
            <a:ext cx="627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Net_Counter</a:t>
            </a:r>
            <a:r>
              <a:rPr b="0" i="0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(OW − IP)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0" y="2395728"/>
            <a:ext cx="306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695944" y="2395728"/>
            <a:ext cx="306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 rot="-5400000">
            <a:off x="2925960" y="434340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Net_Cascade</a:t>
            </a:r>
            <a:r>
              <a:rPr b="0" i="0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(IW − OP)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102352" y="3438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102352" y="524865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4 OF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1210544" y="365760"/>
            <a:ext cx="384048" cy="384048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11210544" y="365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Three frames — and why London-only is the core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9"/>
          <p:cNvGraphicFramePr/>
          <p:nvPr/>
        </p:nvGraphicFramePr>
        <p:xfrm>
          <a:off x="5943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{19D45CC4-12D4-4EA8-93D6-5003CA148E23}</a:tableStyleId>
              </a:tblPr>
              <a:tblGrid>
                <a:gridCol w="640075"/>
                <a:gridCol w="1965950"/>
                <a:gridCol w="1600200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Ladder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33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551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London-internal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London-relative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551A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London-internal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National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solates re-ranking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5C99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London + external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3547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A35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National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5C99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b="1" lang="en-US" sz="12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omplementary</a:t>
                      </a:r>
                      <a:endParaRPr sz="12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1E7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9"/>
          <p:cNvSpPr/>
          <p:nvPr/>
        </p:nvSpPr>
        <p:spPr>
          <a:xfrm>
            <a:off x="594360" y="41605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Reclassification = B − A</a:t>
            </a:r>
            <a:r>
              <a:rPr b="0" i="0" lang="en-US" sz="13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 (same London-only flows, new ladder)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External flows = C − B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13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(same national ladder, added external flows)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94351" y="5120650"/>
            <a:ext cx="10546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~69% of London sits below national D6</a:t>
            </a:r>
            <a:r>
              <a:rPr b="0" i="0" lang="en-US" sz="13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— the national ladder compresses most of London into one band, so A stays the faithful gentrification lens.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fig20b.png"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80" y="1763275"/>
            <a:ext cx="5486398" cy="210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6537980" y="4184415"/>
            <a:ext cx="5486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Within-London flows dominate both directions; the one big 2021 change is the surge in London→outside moves — the exodus signal.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594360" y="411480"/>
            <a:ext cx="110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METHODOLOGY · 6 OF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11210544" y="365760"/>
            <a:ext cx="384000" cy="384000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1210544" y="3657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94360" y="749808"/>
            <a:ext cx="1100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Testing the assumption against three independent checks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94360" y="1444752"/>
            <a:ext cx="11000100" cy="658500"/>
          </a:xfrm>
          <a:prstGeom prst="roundRect">
            <a:avLst>
              <a:gd fmla="val 12500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14400" y="1444752"/>
            <a:ext cx="10360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2C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9FB2CF"/>
                </a:solidFill>
                <a:latin typeface="Calibri"/>
                <a:ea typeface="Calibri"/>
                <a:cs typeface="Calibri"/>
                <a:sym typeface="Calibri"/>
              </a:rPr>
              <a:t>THE QUESTION   </a:t>
            </a:r>
            <a:r>
              <a:rPr b="0" i="1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If cascade really equals gentrification, three independent yardsticks should agree.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94360" y="2514600"/>
            <a:ext cx="2880300" cy="3429000"/>
          </a:xfrm>
          <a:prstGeom prst="roundRect">
            <a:avLst>
              <a:gd fmla="val 2857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868680" y="2834640"/>
            <a:ext cx="2331600" cy="27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Flow typology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C9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9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6EA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584448" y="2990088"/>
            <a:ext cx="640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A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4343400" y="2624328"/>
            <a:ext cx="7251300" cy="987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572000" y="2926080"/>
            <a:ext cx="384000" cy="384000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572000" y="292608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166360" y="2734056"/>
            <a:ext cx="6199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IMD percentile change, 2010 → 2019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did the area's deprivation actually improve?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584448" y="4215384"/>
            <a:ext cx="640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A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343400" y="3849624"/>
            <a:ext cx="7251300" cy="987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4572000" y="4151376"/>
            <a:ext cx="384000" cy="384000"/>
          </a:xfrm>
          <a:prstGeom prst="ellipse">
            <a:avLst/>
          </a:prstGeom>
          <a:solidFill>
            <a:srgbClr val="245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572000" y="415137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166360" y="3959352"/>
            <a:ext cx="6199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Yee &amp; Dennett (2022)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attribute-based gentrification classification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584448" y="5440680"/>
            <a:ext cx="640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CA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343400" y="5074920"/>
            <a:ext cx="7251300" cy="987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0" y="5376672"/>
            <a:ext cx="384000" cy="384000"/>
          </a:xfrm>
          <a:prstGeom prst="ellipse">
            <a:avLst/>
          </a:prstGeom>
          <a:solidFill>
            <a:srgbClr val="1A7D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572000" y="53766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166360" y="5184648"/>
            <a:ext cx="61995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Occupational ascent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rise in SOC major groups 1–3, Duncan-style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94360" y="6199632"/>
            <a:ext cx="1100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The next two slides are what happens when </a:t>
            </a:r>
            <a:r>
              <a:rPr b="1" lang="en-US" sz="1350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we</a:t>
            </a:r>
            <a:r>
              <a:rPr b="1" i="0" lang="en-US" sz="135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 check 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FINDINGS ·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Cascade ≠ </a:t>
            </a:r>
            <a:r>
              <a:rPr b="1" lang="en-US" sz="3200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entrification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94360" y="17830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D44"/>
              </a:buClr>
              <a:buSzPts val="5200"/>
              <a:buFont typeface="Cambria"/>
              <a:buNone/>
            </a:pPr>
            <a:r>
              <a:rPr b="1" lang="en-US" sz="5200">
                <a:solidFill>
                  <a:srgbClr val="1A7D44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94360" y="267004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areas where both agree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(GEN &amp; cascade-led)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206240" y="17830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5200"/>
              <a:buFont typeface="Cambria"/>
              <a:buNone/>
            </a:pPr>
            <a:r>
              <a:rPr b="1" lang="en-US" sz="5200">
                <a:solidFill>
                  <a:srgbClr val="245C99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206240" y="267004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MSOAs </a:t>
            </a: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attribute-only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(Yee-GEN, no cascade)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818120" y="17830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5200"/>
              <a:buFont typeface="Cambria"/>
              <a:buNone/>
            </a:pPr>
            <a:r>
              <a:rPr b="1" lang="en-US" sz="5200">
                <a:solidFill>
                  <a:srgbClr val="C6551A"/>
                </a:solidFill>
                <a:latin typeface="Cambria"/>
                <a:ea typeface="Cambria"/>
                <a:cs typeface="Cambria"/>
                <a:sym typeface="Cambria"/>
              </a:rPr>
              <a:t>197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818120" y="267004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MSOAs </a:t>
            </a: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flow-only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(cascade, no Yee-GEN)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594360" y="3520440"/>
            <a:ext cx="11000232" cy="822960"/>
          </a:xfrm>
          <a:prstGeom prst="roundRect">
            <a:avLst>
              <a:gd fmla="val 10000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822960" y="3520440"/>
            <a:ext cx="10542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Cramér's V = 0.10</a:t>
            </a:r>
            <a:r>
              <a:rPr b="0" i="0" lang="en-US" sz="15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1" i="0" lang="en-US" sz="15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Adjusted Rand Index = 0.005</a:t>
            </a:r>
            <a:r>
              <a:rPr b="0" i="0" lang="en-US" sz="15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 —  the two schemes agree no better than random labels.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94360" y="4526280"/>
            <a:ext cx="5486400" cy="164592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850392" y="464515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IMD kicker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50392" y="4983480"/>
            <a:ext cx="4983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Yee-GEN alone → </a:t>
            </a:r>
            <a:r>
              <a:rPr b="1" i="0" lang="en-US" sz="1400" u="none" cap="none" strike="noStrike">
                <a:solidFill>
                  <a:srgbClr val="1A7D44"/>
                </a:solidFill>
                <a:latin typeface="Calibri"/>
                <a:ea typeface="Calibri"/>
                <a:cs typeface="Calibri"/>
                <a:sym typeface="Calibri"/>
              </a:rPr>
              <a:t>+0.043</a:t>
            </a:r>
            <a:r>
              <a:rPr b="0" i="0" lang="en-US" sz="14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IMD gain.  </a:t>
            </a:r>
            <a:endParaRPr b="0" i="0" sz="1400" u="none" cap="none" strike="noStrike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Yee-GEN + cascade → only </a:t>
            </a:r>
            <a:r>
              <a:rPr b="1" i="0" lang="en-US" sz="14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+0.017</a:t>
            </a:r>
            <a:r>
              <a:rPr b="0" i="0" lang="en-US" sz="14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Adding cascade doesn't reinforce gentrification.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309360" y="4526280"/>
            <a:ext cx="5285232" cy="1645920"/>
          </a:xfrm>
          <a:prstGeom prst="roundRect">
            <a:avLst>
              <a:gd fmla="val 5000" name="adj"/>
            </a:avLst>
          </a:prstGeom>
          <a:solidFill>
            <a:srgbClr val="16233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6565392" y="46451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The twist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565392" y="4983480"/>
            <a:ext cx="47731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The flow method's IMD signal lives in the </a:t>
            </a:r>
            <a:r>
              <a:rPr b="1" i="0" lang="en-US" sz="1400" u="none" cap="none" strike="noStrike">
                <a:solidFill>
                  <a:srgbClr val="9FC0E6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r>
              <a:rPr b="0" i="0" lang="en-US" sz="14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 direction</a:t>
            </a:r>
            <a:r>
              <a:rPr lang="en-US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4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not the cascade one. </a:t>
            </a:r>
            <a:endParaRPr b="0" i="0" sz="1400" u="none" cap="none" strike="noStrike">
              <a:solidFill>
                <a:srgbClr val="E4EC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The rare agreement is confined to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2011 inner London</a:t>
            </a:r>
            <a:r>
              <a:rPr b="0" i="0" lang="en-US" sz="1400" u="none" cap="none" strike="noStrike">
                <a:solidFill>
                  <a:srgbClr val="E4ECF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594360" y="411480"/>
            <a:ext cx="110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FINDINGS ·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1210544" y="365760"/>
            <a:ext cx="384000" cy="384000"/>
          </a:xfrm>
          <a:prstGeom prst="ellipse">
            <a:avLst/>
          </a:prstGeom>
          <a:solidFill>
            <a:srgbClr val="16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11210544" y="36576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94360" y="713232"/>
            <a:ext cx="11000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2021's cascade signal is an exodus, not relocation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94360" y="1371600"/>
            <a:ext cx="1100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+51%</a:t>
            </a:r>
            <a:r>
              <a:rPr b="0" i="0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external outflow 2011→21      ·      </a:t>
            </a:r>
            <a:r>
              <a:rPr b="1" i="0" lang="en-US" sz="160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53 → 116</a:t>
            </a:r>
            <a:r>
              <a:rPr b="0" i="0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net-exporter MSOAs      ·      </a:t>
            </a:r>
            <a:r>
              <a:rPr b="1" i="0" lang="en-US" sz="160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r>
              <a:rPr b="0" i="0" lang="en-US" sz="12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  of 2021 cascade-led areas are outer London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02920" y="1965960"/>
            <a:ext cx="6812400" cy="3590100"/>
          </a:xfrm>
          <a:prstGeom prst="roundRect">
            <a:avLst>
              <a:gd fmla="val 229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fig25.png" id="252" name="Google Shape;2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057400"/>
            <a:ext cx="6629398" cy="307793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/>
          <p:nvPr/>
        </p:nvSpPr>
        <p:spPr>
          <a:xfrm>
            <a:off x="640080" y="5190200"/>
            <a:ext cx="653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Cascade extremes shift inner (2011) → outer (2021); persistence is rare.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80960" y="2011680"/>
            <a:ext cx="3913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One metric, two arms:  </a:t>
            </a:r>
            <a:r>
              <a:rPr b="1" i="0" lang="en-US" sz="1250" u="none" cap="none" strike="noStrike">
                <a:solidFill>
                  <a:srgbClr val="2A3547"/>
                </a:solidFill>
                <a:latin typeface="Courier New"/>
                <a:ea typeface="Courier New"/>
                <a:cs typeface="Courier New"/>
                <a:sym typeface="Courier New"/>
              </a:rPr>
              <a:t>Cascade_Churn = IW + OP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680960" y="2450592"/>
            <a:ext cx="3913500" cy="1536300"/>
          </a:xfrm>
          <a:prstGeom prst="roundRect">
            <a:avLst>
              <a:gd fmla="val 5357" name="adj"/>
            </a:avLst>
          </a:prstGeom>
          <a:solidFill>
            <a:srgbClr val="F9E6D6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7936992" y="2615184"/>
            <a:ext cx="340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Gentrification — the inflow arm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IW dominates: </a:t>
            </a:r>
            <a:endParaRPr b="0" i="0" sz="1250" u="none" cap="none" strike="noStrike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nflow share 40–93%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ersistent</a:t>
            </a:r>
            <a:endParaRPr sz="1250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nner cores (Camden, Tower Hamlets)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680960" y="4133088"/>
            <a:ext cx="3913500" cy="1755600"/>
          </a:xfrm>
          <a:prstGeom prst="roundRect">
            <a:avLst>
              <a:gd fmla="val 4688" name="adj"/>
            </a:avLst>
          </a:prstGeom>
          <a:solidFill>
            <a:srgbClr val="DCE8F4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7936992" y="4297680"/>
            <a:ext cx="3401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Exodus — the outflow arm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OP dominates: </a:t>
            </a:r>
            <a:endParaRPr b="0" i="0" sz="1250" u="none" cap="none" strike="noStrike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nflow share 1–35% (Harrow 1%)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pisodic, 2021 only</a:t>
            </a: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, not in 2011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50">
              <a:solidFill>
                <a:srgbClr val="2A35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2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uter 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5C99"/>
              </a:buClr>
              <a:buSzPts val="1250"/>
              <a:buFont typeface="Calibri"/>
              <a:buChar char="●"/>
            </a:pPr>
            <a:r>
              <a:rPr b="1" i="1" lang="en-US" sz="1250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“N</a:t>
            </a:r>
            <a:r>
              <a:rPr b="1" i="1" lang="en-US" sz="1250" u="none" cap="none" strike="noStrike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et exporters</a:t>
            </a:r>
            <a:r>
              <a:rPr b="1" i="1" lang="en-US" sz="1250">
                <a:solidFill>
                  <a:srgbClr val="245C99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94360" y="6144768"/>
            <a:ext cx="1100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inflow share is what separates the two processes.   </a:t>
            </a:r>
            <a:r>
              <a:rPr b="0" i="1" lang="en-US" sz="115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Caveat: the March 2021 lockdown census both caused the shift and degraded measurement.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3B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594360" y="640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94360" y="1005840"/>
            <a:ext cx="110002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cascade and gentrification don't imply each 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94360" y="2098343"/>
            <a:ext cx="5349300" cy="1828800"/>
          </a:xfrm>
          <a:prstGeom prst="roundRect">
            <a:avLst>
              <a:gd fmla="val 5000" name="adj"/>
            </a:avLst>
          </a:prstGeom>
          <a:solidFill>
            <a:srgbClr val="2232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868680" y="2299511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6551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68680" y="2875583"/>
            <a:ext cx="4800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Measurement decoupling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CA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6EA"/>
                </a:solidFill>
                <a:latin typeface="Calibri"/>
                <a:ea typeface="Calibri"/>
                <a:cs typeface="Calibri"/>
                <a:sym typeface="Calibri"/>
              </a:rPr>
              <a:t>Flows and attributes capture different processes — one is who is there, the other is how the hierarchy is being reshuffled.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355080" y="2098343"/>
            <a:ext cx="5212200" cy="1828800"/>
          </a:xfrm>
          <a:prstGeom prst="roundRect">
            <a:avLst>
              <a:gd fmla="val 5000" name="adj"/>
            </a:avLst>
          </a:prstGeom>
          <a:solidFill>
            <a:srgbClr val="2232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629400" y="2299511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0D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FA0D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629400" y="2875583"/>
            <a:ext cx="46635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shock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CAD6E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6EA"/>
                </a:solidFill>
                <a:latin typeface="Calibri"/>
                <a:ea typeface="Calibri"/>
                <a:cs typeface="Calibri"/>
                <a:sym typeface="Calibri"/>
              </a:rPr>
              <a:t>2021's flows are dominated by a one-off pandemic exodus, not gentrification relocating outward.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94360" y="4155743"/>
            <a:ext cx="11000100" cy="1600200"/>
          </a:xfrm>
          <a:prstGeom prst="roundRect">
            <a:avLst>
              <a:gd fmla="val 5714" name="adj"/>
            </a:avLst>
          </a:prstGeom>
          <a:solidFill>
            <a:srgbClr val="1C2E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68680" y="4311191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55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6551A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68680" y="4640375"/>
            <a:ext cx="10451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open-data, whole-city flow lens plus a three-frame decomposition. </a:t>
            </a:r>
            <a:r>
              <a:rPr b="0" i="0" lang="en-US" sz="1500" u="none" cap="none" strike="noStrike">
                <a:solidFill>
                  <a:srgbClr val="D6E0F0"/>
                </a:solidFill>
                <a:latin typeface="Calibri"/>
                <a:ea typeface="Calibri"/>
                <a:cs typeface="Calibri"/>
                <a:sym typeface="Calibri"/>
              </a:rPr>
              <a:t>The divergence cells — where flows and attributes disagree — are exactly what attribute methods miss, and the decoupling converges with recent mover-level findings (Freeman et al. 2024).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94360" y="6172200"/>
            <a:ext cx="11000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C0E6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9FC0E6"/>
                </a:solidFill>
                <a:latin typeface="Cambria"/>
                <a:ea typeface="Cambria"/>
                <a:cs typeface="Cambria"/>
                <a:sym typeface="Cambria"/>
              </a:rPr>
              <a:t>Takeaway: a flow lens doesn't detect gentrification worse — it measures a different process, and reveals what attributes overlook.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594360" y="411480"/>
            <a:ext cx="11000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C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C90"/>
                </a:solidFill>
                <a:latin typeface="Calibri"/>
                <a:ea typeface="Calibri"/>
                <a:cs typeface="Calibri"/>
                <a:sym typeface="Calibri"/>
              </a:rPr>
              <a:t>LIMITATIONS &amp; WHAT'S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94360" y="749808"/>
            <a:ext cx="1100023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What this can't say — and where it goes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94360" y="1865376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914400" y="173736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Aggregation / ecological — </a:t>
            </a:r>
            <a:r>
              <a:rPr b="0" i="0" lang="en-US" sz="14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area-of-origin deprivation is a noisy proxy for a mover's wealth — no individual data.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94360" y="2578608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914400" y="2450592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Temporal mismatch — </a:t>
            </a:r>
            <a:r>
              <a:rPr b="0" i="0" lang="en-US" sz="14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flows are 2011/2021; the IMD outcome is 2010→2019.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594360" y="3291840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914400" y="3163824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Aging ladder — </a:t>
            </a:r>
            <a:r>
              <a:rPr b="0" i="0" lang="en-US" sz="14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a 2010 baseline is eleven years stale by 2021 — a decade of gentrification is scored on old deprivation.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594360" y="4005072"/>
            <a:ext cx="146304" cy="146304"/>
          </a:xfrm>
          <a:prstGeom prst="ellipse">
            <a:avLst/>
          </a:prstGeom>
          <a:solidFill>
            <a:srgbClr val="C655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914400" y="3877056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Lockdown measurement — </a:t>
            </a:r>
            <a:r>
              <a:rPr b="0" i="0" lang="en-US" sz="145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2021 census suppression / imputation degrades the flow estimates.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7452360" y="1828800"/>
            <a:ext cx="4142232" cy="3794760"/>
          </a:xfrm>
          <a:prstGeom prst="roundRect">
            <a:avLst>
              <a:gd fmla="val 2169" name="adj"/>
            </a:avLst>
          </a:prstGeom>
          <a:solidFill>
            <a:srgbClr val="F3F6FB"/>
          </a:solidFill>
          <a:ln>
            <a:noFill/>
          </a:ln>
          <a:effectLst>
            <a:outerShdw blurRad="101600" rotWithShape="0" algn="bl" dir="5400000" dist="38100">
              <a:srgbClr val="9AA6B8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768096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680960" y="2377440"/>
            <a:ext cx="368503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Marcuse, P. (1985). J. Urb. &amp; Contemp. Law 28.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Dennett &amp; Stillwell (2008). Population Trends 134.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Yee &amp; Dennett (2022).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Ding, Hwang &amp; Divringi (2016). Reg. Sci. Urban Econ. 61.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Freeman, Hwang, Haupert &amp; Zhang (2024). Urban Affairs Rev. 60(1).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A354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A3547"/>
                </a:solidFill>
                <a:latin typeface="Calibri"/>
                <a:ea typeface="Calibri"/>
                <a:cs typeface="Calibri"/>
                <a:sym typeface="Calibri"/>
              </a:rPr>
              <a:t>Reades, Lees, Hubbard &amp; Lansley (2023). EPA 55(4).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594360" y="5989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6233B"/>
                </a:solidFill>
                <a:latin typeface="Cambria"/>
                <a:ea typeface="Cambria"/>
                <a:cs typeface="Cambria"/>
                <a:sym typeface="Cambria"/>
              </a:rPr>
              <a:t>Thank you  ·  questions welcome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