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[30s] The classic theory says gentrification IS a flow phenomenon - a cascade of moves down the deprivation hierarchy. I take that seriously: I adopt the cascade as a candidate flow-based definition, measure it across London between the 2011 and 2021 censuses, and test whether it recovers what attribute-based methods call gentrification. As an equivalence it fails - but unpooling the cascade into measurable mechanisms turns the failure into the most interesting result: the flow lens separates gentrification's subtypes. That's the arc of the talk.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[55s] The intuition is old and respectable - Marcuse's chain displacement: gentrification radiates outward as a chain of moves. But it has only ever been assumed, never tested at whole-city scale with open flow data - and the few direct mover-level tests find the cascade weak or mixed. So I don't assert the definition; I adopt it as a candidate and test it. One caveat up front: I measure area-to-area flows - 'from a wealthier area' is not 'a wealthier person'. So: how do we make the cascade measurable?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[45s] The design choice everything rests on: the deprivation ruler is held still at 2010 for both census years - so change between censuses is attributable to movement, not re-ranking, and IMD 2019 stays entirely on the outcome side, keeping validation non-circular by construction. On that ladder, every move that crosses the hierarchy is one of four elementary flows: the cascade pair - inflow-from-wealthier, outflow-to-poorer - and the mirror counter pair. 982 MSOAs, open OD data. Which direction carries an area's turnover? That's the classifier.</a:t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[35s] The main classifier - everything else supports or diagnoses it. Churn adds the flows in each direction, following Dennett &amp; Stillwell. Two axes: cascade dominance - which direction carries the deprivation-crossing churn - and cross-decile share - how much of total turnover engages the ladder at all. Four regimes; cascade-led is the candidate definition made operational. But London is not a vacuum - which ruler, and which flows?</a:t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[30s] A naive London-vs-national comparison confounds changing the ruler with adding external moves. The three-frame design separates them: B minus A is pure re-ranking; C minus B is pure external flows. And because 69% of London sits below national decile 6, the national ladder squashes London - so London-only Frame A stays the core lens. Keep the external channel in mind. The instrument is built; how would we know whether cascade equals gentrification?</a:t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[40s] If cascade really equals gentrification, three independently built yardsticks should agree: the outcome check - did deprivation improve, 2010 to 2019; the attribute check - Yee &amp; Dennett's classification; the composition check - occupational ascent in SOC 1 to 3. And one design point that pre-empts an obvious objection: Yee's labels are built on 2001-to-2011 change, so the two census years answer different questions - 2011 is concurrent validation, 2021 is a decade-later persistence test. We never validate 2021 flows against 2011-era labels. The next four slides are what happens when you check.</a:t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[60s] The first check. Of the areas either method flags, only 16 agree; 25 are attribute-only, 197 flow-only. The IMD kicker: Yee's gentrifying areas improve on deprivation, but adding a cascade signal on top weakens the gain - cascade is not the engine of measured gentrification. And the twist: the flow method's own deprivation signal lives in the counter direction; the only agreement is classic 2011 inner London. Occupational ascent tells the same story. Now - is that a bare null? Or did 'cascade-led' pool genuinely different mechanisms into one label? That suspicion drives the next step.</a:t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[70s] So we unpool. Every cascade-led area is split by two measured properties, applied identically to both years: how much of its cascade churn is the arrival arm - inflow share, threshold 0.25, which sits in an empirical gap in both years - and for outflow cascades, whether the poorer-bound out-moves leave London - external-arm share at 0.5. Four leaves. The inflow-driven gentrification arm collapses from 56 to 13. The external-majority outflow class explodes 19 to 78 - times four, all outer London - the pandemic exodus, emerging rather than relocating. Internal-majority outflow is the stable backdrop, a national-ladder artefact. And only eight areas hold the inflow-driven class in both years - including Camden 026 and Tower Hamlets 010, the cascade-dominance extremes of the city. With four mechanisms instead of one, we can re-ask the Yee question properly - at leaf level.</a:t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[70s] The sharper hypothesis: Yee's GEN should concentrate in the inflow-driven leaf. We test with enrichment - the lift of P(GEN given leaf) over the base rate, Fisher's exact test, BH-corrected; V and ARI are retired because a 71% Stable base swamps them at these sample sizes. The result rejects the prediction, informatively. Inflow-driven shows only a modest loose signal in the concurrent test, which fails correction and does not persist. The strong, correction-robust signal is outflow-internal: strict-GEN lift 3.55 concurrent, 3.19 in the persistence test - the only cell significant on both clocks. The exodus class is GEN-depleted - external corroboration it isn't gentrification relocating. Counter-led is depleted throughout. So gentrifying areas sit in the outflow branch. Why? Yee's own subtypes answer.</a:t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[75s] The punchline. Yee's Class-3 subtypes decompose the puzzle. Super-gentrification - Kensington &amp; Chelsea, Westminster, already-prime areas - aligns with the internal-outflow cascade, lift 2.3 concurrent rising to 3.4 in the persistence test at q below ten-to-the-minus-nine: the strongest alignment in the whole analysis, and the only one that strengthens over the decade. That's the displacement arm: cascade churn dominated by poorer-bound out-moves within London. Mainstream gentrification - Tower Hamlets, Hackney, Southwark - aligns with the inflow-driven cascade, concurrently only, modest and underpowered, gone by 2021. One honest caveat: the ladder ceiling - top-decile areas cannot be inflow-led, so super-gentrified areas can only express a cascade through the outflow arm; the claim is that they show exactly that signature, strongly, on both clocks - not that super-gentrification causes outflow. So the two lenses see the same city, through different arms. What survives as a definition?</a:t>
            </a:r>
            <a:endParaRPr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[50s] Back to the title. Does a flow-based definition hold? As an equivalence - no, for two reasons: flows and attributes measure different objects, and 2021 shows the same cascade number produced by an exodus. But the test sharpens rather than merely negates. What survives is a conditional definition: a persistent, inflow-led, inner-London cascade coinciding with attribute ascent - now with its scope stated honestly: supported for the mainstream subtype, in the concurrent window, at modest effect size, offered as a candidate for future testing. Broadly, the flow lens measures restructuring; gentrification is a set of signatures within it - mainstream in the arrival arm, super-gentrification in the displacement arm.</a:t>
            </a:r>
            <a:endParaRPr/>
          </a:p>
        </p:txBody>
      </p:sp>
      <p:sp>
        <p:nvSpPr>
          <p:cNvPr id="287" name="Google Shape;2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[35s] Three contributions: an open-data, reproducible whole-city flow lens; a mechanism tree that turns a null into anatomy - mainstream in the arrival arm, super-gentrification in the displacement arm; and the three-frame decomposition that attributes every contrast to one mechanism. Limitations stated plainly: the ecological limit, which itself explains the decoupling; the temporal mismatches, handled by the two-clock framing; the ladder ceiling, which is why the SupGen claim is worded carefully; and lockdown-census measurement. Next steps: deepen the case studies and characterise the divergence spatially.</a:t>
            </a:r>
            <a:endParaRPr/>
          </a:p>
        </p:txBody>
      </p:sp>
      <p:sp>
        <p:nvSpPr>
          <p:cNvPr id="303" name="Google Shape;30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[10s] Thanks - happy to take questions. (Total target: ~9.5 minutes.)</a:t>
            </a:r>
            <a:endParaRPr/>
          </a:p>
        </p:txBody>
      </p:sp>
      <p:sp>
        <p:nvSpPr>
          <p:cNvPr id="334" name="Google Shape;33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[Backup - not part of the 10 minutes.] If asked for concrete examples: Camden 026 and Tower Hamlets 010 are what a real flow-defined cascade looks like - both arms thick, robust across frames, both censuses; only eight areas in London hold the class twice, and note all eight are Yee-modal Stable - the flow lens sees restructuring the attribute lens can't. Southwark 003, Islington 008 and Wandsworth 035 keep improving on IMD while flows flip counter - the decoupling made visible. Harrow 008 and 029 are the national-ladder artefact - most poorer-bound out-moves stay inside London. Kingston 019 and Croydon 044 carry the literal exodus - one baseline member, one emergent. C and D share near-zero inflow shares; only the destination of the out-arm differs, which is the proof that exodus is measured, not relabelled.</a:t>
            </a:r>
            <a:endParaRPr/>
          </a:p>
        </p:txBody>
      </p:sp>
      <p:sp>
        <p:nvSpPr>
          <p:cNvPr id="344" name="Google Shape;3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4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97A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B97A4"/>
                </a:solidFill>
                <a:latin typeface="Calibri"/>
                <a:ea typeface="Calibri"/>
                <a:cs typeface="Calibri"/>
                <a:sym typeface="Calibri"/>
              </a:rPr>
              <a:t>MSc DISSERTATION  ·  CASA, UCL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1170432"/>
            <a:ext cx="6675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Testing a Flow-Based Definition of Gentrification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487168"/>
            <a:ext cx="6309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Cascading flows in London, from Census origin–destination data, 2011–2021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29077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C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B9B5C1"/>
                </a:solidFill>
                <a:latin typeface="Calibri"/>
                <a:ea typeface="Calibri"/>
                <a:cs typeface="Calibri"/>
                <a:sym typeface="Calibri"/>
              </a:rPr>
              <a:t>Yujing (Olivia) Xing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3611880"/>
            <a:ext cx="7680960" cy="1024128"/>
          </a:xfrm>
          <a:prstGeom prst="roundRect">
            <a:avLst>
              <a:gd fmla="val 6250" name="adj"/>
            </a:avLst>
          </a:prstGeom>
          <a:solidFill>
            <a:srgbClr val="34313B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60120" y="3675888"/>
            <a:ext cx="7223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Does tracking who moves recover what attribute methods call gentrification?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21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08214"/>
                </a:solidFill>
                <a:latin typeface="Calibri"/>
                <a:ea typeface="Calibri"/>
                <a:cs typeface="Calibri"/>
                <a:sym typeface="Calibri"/>
              </a:rPr>
              <a:t>It doesn’t as an equivalence — but the mechanisms behind the failure separate gentrification’s subtypes.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818120" y="1051560"/>
            <a:ext cx="777240" cy="144018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818120" y="1281989"/>
            <a:ext cx="777240" cy="144018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818120" y="1512418"/>
            <a:ext cx="777240" cy="144018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818120" y="1742846"/>
            <a:ext cx="777240" cy="144018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818120" y="1973275"/>
            <a:ext cx="777240" cy="144018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360920" y="960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↘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8613648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Why follow the movers?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Why measure gentrification through moves, rather than who lives there?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1536192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48640" y="1525219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05840" y="1481328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The classic chain  —  </a:t>
            </a:r>
            <a:r>
              <a:rPr b="0" i="0" lang="en-US" sz="12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Affluent residents move in; poorer residents are pushed down the hierarchy (Marcuse 1985). If the theory is right, the cascade IS a definition of gentrification.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48640" y="237744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2366467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05840" y="2322576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Mechanism inferred, not observed  —  </a:t>
            </a:r>
            <a:r>
              <a:rPr b="0" i="0" lang="en-US" sz="12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Most studies infer the cascade from neighbourhood attributes; almost none analyse origin–destination migration flows directly, at whole-city scale, with open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48640" y="3218688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48640" y="3207715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3163824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Direct evidence is inconsistent  —  </a:t>
            </a:r>
            <a:r>
              <a:rPr b="0" i="0" lang="en-US" sz="12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Mover-level studies do not consistently support a strong downward cascade (Freeman et al. 2024; Ding et al. 2016) — so the definition deserves a test, not an assumption.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05840" y="402336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Caveat up front: these are area-to-area flows — “from a wealthier area” is not “a wealthier person”.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Adopt the cascade as a candidate definition — and test it.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First, make the cascade measurable.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METHODOLOGY · 1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One fixed ladder, four elementary flows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What does the classic chain look like on a deprivation ladder?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" y="1463040"/>
            <a:ext cx="3794760" cy="2834640"/>
          </a:xfrm>
          <a:prstGeom prst="roundRect">
            <a:avLst>
              <a:gd fmla="val 2258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31520" y="15910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HOW — FIX THE RULER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77240" y="1920240"/>
            <a:ext cx="502920" cy="10287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77240" y="2084832"/>
            <a:ext cx="502920" cy="10287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777240" y="2249424"/>
            <a:ext cx="502920" cy="10287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77240" y="2414016"/>
            <a:ext cx="502920" cy="10287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77240" y="2578608"/>
            <a:ext cx="502920" cy="10287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353312" y="188366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353312" y="261518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965960" y="1874520"/>
            <a:ext cx="2194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IMD 2010, held still for both censuses.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6363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Change = movement, not re-ranking.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6363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IMD 2019 never builds the classifier — it stays reserved as the independent outcome (non-circular).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31520" y="3749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DATA · all open, anonymised — 982 London MSOAs · Census OD flows 2011 &amp; 2021 (Nomis) · IMD 2010 &amp; 2019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26280" y="1463040"/>
            <a:ext cx="4114800" cy="2834640"/>
          </a:xfrm>
          <a:prstGeom prst="roundRect">
            <a:avLst>
              <a:gd fmla="val 225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754880" y="159105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EVERY CROSS-DECILE MOVE IS ONE OF FOUR FLOWS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754880" y="1956816"/>
            <a:ext cx="502920" cy="310896"/>
          </a:xfrm>
          <a:prstGeom prst="roundRect">
            <a:avLst>
              <a:gd fmla="val 1764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754880" y="1947672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321808" y="1920240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inflow from wealthier areas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2487168"/>
            <a:ext cx="502920" cy="310896"/>
          </a:xfrm>
          <a:prstGeom prst="roundRect">
            <a:avLst>
              <a:gd fmla="val 1764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754880" y="2478024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321808" y="2450592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outflow to poorer areas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720840" y="1956816"/>
            <a:ext cx="502920" cy="310896"/>
          </a:xfrm>
          <a:prstGeom prst="roundRect">
            <a:avLst>
              <a:gd fmla="val 17647" name="adj"/>
            </a:avLst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720840" y="1947672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287768" y="1920240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outflow to wealthier areas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720840" y="2487168"/>
            <a:ext cx="502920" cy="310896"/>
          </a:xfrm>
          <a:prstGeom prst="roundRect">
            <a:avLst>
              <a:gd fmla="val 17647" name="adj"/>
            </a:avLst>
          </a:prstGeom>
          <a:solidFill>
            <a:srgbClr val="6A51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720840" y="2478024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287768" y="2450592"/>
            <a:ext cx="1325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inflow from poorer areas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54880" y="2999232"/>
            <a:ext cx="3703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CASCADE = IW + 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wealthier in, poorer out-and-down — the chain’s signature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A5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COUNTER = OW + 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the mirror direction · lateral (same-decile) moves cross no hierarchy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Four flows on one fixed ladder.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Which direction carries a neighbourhood’s turnover?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METHODOLOGY · 2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The classifier: churn → a flow-regime typology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Which direction of ladder-crossing movement carries an area’s turnover?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1463040"/>
            <a:ext cx="3977640" cy="1481328"/>
          </a:xfrm>
          <a:prstGeom prst="roundRect">
            <a:avLst>
              <a:gd fmla="val 4321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31520" y="1572768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AXIS 1 · Cascade Dominance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Cascade_Churn / (Cascade + Counter churn)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which direction carries the deprivation-crossing churn — churn adds flows, after Dennett &amp; Stillwell (2008)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663440" y="1463040"/>
            <a:ext cx="3977640" cy="1481328"/>
          </a:xfrm>
          <a:prstGeom prst="roundRect">
            <a:avLst>
              <a:gd fmla="val 4321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892040" y="1572768"/>
            <a:ext cx="35661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AXIS 2 · Cross-Decile Share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(Cascade + Counter churn) / Total migration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how much turnover engages the ladder at all — lateral moves stay in the denominator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02920" y="3200400"/>
            <a:ext cx="1938528" cy="713232"/>
          </a:xfrm>
          <a:prstGeom prst="roundRect">
            <a:avLst>
              <a:gd fmla="val 8974" name="adj"/>
            </a:avLst>
          </a:prstGeom>
          <a:solidFill>
            <a:srgbClr val="C0392B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12648" y="3200400"/>
            <a:ext cx="17556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Cascade-led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dominance &gt; 0.52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587752" y="3200400"/>
            <a:ext cx="1938528" cy="713232"/>
          </a:xfrm>
          <a:prstGeom prst="roundRect">
            <a:avLst>
              <a:gd fmla="val 8974" name="adj"/>
            </a:avLst>
          </a:prstGeom>
          <a:solidFill>
            <a:srgbClr val="C9C9CF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697480" y="3200400"/>
            <a:ext cx="17556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0.48 – 0.52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672584" y="3200400"/>
            <a:ext cx="1938528" cy="713232"/>
          </a:xfrm>
          <a:prstGeom prst="roundRect">
            <a:avLst>
              <a:gd fmla="val 8974" name="adj"/>
            </a:avLst>
          </a:prstGeom>
          <a:solidFill>
            <a:srgbClr val="6A51A3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782312" y="3200400"/>
            <a:ext cx="17556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Counter-led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dominance &lt; 0.48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757416" y="3200400"/>
            <a:ext cx="1938528" cy="713232"/>
          </a:xfrm>
          <a:prstGeom prst="roundRect">
            <a:avLst>
              <a:gd fmla="val 8974" name="adj"/>
            </a:avLst>
          </a:prstGeom>
          <a:solidFill>
            <a:srgbClr val="E9E7E2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867144" y="3200400"/>
            <a:ext cx="1755648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Lateral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cross-decile share &lt; P25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02920" y="4041648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Cascade-led = more affluent inflow and poorer outflow than the counter direction — the classic mechanism, operational.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Cascade-led is the candidate definition, made testable.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But London is not a vacuum: which ruler, and which flows?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METHODOLOGY · 3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Three frames — London-only stays the core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London is not a vacuum: so which ruler, and which flows?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02920" y="1517904"/>
            <a:ext cx="2560320" cy="1737360"/>
          </a:xfrm>
          <a:prstGeom prst="roundRect">
            <a:avLst>
              <a:gd fmla="val 3684" name="adj"/>
            </a:avLst>
          </a:prstGeom>
          <a:solidFill>
            <a:srgbClr val="FAEFED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85800" y="16459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371600" y="18105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23317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London-internal flows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London-relative ladder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291840" y="1517904"/>
            <a:ext cx="2560320" cy="1737360"/>
          </a:xfrm>
          <a:prstGeom prst="roundRect">
            <a:avLst>
              <a:gd fmla="val 3684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474720" y="16459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63636C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160520" y="18105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ISOLATES RE-RANKING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474720" y="23317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London-internal flows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National ladder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080760" y="1517904"/>
            <a:ext cx="2560320" cy="1737360"/>
          </a:xfrm>
          <a:prstGeom prst="roundRect">
            <a:avLst>
              <a:gd fmla="val 3684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263640" y="16459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63636C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949440" y="181051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ADDS BOUNDARY EFFECTS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263640" y="2331720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+ external flows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National ladder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02920" y="3456432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 → B changes only the ruler   ·   B → C adds only external moves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— every cross-frame contrast is attributable to exactly one mechanism.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~69% of London MSOAs sit below national D6: the national ladder compresses London, so Frame A stays the faithful gentrification lens; C is context. Remember the external channel for later.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The instrument is built.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How would we know whether cascade really equals gentrification?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METHODOLOGY · 4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Three independent checks — on two clocks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How would we know whether cascade really equals gentrification?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02920" y="1517904"/>
            <a:ext cx="2560320" cy="1298448"/>
          </a:xfrm>
          <a:prstGeom prst="roundRect">
            <a:avLst>
              <a:gd fmla="val 4930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667512" y="1627632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 · Outcome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IMD percentile change, 2010 → 2019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did deprivation actually improve?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291840" y="1517904"/>
            <a:ext cx="2560320" cy="1298448"/>
          </a:xfrm>
          <a:prstGeom prst="roundRect">
            <a:avLst>
              <a:gd fmla="val 4930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3456432" y="1627632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2 · Attribute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Yee &amp; Dennett (2022)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the established classification — labels built on 2001–2011 change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080760" y="1517904"/>
            <a:ext cx="2560320" cy="1298448"/>
          </a:xfrm>
          <a:prstGeom prst="roundRect">
            <a:avLst>
              <a:gd fmla="val 4930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245352" y="1627632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3 · Composition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Occupational ascent, SOC 1–3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professionalisation of residents, after D. Smith (2022)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502920" y="3017520"/>
            <a:ext cx="8138160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731520" y="3127248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THE TWO CLOCKS — because Yee’s labels describe 2001–2011 change: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31520" y="3456432"/>
            <a:ext cx="3749040" cy="621792"/>
          </a:xfrm>
          <a:prstGeom prst="roundRect">
            <a:avLst>
              <a:gd fmla="val 8824" name="adj"/>
            </a:avLst>
          </a:prstGeom>
          <a:solidFill>
            <a:srgbClr val="EFEB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68680" y="3456432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2011 flows = CONCURRENT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flows measured in the window the labels describe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663440" y="3456432"/>
            <a:ext cx="3749040" cy="621792"/>
          </a:xfrm>
          <a:prstGeom prst="roundRect">
            <a:avLst>
              <a:gd fmla="val 8824" name="adj"/>
            </a:avLst>
          </a:prstGeom>
          <a:solidFill>
            <a:srgbClr val="FBE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4800600" y="3456432"/>
            <a:ext cx="35204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82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08214"/>
                </a:solidFill>
                <a:latin typeface="Calibri"/>
                <a:ea typeface="Calibri"/>
                <a:cs typeface="Calibri"/>
                <a:sym typeface="Calibri"/>
              </a:rPr>
              <a:t>2021 flows = PERSISTENCE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does the alignment survive a decade on? (never “2021 flows vs 2011 labels”)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Three instruments, one hypothesis, two clocks.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What happens when you check.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FINDINGS · 1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The equivalence fails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Does cascade-led recover attribute-defined gentrification?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02920" y="1463040"/>
            <a:ext cx="2560320" cy="1481328"/>
          </a:xfrm>
          <a:prstGeom prst="roundRect">
            <a:avLst>
              <a:gd fmla="val 4321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40080" y="151790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C0392B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67512" y="22860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areas where both agree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Yee-GEN &amp; cascade-led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291840" y="1463040"/>
            <a:ext cx="2560320" cy="1481328"/>
          </a:xfrm>
          <a:prstGeom prst="roundRect">
            <a:avLst>
              <a:gd fmla="val 4321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3429000" y="151790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6A51A3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456432" y="22860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attribute-only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Yee-GEN, no cascade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6080760" y="1463040"/>
            <a:ext cx="2560320" cy="1481328"/>
          </a:xfrm>
          <a:prstGeom prst="roundRect">
            <a:avLst>
              <a:gd fmla="val 4321" name="adj"/>
            </a:avLst>
          </a:prstGeom>
          <a:solidFill>
            <a:srgbClr val="F4F3F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6217920" y="1517904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63636C"/>
                </a:solidFill>
                <a:latin typeface="Cambria"/>
                <a:ea typeface="Cambria"/>
                <a:cs typeface="Cambria"/>
                <a:sym typeface="Cambria"/>
              </a:rPr>
              <a:t>197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245352" y="22860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flow-only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cascade, no Yee-GEN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02920" y="3127248"/>
            <a:ext cx="3977640" cy="1115568"/>
          </a:xfrm>
          <a:prstGeom prst="roundRect">
            <a:avLst>
              <a:gd fmla="val 573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731520" y="3218688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The IMD kicker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Yee-GEN alone: +0.043 IMD gain · Yee-GEN + cascade: only +0.017.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Cascade is not the engine of measured gentrification.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663440" y="3127248"/>
            <a:ext cx="3977640" cy="1115568"/>
          </a:xfrm>
          <a:prstGeom prst="roundRect">
            <a:avLst>
              <a:gd fmla="val 5738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4892040" y="3218688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The twist 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The flow method’s own IMD signal sits in the counter direction; the rare agreement is 2011, inner London.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Occupational ascent concurs (independent, ρ ≈ +0.02).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Cascade ≠ attribute gentrification.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A bare null — or did “cascade-led” pool different mechanisms?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FINDINGS · 2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Unpooling the cascade: a time-symmetric mechanism tree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Is “cascade-led” one mechanism — or several wearing one label?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02920" y="1389888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HOW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split every cascade-led area on two measured properties, identically in both years: inflow share (≥ 0.25, a threshold sitting in an empirical gap both years) and, for outflow cascades, external-arm share (≥ 0.5); frame-robustness (Frame A ∧ C) separates the residual.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02920" y="1993392"/>
            <a:ext cx="1938528" cy="1810512"/>
          </a:xfrm>
          <a:prstGeom prst="roundRect">
            <a:avLst>
              <a:gd fmla="val 3535" name="adj"/>
            </a:avLst>
          </a:prstGeom>
          <a:solidFill>
            <a:srgbClr val="C0392B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21792" y="2084832"/>
            <a:ext cx="17373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inflow-driven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inflow ≥ 0.25 ∧ frame-robust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56 →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gentrification arm collapses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2587752" y="1993392"/>
            <a:ext cx="1938528" cy="1810512"/>
          </a:xfrm>
          <a:prstGeom prst="roundRect">
            <a:avLst>
              <a:gd fmla="val 3535" name="adj"/>
            </a:avLst>
          </a:prstGeom>
          <a:solidFill>
            <a:srgbClr val="E08214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2706624" y="2084832"/>
            <a:ext cx="17373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frame-sensitive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inflow ≥ 0.25, not robust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57 → 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honest residual, reported not narrated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672584" y="1993392"/>
            <a:ext cx="1938528" cy="1810512"/>
          </a:xfrm>
          <a:prstGeom prst="roundRect">
            <a:avLst>
              <a:gd fmla="val 3535" name="adj"/>
            </a:avLst>
          </a:prstGeom>
          <a:solidFill>
            <a:srgbClr val="E8A7A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4791456" y="2084832"/>
            <a:ext cx="17373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outflow-external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inflow &lt; 0.25, ext arm ≥ 0.5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3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19 → 78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×4.1 · 100% outer — the exodus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757416" y="1993392"/>
            <a:ext cx="1938528" cy="1810512"/>
          </a:xfrm>
          <a:prstGeom prst="roundRect">
            <a:avLst>
              <a:gd fmla="val 3535" name="adj"/>
            </a:avLst>
          </a:prstGeom>
          <a:solidFill>
            <a:srgbClr val="F2CFC9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876288" y="2084832"/>
            <a:ext cx="17373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outflow-internal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inflow &lt; 0.25, ext arm &lt; 0.5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2B2B31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81 → 90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stable backdrop · national-ladder artefact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949440" y="1426464"/>
            <a:ext cx="1691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counts: 2011 → 2021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02920" y="3931920"/>
            <a:ext cx="8138160" cy="402336"/>
          </a:xfrm>
          <a:prstGeom prst="roundRect">
            <a:avLst>
              <a:gd fmla="val 15909" name="adj"/>
            </a:avLst>
          </a:prstGeom>
          <a:solidFill>
            <a:srgbClr val="EFEBF7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731520" y="3931920"/>
            <a:ext cx="77724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Only 8 MSOAs are inflow-driven in both years </a:t>
            </a:r>
            <a:r>
              <a:rPr b="0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— incl. Camden 026 &amp; Tower Hamlets 010, the cascade-dominance extremes of the whole city.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Four mechanisms, not one — and 2021’s cascade is an outward exodus, not relocation.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Re-ask the Yee question at leaf level.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FINDINGS · 3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The leaf-level test: where does Yee’s GEN actually live?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Does GEN concentrate in the inflow-driven leaf, as the candidate predicts?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HOW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enrichment: lift = P(GEN | leaf) / P(GEN), Fisher’s exact test, BH-corrected. (Cramér’s V / ARI retired — swamped by Yee’s 71% Stable base at leaf sample sizes.)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lift_gen.png"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10512"/>
            <a:ext cx="5806440" cy="2542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6446520" y="1847088"/>
            <a:ext cx="2240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outflow-internal  </a:t>
            </a: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modal-GEN lift 3.55 → 3.19 — the only cell significant on BOTH clocks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446520" y="2487168"/>
            <a:ext cx="2240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inflow-driven  </a:t>
            </a: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loose lift 1.52, concurrent only (p = .043, fails BH) — does not persist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446520" y="3127248"/>
            <a:ext cx="2240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exodus (outflow-ext.)  </a:t>
            </a: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GEN-depleted, lift 0.43 (p = .006) — not gentrification moving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446520" y="3767328"/>
            <a:ext cx="2240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counter-led  </a:t>
            </a:r>
            <a:r>
              <a:rPr b="0" i="0" lang="en-US" sz="9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GEN-depleted on both clocks — the anti-gentrification direction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The prediction fails — GEN lives in the internal-outflow branch.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Why would gentrifying areas sit in the OUTFLOW arm?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FINDINGS · 4 OF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Gentrification’s subtypes separate by mechanism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Why do attribute-gentrifying areas sit in the outflow branch?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_lift_subtypes.png" id="276" name="Google Shape;2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389888"/>
            <a:ext cx="5806440" cy="2542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/>
          <p:nvPr/>
        </p:nvSpPr>
        <p:spPr>
          <a:xfrm>
            <a:off x="6446520" y="1444752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SupGen ≈ outflow-internal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lift 2.32 → 3.37 (q &lt; 1e-9) — strengthens across the decade. Prime London’s displacement arm (K&amp;C, Westminster).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446520" y="2304288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MainGen ≈ inflow-driven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lift 2.25, concurrent only (n = 39, underpowered); gone by 2021. The arrival arm (Tower Hamlets, Hackney, Southwark).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446520" y="3163824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Honest caveat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the ladder ceiling: top deciles cannot be inflow-led, so SupGen can only show its cascade through outflow — part substance, part construction.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02920" y="3986784"/>
            <a:ext cx="8138160" cy="384048"/>
          </a:xfrm>
          <a:prstGeom prst="roundRect">
            <a:avLst>
              <a:gd fmla="val 16667" name="adj"/>
            </a:avLst>
          </a:prstGeom>
          <a:solidFill>
            <a:srgbClr val="FBEFDE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731520" y="3986784"/>
            <a:ext cx="7772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Mainstream gentrification is the inflow cascade; super-gentrification is the internal displacement cascade; the exodus is neither.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MargGen aligns with no leaf.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Two lenses see the same city — through different arms of the cascade.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So what survives as a definition?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42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Fails as an equivalence — survives as a signature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02920" y="1234440"/>
            <a:ext cx="3977640" cy="1078992"/>
          </a:xfrm>
          <a:prstGeom prst="roundRect">
            <a:avLst>
              <a:gd fmla="val 5932" name="adj"/>
            </a:avLst>
          </a:prstGeom>
          <a:solidFill>
            <a:srgbClr val="34313B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704088" y="1335024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1 · Measurement decoupling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A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Attributes measure who is there; flows measure how the hierarchy is reshuffled. Cascade alone cannot define gentrification.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663440" y="1234440"/>
            <a:ext cx="3977640" cy="1078992"/>
          </a:xfrm>
          <a:prstGeom prst="roundRect">
            <a:avLst>
              <a:gd fmla="val 5932" name="adj"/>
            </a:avLst>
          </a:prstGeom>
          <a:solidFill>
            <a:srgbClr val="34313B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864608" y="1335024"/>
            <a:ext cx="3611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2 · Temporal shock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EDEA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The same cascade number is produced by opposite processes — 2021’s is a one-off pandemic exodus, GEN-depleted under every definition.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02920" y="2542032"/>
            <a:ext cx="8138160" cy="1371600"/>
          </a:xfrm>
          <a:prstGeom prst="roundRect">
            <a:avLst>
              <a:gd fmla="val 4667" name="adj"/>
            </a:avLst>
          </a:prstGeom>
          <a:solidFill>
            <a:srgbClr val="3D2A28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731520" y="265176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THE REFINED DEFINITION — a candidate for future testing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Gentrification’s flow is not mere cascade churn, but a persistent, inflow-led, inner-London cascade that coincides with attribute ascent </a:t>
            </a:r>
            <a:r>
              <a:rPr b="0" i="0" lang="en-US" sz="1150" u="none" cap="none" strike="noStrike">
                <a:solidFill>
                  <a:srgbClr val="E08214"/>
                </a:solidFill>
                <a:latin typeface="Calibri"/>
                <a:ea typeface="Calibri"/>
                <a:cs typeface="Calibri"/>
                <a:sym typeface="Calibri"/>
              </a:rPr>
              <a:t>— supported for the mainstream subtype, in the concurrent window, at modest effect size.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AE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Broadly: the flow lens measures hierarchy restructuring; gentrification is a set of specific signatures within it </a:t>
            </a:r>
            <a:r>
              <a:rPr b="0" i="1" lang="en-US" sz="120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— mainstream in the arrival arm, super-gentrification in the displacement arm.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79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79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CONTRIBUTION &amp; LIMITATIONS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What this adds — and what it can’t say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02920" y="11887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CONTRIBUTIONS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548640" y="1543507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1005840" y="1517904"/>
            <a:ext cx="34290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An open-data, whole-city flow lens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directly examines the cascade mechanism with public census OD + IMD data across London.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548640" y="2487168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548640" y="2476195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005840" y="2450592"/>
            <a:ext cx="34290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 mechanism tree that separates gentrification’s subtypes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mainstream = arrival arm; super-gentrification = displacement arm — invisible to the pooled comparison.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548640" y="3419856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548640" y="3408883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005840" y="3383280"/>
            <a:ext cx="34290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A three-frame decomposition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attributes every cross-frame contrast to re-ranking or external flows, pre-empting the obvious objections.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800600" y="11887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51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A51A3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800600" y="1517904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Ecological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area of origin is a noisy proxy for a mover’s wealth — which itself explains the decoupling.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4800600" y="221284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Temporal mismatch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flows 2011→2021; IMD 2010→2019; Yee labels 2001–2011 — hence the two-clock framing.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800600" y="290779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Ladder ceiling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top deciles cannot be inflow-led; the SupGen alignment is part substance, part construction.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800600" y="360273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Lockdown census — </a:t>
            </a:r>
            <a:r>
              <a:rPr b="0" i="0" lang="en-US" sz="105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March-2021 suppression and imputation degrade the flow estimates.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4"/>
          <p:cNvCxnSpPr/>
          <p:nvPr/>
        </p:nvCxnSpPr>
        <p:spPr>
          <a:xfrm>
            <a:off x="4617720" y="1234440"/>
            <a:ext cx="0" cy="3017520"/>
          </a:xfrm>
          <a:prstGeom prst="straightConnector1">
            <a:avLst/>
          </a:prstGeom>
          <a:noFill/>
          <a:ln cap="flat" cmpd="sng" w="12700">
            <a:solidFill>
              <a:srgbClr val="D8D8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4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Stated plainly, so they don’t come back as objections.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Next: case-study chapter &amp; spatial characterisation of the divergence.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42B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/>
          <p:nvPr/>
        </p:nvSpPr>
        <p:spPr>
          <a:xfrm>
            <a:off x="502920" y="320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7A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7A0"/>
                </a:solidFill>
                <a:latin typeface="Calibri"/>
                <a:ea typeface="Calibri"/>
                <a:cs typeface="Calibri"/>
                <a:sym typeface="Calibri"/>
              </a:rPr>
              <a:t>KEY REFERENCES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02920" y="566928"/>
            <a:ext cx="8138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502920" y="120700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5C1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9B5C1"/>
                </a:solidFill>
                <a:latin typeface="Calibri"/>
                <a:ea typeface="Calibri"/>
                <a:cs typeface="Calibri"/>
                <a:sym typeface="Calibri"/>
              </a:rPr>
              <a:t>Questions welcome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02920" y="1783080"/>
            <a:ext cx="81381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Butler, T. &amp; Lees, L. (2006). Super-gentrification in Barnsbury, London. Trans. Inst. Br. Geogr. 31(4).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Dennett, A. &amp; Stillwell, J. (2008). Population turnover and churn. Population Trends 134.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Ding, L., Hwang, J. &amp; Divringi, E. (2016). Gentrification and residential mobility. Reg. Sci. Urban Econ. 61.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Freeman, L., Hwang, J., Haupert, T. &amp; Zhang, S. (2024). Urban Affairs Review 60(1).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Marcuse, P. (1985). Gentrification, abandonment and displacement. J. Urban &amp; Contemp. Law 28.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Smith, D. (2022). Tracking gentrification in London and Manchester using 2021 Census occupational class data. CityGeographics.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DEAE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EAE4"/>
                </a:solidFill>
                <a:latin typeface="Calibri"/>
                <a:ea typeface="Calibri"/>
                <a:cs typeface="Calibri"/>
                <a:sym typeface="Calibri"/>
              </a:rPr>
              <a:t>Yee, J. &amp; Dennett, A. (2022). Stratifying and predicting gentrification in London. Trans. Inst. Br. Geogr. 47(3).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79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879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502920" y="256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APPENDIX · BACKUP FOR Q&amp;A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502920" y="475488"/>
            <a:ext cx="7818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2B2B31"/>
                </a:solidFill>
                <a:latin typeface="Cambria"/>
                <a:ea typeface="Cambria"/>
                <a:cs typeface="Cambria"/>
                <a:sym typeface="Cambria"/>
              </a:rPr>
              <a:t>Four neighbourhoods, four mechanisms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502920" y="1060704"/>
            <a:ext cx="7818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WHY?   </a:t>
            </a:r>
            <a:r>
              <a:rPr b="0" i="1" lang="en-US" sz="12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From the EDA-11 case studies — alluvial panels available; each pair instantiates one claim.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8522208" y="310896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8522208" y="420624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8522208" y="530352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8522208" y="640080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8522208" y="749808"/>
            <a:ext cx="384048" cy="68580"/>
          </a:xfrm>
          <a:prstGeom prst="roundRect">
            <a:avLst>
              <a:gd fmla="val 50000" name="adj"/>
            </a:avLst>
          </a:prstGeom>
          <a:solidFill>
            <a:srgbClr val="C9C9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8686800" y="479145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363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502920" y="1481328"/>
            <a:ext cx="3977640" cy="1316736"/>
          </a:xfrm>
          <a:prstGeom prst="roundRect">
            <a:avLst>
              <a:gd fmla="val 4861" name="adj"/>
            </a:avLst>
          </a:prstGeom>
          <a:solidFill>
            <a:srgbClr val="C0392B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685800" y="1572768"/>
            <a:ext cx="3611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· GENUINE CASCADE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Camden 026 · Tower Hamlets 010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inflow-driven in both years (2 of only 8 city-wide); affluent-in AND poorer-out both thick, frame-robust. Yee-modal Stable — the flow lens sees what attributes miss.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4663440" y="1481328"/>
            <a:ext cx="3977640" cy="1316736"/>
          </a:xfrm>
          <a:prstGeom prst="roundRect">
            <a:avLst>
              <a:gd fmla="val 4861" name="adj"/>
            </a:avLst>
          </a:prstGeom>
          <a:solidFill>
            <a:srgbClr val="6A51A3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4846320" y="1572768"/>
            <a:ext cx="3611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 · CASCADE → COUNTER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Southwark 003 · Islington 008 · Wandsworth 035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IMD keeps improving, yet flows flip counter-led by 2021 — the decoupling made visible (Finding 1).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502920" y="2926080"/>
            <a:ext cx="3977640" cy="1316736"/>
          </a:xfrm>
          <a:prstGeom prst="roundRect">
            <a:avLst>
              <a:gd fmla="val 4861" name="adj"/>
            </a:avLst>
          </a:prstGeom>
          <a:solidFill>
            <a:srgbClr val="F2CFC9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685800" y="3017520"/>
            <a:ext cx="3611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C · LADDER ARTEFACT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B2B3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Harrow 008 · Harrow 029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outflow-internal: ext arm 0.43/0.41 — the poorer outflow stays within London; from national D8, 69% of London counts as poorer. Not exodus.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4663440" y="2926080"/>
            <a:ext cx="3977640" cy="1316736"/>
          </a:xfrm>
          <a:prstGeom prst="roundRect">
            <a:avLst>
              <a:gd fmla="val 4861" name="adj"/>
            </a:avLst>
          </a:prstGeom>
          <a:solidFill>
            <a:srgbClr val="E8A7A0"/>
          </a:solidFill>
          <a:ln>
            <a:noFill/>
          </a:ln>
          <a:effectLst>
            <a:outerShdw blurRad="63500" rotWithShape="0" algn="bl" dir="36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4846320" y="3017520"/>
            <a:ext cx="361188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3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D · LITERAL EXODUS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2B2B3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Kingston 019 · Croydon 044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6363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3636C"/>
                </a:solidFill>
                <a:latin typeface="Calibri"/>
                <a:ea typeface="Calibri"/>
                <a:cs typeface="Calibri"/>
                <a:sym typeface="Calibri"/>
              </a:rPr>
              <a:t>outflow-external: near-zero inflow, majority of out-moves leave London. One 2011-baseline member, one emergent by 2021 (Finding 2).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502920" y="4462272"/>
            <a:ext cx="8138160" cy="475488"/>
          </a:xfrm>
          <a:prstGeom prst="roundRect">
            <a:avLst>
              <a:gd fmla="val 11538" name="adj"/>
            </a:avLst>
          </a:prstGeom>
          <a:solidFill>
            <a:srgbClr val="FAE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6"/>
          <p:cNvSpPr/>
          <p:nvPr/>
        </p:nvSpPr>
        <p:spPr>
          <a:xfrm>
            <a:off x="685800" y="4462272"/>
            <a:ext cx="78181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RESULT   </a:t>
            </a:r>
            <a:r>
              <a:rPr b="0" i="0" lang="en-US" sz="1150" u="none" cap="none" strike="noStrike">
                <a:solidFill>
                  <a:srgbClr val="2B2B31"/>
                </a:solidFill>
                <a:latin typeface="Calibri"/>
                <a:ea typeface="Calibri"/>
                <a:cs typeface="Calibri"/>
                <a:sym typeface="Calibri"/>
              </a:rPr>
              <a:t>C and D share near-zero inflow; only the out-arm destination differs — “exodus” is measured, not relabelled.   </a:t>
            </a:r>
            <a:r>
              <a:rPr b="0" i="1" lang="en-US" sz="11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 Counter-led floods the inner core between panels (280 → 452).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